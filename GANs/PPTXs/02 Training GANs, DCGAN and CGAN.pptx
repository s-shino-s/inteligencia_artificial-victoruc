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70" r:id="rId5"/>
    <p:sldId id="260" r:id="rId6"/>
    <p:sldId id="259" r:id="rId7"/>
    <p:sldId id="261" r:id="rId8"/>
    <p:sldId id="262" r:id="rId9"/>
    <p:sldId id="263" r:id="rId10"/>
    <p:sldId id="266" r:id="rId11"/>
    <p:sldId id="271" r:id="rId12"/>
    <p:sldId id="272" r:id="rId13"/>
    <p:sldId id="273" r:id="rId14"/>
    <p:sldId id="274" r:id="rId15"/>
    <p:sldId id="264" r:id="rId16"/>
    <p:sldId id="265" r:id="rId17"/>
    <p:sldId id="267" r:id="rId18"/>
    <p:sldId id="268" r:id="rId19"/>
    <p:sldId id="275" r:id="rId20"/>
    <p:sldId id="276" r:id="rId21"/>
    <p:sldId id="269"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9"/>
    <p:restoredTop sz="94666"/>
  </p:normalViewPr>
  <p:slideViewPr>
    <p:cSldViewPr snapToGrid="0" snapToObjects="1">
      <p:cViewPr varScale="1">
        <p:scale>
          <a:sx n="145" d="100"/>
          <a:sy n="145" d="100"/>
        </p:scale>
        <p:origin x="192"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C817A6-70B2-FD43-901B-57E04C73CCF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F3AC734-6A33-034A-A01F-2A7EA3407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708E816-630D-7444-BECF-B0210A40B257}"/>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B54B2A81-45D4-9A47-8C02-18EF760AAEE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DED8CB4-29D5-704E-BE30-897C158D7B75}"/>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2207608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27F1A-C1D3-A443-B881-79FF8B3D637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B8D9285-A7FF-4943-B8DA-6E74C0873165}"/>
              </a:ext>
            </a:extLst>
          </p:cNvPr>
          <p:cNvSpPr>
            <a:spLocks noGrp="1"/>
          </p:cNvSpPr>
          <p:nvPr>
            <p:ph idx="1"/>
          </p:nvPr>
        </p:nvSpPr>
        <p:spPr/>
        <p:txBody>
          <a:bodyPr/>
          <a:lstStyle/>
          <a:p>
            <a:r>
              <a:rPr lang="es-ES"/>
              <a:t>Editar los estilos de texto del patrón
Segundo nivel
Tercer nivel
Cuarto nivel
Quinto nivel</a:t>
            </a:r>
            <a:endParaRPr lang="es-MX"/>
          </a:p>
        </p:txBody>
      </p:sp>
      <p:sp>
        <p:nvSpPr>
          <p:cNvPr id="4" name="Marcador de fecha 3">
            <a:extLst>
              <a:ext uri="{FF2B5EF4-FFF2-40B4-BE49-F238E27FC236}">
                <a16:creationId xmlns:a16="http://schemas.microsoft.com/office/drawing/2014/main" id="{40C30251-547F-B74F-A447-229F91088866}"/>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A423F4DD-EFA2-774F-BA90-3B651A63D1A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69DB28-604A-604C-99D2-35A19516A8B0}"/>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55498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754E88-629F-1449-8955-729E6B23B97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4E3DA37-E5BD-274B-929E-000300B1DC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s-ES"/>
              <a:t>Editar los estilos de texto del patrón
Segundo nivel
Tercer nivel
Cuarto nivel
Quinto nivel</a:t>
            </a:r>
            <a:endParaRPr lang="es-MX"/>
          </a:p>
        </p:txBody>
      </p:sp>
      <p:sp>
        <p:nvSpPr>
          <p:cNvPr id="4" name="Marcador de fecha 3">
            <a:extLst>
              <a:ext uri="{FF2B5EF4-FFF2-40B4-BE49-F238E27FC236}">
                <a16:creationId xmlns:a16="http://schemas.microsoft.com/office/drawing/2014/main" id="{EBC3EF3D-2E17-3849-84EB-44202381912E}"/>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E127469D-10C4-0648-80E4-2D3C1BB046C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A20848F-B8B6-CE44-AD63-4DF0B79FF34D}"/>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202705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BD3932-B338-B64A-9E04-CE30874150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241C130-1B5A-AE4A-BBF3-E3FCBB6EDCDF}"/>
              </a:ext>
            </a:extLst>
          </p:cNvPr>
          <p:cNvSpPr>
            <a:spLocks noGrp="1"/>
          </p:cNvSpPr>
          <p:nvPr>
            <p:ph sz="half" idx="1"/>
          </p:nvPr>
        </p:nvSpPr>
        <p:spPr>
          <a:xfrm>
            <a:off x="838200" y="1825625"/>
            <a:ext cx="5181600" cy="4351338"/>
          </a:xfrm>
        </p:spPr>
        <p:txBody>
          <a:bodyPr/>
          <a:lstStyle/>
          <a:p>
            <a:r>
              <a:rPr lang="es-ES"/>
              <a:t>Editar los estilos de texto del patrón
Segundo nivel
Tercer nivel
Cuarto nivel
Quinto nivel</a:t>
            </a:r>
            <a:endParaRPr lang="es-MX"/>
          </a:p>
        </p:txBody>
      </p:sp>
      <p:sp>
        <p:nvSpPr>
          <p:cNvPr id="4" name="Marcador de contenido 3">
            <a:extLst>
              <a:ext uri="{FF2B5EF4-FFF2-40B4-BE49-F238E27FC236}">
                <a16:creationId xmlns:a16="http://schemas.microsoft.com/office/drawing/2014/main" id="{3DF527FA-D446-C746-8524-67FA65555F19}"/>
              </a:ext>
            </a:extLst>
          </p:cNvPr>
          <p:cNvSpPr>
            <a:spLocks noGrp="1"/>
          </p:cNvSpPr>
          <p:nvPr>
            <p:ph sz="half" idx="2"/>
          </p:nvPr>
        </p:nvSpPr>
        <p:spPr>
          <a:xfrm>
            <a:off x="6172200" y="1825625"/>
            <a:ext cx="5181600" cy="4351338"/>
          </a:xfrm>
        </p:spPr>
        <p:txBody>
          <a:bodyPr/>
          <a:lstStyle/>
          <a:p>
            <a:r>
              <a:rPr lang="es-ES"/>
              <a:t>Editar los estilos de texto del patrón
Segundo nivel
Tercer nivel
Cuarto nivel
Quinto nivel</a:t>
            </a:r>
            <a:endParaRPr lang="es-MX"/>
          </a:p>
        </p:txBody>
      </p:sp>
      <p:sp>
        <p:nvSpPr>
          <p:cNvPr id="5" name="Marcador de fecha 4">
            <a:extLst>
              <a:ext uri="{FF2B5EF4-FFF2-40B4-BE49-F238E27FC236}">
                <a16:creationId xmlns:a16="http://schemas.microsoft.com/office/drawing/2014/main" id="{209D589F-590F-A947-B9C0-D05318D336BD}"/>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6" name="Marcador de pie de página 5">
            <a:extLst>
              <a:ext uri="{FF2B5EF4-FFF2-40B4-BE49-F238E27FC236}">
                <a16:creationId xmlns:a16="http://schemas.microsoft.com/office/drawing/2014/main" id="{2C08BA02-0CFB-E44A-A329-A004CD29EF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291006C-67E9-754A-BFBB-C2009F216990}"/>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51266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A4ACBE-3FB3-1240-B0AA-EB17BF30AD1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458FBC5-AE0B-804D-AB38-9389DD09D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s-ES"/>
              <a:t>Editar los estilos de texto del patrón
Segundo nivel
Tercer nivel
Cuarto nivel
Quinto nivel</a:t>
            </a:r>
            <a:endParaRPr lang="es-MX"/>
          </a:p>
        </p:txBody>
      </p:sp>
      <p:sp>
        <p:nvSpPr>
          <p:cNvPr id="4" name="Marcador de contenido 3">
            <a:extLst>
              <a:ext uri="{FF2B5EF4-FFF2-40B4-BE49-F238E27FC236}">
                <a16:creationId xmlns:a16="http://schemas.microsoft.com/office/drawing/2014/main" id="{2D8A607A-6EAA-DF46-9AD5-98D420AA5339}"/>
              </a:ext>
            </a:extLst>
          </p:cNvPr>
          <p:cNvSpPr>
            <a:spLocks noGrp="1"/>
          </p:cNvSpPr>
          <p:nvPr>
            <p:ph sz="half" idx="2"/>
          </p:nvPr>
        </p:nvSpPr>
        <p:spPr>
          <a:xfrm>
            <a:off x="839788" y="2505075"/>
            <a:ext cx="5157787" cy="3684588"/>
          </a:xfrm>
        </p:spPr>
        <p:txBody>
          <a:bodyPr/>
          <a:lstStyle/>
          <a:p>
            <a:r>
              <a:rPr lang="es-ES"/>
              <a:t>Editar los estilos de texto del patrón
Segundo nivel
Tercer nivel
Cuarto nivel
Quinto nivel</a:t>
            </a:r>
            <a:endParaRPr lang="es-MX"/>
          </a:p>
        </p:txBody>
      </p:sp>
      <p:sp>
        <p:nvSpPr>
          <p:cNvPr id="5" name="Marcador de texto 4">
            <a:extLst>
              <a:ext uri="{FF2B5EF4-FFF2-40B4-BE49-F238E27FC236}">
                <a16:creationId xmlns:a16="http://schemas.microsoft.com/office/drawing/2014/main" id="{AFF00C93-5E38-7241-9022-C85BB30EC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s-ES"/>
              <a:t>Editar los estilos de texto del patrón
Segundo nivel
Tercer nivel
Cuarto nivel
Quinto nivel</a:t>
            </a:r>
            <a:endParaRPr lang="es-MX"/>
          </a:p>
        </p:txBody>
      </p:sp>
      <p:sp>
        <p:nvSpPr>
          <p:cNvPr id="6" name="Marcador de contenido 5">
            <a:extLst>
              <a:ext uri="{FF2B5EF4-FFF2-40B4-BE49-F238E27FC236}">
                <a16:creationId xmlns:a16="http://schemas.microsoft.com/office/drawing/2014/main" id="{31C1A95D-140A-9B41-AFA3-922ED37E94F3}"/>
              </a:ext>
            </a:extLst>
          </p:cNvPr>
          <p:cNvSpPr>
            <a:spLocks noGrp="1"/>
          </p:cNvSpPr>
          <p:nvPr>
            <p:ph sz="quarter" idx="4"/>
          </p:nvPr>
        </p:nvSpPr>
        <p:spPr>
          <a:xfrm>
            <a:off x="6172200" y="2505075"/>
            <a:ext cx="5183188" cy="3684588"/>
          </a:xfrm>
        </p:spPr>
        <p:txBody>
          <a:bodyPr/>
          <a:lstStyle/>
          <a:p>
            <a:r>
              <a:rPr lang="es-ES"/>
              <a:t>Editar los estilos de texto del patrón
Segundo nivel
Tercer nivel
Cuarto nivel
Quinto nivel</a:t>
            </a:r>
            <a:endParaRPr lang="es-MX"/>
          </a:p>
        </p:txBody>
      </p:sp>
      <p:sp>
        <p:nvSpPr>
          <p:cNvPr id="7" name="Marcador de fecha 6">
            <a:extLst>
              <a:ext uri="{FF2B5EF4-FFF2-40B4-BE49-F238E27FC236}">
                <a16:creationId xmlns:a16="http://schemas.microsoft.com/office/drawing/2014/main" id="{1C8BE41F-DDD5-4845-A7EC-CEE1F927B79D}"/>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8" name="Marcador de pie de página 7">
            <a:extLst>
              <a:ext uri="{FF2B5EF4-FFF2-40B4-BE49-F238E27FC236}">
                <a16:creationId xmlns:a16="http://schemas.microsoft.com/office/drawing/2014/main" id="{1AD736B5-F531-524A-9B01-47023FA8765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564560C-B452-FE46-96B2-30BB9634DC5F}"/>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184785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5BC16C-08C8-0046-8632-D78813A9C1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4381441-EB55-9E4E-A67B-0B46FBFF2F92}"/>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4" name="Marcador de pie de página 3">
            <a:extLst>
              <a:ext uri="{FF2B5EF4-FFF2-40B4-BE49-F238E27FC236}">
                <a16:creationId xmlns:a16="http://schemas.microsoft.com/office/drawing/2014/main" id="{08DB7BF9-525D-C14F-8C68-356A66A6B15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0A96194A-959E-5F42-97C5-047829397CBD}"/>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775114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1543BF-7C0A-C44D-8A52-51BCF1C84ECA}"/>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3" name="Marcador de pie de página 2">
            <a:extLst>
              <a:ext uri="{FF2B5EF4-FFF2-40B4-BE49-F238E27FC236}">
                <a16:creationId xmlns:a16="http://schemas.microsoft.com/office/drawing/2014/main" id="{6120930F-5DDC-A345-BDAA-FEB0146DCCF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0E82F42-D35D-B943-81E8-6E2FC9E818F0}"/>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43737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7ED8D3-7A2B-1942-99CA-1C385731263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2DD2CA-EE1D-C344-A465-972FDC1807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s-ES"/>
              <a:t>Editar los estilos de texto del patrón
Segundo nivel
Tercer nivel
Cuarto nivel
Quinto nivel</a:t>
            </a:r>
            <a:endParaRPr lang="es-MX"/>
          </a:p>
        </p:txBody>
      </p:sp>
      <p:sp>
        <p:nvSpPr>
          <p:cNvPr id="4" name="Marcador de texto 3">
            <a:extLst>
              <a:ext uri="{FF2B5EF4-FFF2-40B4-BE49-F238E27FC236}">
                <a16:creationId xmlns:a16="http://schemas.microsoft.com/office/drawing/2014/main" id="{E0159BF8-1071-5745-A97B-2A43933F5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s-ES"/>
              <a:t>Editar los estilos de texto del patrón
Segundo nivel
Tercer nivel
Cuarto nivel
Quinto nivel</a:t>
            </a:r>
            <a:endParaRPr lang="es-MX"/>
          </a:p>
        </p:txBody>
      </p:sp>
      <p:sp>
        <p:nvSpPr>
          <p:cNvPr id="5" name="Marcador de fecha 4">
            <a:extLst>
              <a:ext uri="{FF2B5EF4-FFF2-40B4-BE49-F238E27FC236}">
                <a16:creationId xmlns:a16="http://schemas.microsoft.com/office/drawing/2014/main" id="{896616B3-DC2F-7847-8B75-642E18F23F1E}"/>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6" name="Marcador de pie de página 5">
            <a:extLst>
              <a:ext uri="{FF2B5EF4-FFF2-40B4-BE49-F238E27FC236}">
                <a16:creationId xmlns:a16="http://schemas.microsoft.com/office/drawing/2014/main" id="{626D4051-6BEC-4C4C-BB71-4A8535C0F5F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1F4FE6E-BAC1-EA45-8A12-71419B3EE25D}"/>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1398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93B41-3049-1D4C-A486-9C63011021D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8550D20-73EB-7544-A738-6534EF6FA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D6F89409-7F08-494C-8A30-ABF1C8B55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s-ES"/>
              <a:t>Editar los estilos de texto del patrón
Segundo nivel
Tercer nivel
Cuarto nivel
Quinto nivel</a:t>
            </a:r>
            <a:endParaRPr lang="es-MX"/>
          </a:p>
        </p:txBody>
      </p:sp>
      <p:sp>
        <p:nvSpPr>
          <p:cNvPr id="5" name="Marcador de fecha 4">
            <a:extLst>
              <a:ext uri="{FF2B5EF4-FFF2-40B4-BE49-F238E27FC236}">
                <a16:creationId xmlns:a16="http://schemas.microsoft.com/office/drawing/2014/main" id="{EA610AC5-1FA3-9347-8B7E-DD35E68F560C}"/>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6" name="Marcador de pie de página 5">
            <a:extLst>
              <a:ext uri="{FF2B5EF4-FFF2-40B4-BE49-F238E27FC236}">
                <a16:creationId xmlns:a16="http://schemas.microsoft.com/office/drawing/2014/main" id="{4B354554-8535-2049-A5A2-D403992C5B7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4EB8FDF-9AAC-1C42-A387-BEBC960CABF2}"/>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400556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3FA00-831A-2F43-B594-538C5E7BDE2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E1ABC53-89C1-6F4D-B84D-843E9AE25246}"/>
              </a:ext>
            </a:extLst>
          </p:cNvPr>
          <p:cNvSpPr>
            <a:spLocks noGrp="1"/>
          </p:cNvSpPr>
          <p:nvPr>
            <p:ph type="body" orient="vert" idx="1"/>
          </p:nvPr>
        </p:nvSpPr>
        <p:spPr/>
        <p:txBody>
          <a:bodyPr vert="eaVert"/>
          <a:lstStyle/>
          <a:p>
            <a:r>
              <a:rPr lang="es-ES"/>
              <a:t>Editar los estilos de texto del patrón
Segundo nivel
Tercer nivel
Cuarto nivel
Quinto nivel</a:t>
            </a:r>
            <a:endParaRPr lang="es-MX"/>
          </a:p>
        </p:txBody>
      </p:sp>
      <p:sp>
        <p:nvSpPr>
          <p:cNvPr id="4" name="Marcador de fecha 3">
            <a:extLst>
              <a:ext uri="{FF2B5EF4-FFF2-40B4-BE49-F238E27FC236}">
                <a16:creationId xmlns:a16="http://schemas.microsoft.com/office/drawing/2014/main" id="{C01767B4-2FA7-DD4F-9CAB-15CBE323BF2E}"/>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DDCDDF37-1499-F947-957F-EA498D44712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B00B862-FB6C-A648-AA80-B186ED8238A7}"/>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90419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3C3806E-A41B-E44D-AC81-0C3BB1A7684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922A9D7-9D28-914B-A4DD-8FDDCC01688A}"/>
              </a:ext>
            </a:extLst>
          </p:cNvPr>
          <p:cNvSpPr>
            <a:spLocks noGrp="1"/>
          </p:cNvSpPr>
          <p:nvPr>
            <p:ph type="body" orient="vert" idx="1"/>
          </p:nvPr>
        </p:nvSpPr>
        <p:spPr>
          <a:xfrm>
            <a:off x="838200" y="365125"/>
            <a:ext cx="7734300" cy="5811838"/>
          </a:xfrm>
        </p:spPr>
        <p:txBody>
          <a:bodyPr vert="eaVert"/>
          <a:lstStyle/>
          <a:p>
            <a:r>
              <a:rPr lang="es-ES"/>
              <a:t>Editar los estilos de texto del patrón
Segundo nivel
Tercer nivel
Cuarto nivel
Quinto nivel</a:t>
            </a:r>
            <a:endParaRPr lang="es-MX"/>
          </a:p>
        </p:txBody>
      </p:sp>
      <p:sp>
        <p:nvSpPr>
          <p:cNvPr id="4" name="Marcador de fecha 3">
            <a:extLst>
              <a:ext uri="{FF2B5EF4-FFF2-40B4-BE49-F238E27FC236}">
                <a16:creationId xmlns:a16="http://schemas.microsoft.com/office/drawing/2014/main" id="{38B5F625-8C33-014F-B68A-4C1111B06C87}"/>
              </a:ext>
            </a:extLst>
          </p:cNvPr>
          <p:cNvSpPr>
            <a:spLocks noGrp="1"/>
          </p:cNvSpPr>
          <p:nvPr>
            <p:ph type="dt" sz="half" idx="10"/>
          </p:nvPr>
        </p:nvSpPr>
        <p:spPr/>
        <p:txBody>
          <a:body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7C0405B3-7144-FD47-910C-377BC6AD17A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81786B4-8A80-8E49-A42C-CF13CFC2F658}"/>
              </a:ext>
            </a:extLst>
          </p:cNvPr>
          <p:cNvSpPr>
            <a:spLocks noGrp="1"/>
          </p:cNvSpPr>
          <p:nvPr>
            <p:ph type="sldNum" sz="quarter" idx="12"/>
          </p:nvPr>
        </p:nvSpPr>
        <p:spPr/>
        <p:txBody>
          <a:bodyPr/>
          <a:lstStyle/>
          <a:p>
            <a:fld id="{C365E387-4831-2943-B355-4A4BB12555BE}" type="slidenum">
              <a:rPr lang="es-MX" smtClean="0"/>
              <a:t>‹Nº›</a:t>
            </a:fld>
            <a:endParaRPr lang="es-MX"/>
          </a:p>
        </p:txBody>
      </p:sp>
    </p:spTree>
    <p:extLst>
      <p:ext uri="{BB962C8B-B14F-4D97-AF65-F5344CB8AC3E}">
        <p14:creationId xmlns:p14="http://schemas.microsoft.com/office/powerpoint/2010/main" val="3307599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CA6B36-E964-894F-B30F-804B0F5F0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F6491C9-D17F-1E43-8508-377271FC1A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s-ES"/>
              <a:t>Editar los estilos de texto del patrón
Segundo nivel
Tercer nivel
Cuarto nivel
Quinto nivel</a:t>
            </a:r>
            <a:endParaRPr lang="es-MX"/>
          </a:p>
        </p:txBody>
      </p:sp>
      <p:sp>
        <p:nvSpPr>
          <p:cNvPr id="4" name="Marcador de fecha 3">
            <a:extLst>
              <a:ext uri="{FF2B5EF4-FFF2-40B4-BE49-F238E27FC236}">
                <a16:creationId xmlns:a16="http://schemas.microsoft.com/office/drawing/2014/main" id="{E6E07BAB-EE94-1041-B356-833CDA0132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A2154-3A4E-6F42-BD74-030ED3BC7FDE}" type="datetimeFigureOut">
              <a:rPr lang="es-MX" smtClean="0"/>
              <a:t>08/11/21</a:t>
            </a:fld>
            <a:endParaRPr lang="es-MX"/>
          </a:p>
        </p:txBody>
      </p:sp>
      <p:sp>
        <p:nvSpPr>
          <p:cNvPr id="5" name="Marcador de pie de página 4">
            <a:extLst>
              <a:ext uri="{FF2B5EF4-FFF2-40B4-BE49-F238E27FC236}">
                <a16:creationId xmlns:a16="http://schemas.microsoft.com/office/drawing/2014/main" id="{E50AA216-7F4B-8244-8F3C-FFC46F14FB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4F676CCC-64FB-754C-B5ED-1B245A97C6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5E387-4831-2943-B355-4A4BB12555BE}" type="slidenum">
              <a:rPr lang="es-MX" smtClean="0"/>
              <a:t>‹Nº›</a:t>
            </a:fld>
            <a:endParaRPr lang="es-MX"/>
          </a:p>
        </p:txBody>
      </p:sp>
    </p:spTree>
    <p:extLst>
      <p:ext uri="{BB962C8B-B14F-4D97-AF65-F5344CB8AC3E}">
        <p14:creationId xmlns:p14="http://schemas.microsoft.com/office/powerpoint/2010/main" val="556951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1B5B89-50B4-DD40-972B-97CCD3987DF5}"/>
              </a:ext>
            </a:extLst>
          </p:cNvPr>
          <p:cNvSpPr>
            <a:spLocks noGrp="1"/>
          </p:cNvSpPr>
          <p:nvPr>
            <p:ph type="ctrTitle"/>
          </p:nvPr>
        </p:nvSpPr>
        <p:spPr/>
        <p:txBody>
          <a:bodyPr/>
          <a:lstStyle/>
          <a:p>
            <a:r>
              <a:rPr lang="es-MX" dirty="0"/>
              <a:t>Training GANs, DCGAN and CGAN</a:t>
            </a:r>
          </a:p>
        </p:txBody>
      </p:sp>
      <p:sp>
        <p:nvSpPr>
          <p:cNvPr id="3" name="Subtítulo 2">
            <a:extLst>
              <a:ext uri="{FF2B5EF4-FFF2-40B4-BE49-F238E27FC236}">
                <a16:creationId xmlns:a16="http://schemas.microsoft.com/office/drawing/2014/main" id="{8D24CDB7-9247-5445-B0AE-6FD1C064FB72}"/>
              </a:ext>
            </a:extLst>
          </p:cNvPr>
          <p:cNvSpPr>
            <a:spLocks noGrp="1"/>
          </p:cNvSpPr>
          <p:nvPr>
            <p:ph type="subTitle" idx="1"/>
          </p:nvPr>
        </p:nvSpPr>
        <p:spPr>
          <a:xfrm>
            <a:off x="1524000" y="4176469"/>
            <a:ext cx="9144000" cy="1655762"/>
          </a:xfrm>
        </p:spPr>
        <p:txBody>
          <a:bodyPr/>
          <a:lstStyle/>
          <a:p>
            <a:r>
              <a:rPr lang="es-MX" dirty="0"/>
              <a:t>Víctor Uc Cetina</a:t>
            </a:r>
          </a:p>
          <a:p>
            <a:r>
              <a:rPr lang="es-MX" dirty="0"/>
              <a:t>victoruccetina@gmail.com</a:t>
            </a:r>
          </a:p>
        </p:txBody>
      </p:sp>
    </p:spTree>
    <p:extLst>
      <p:ext uri="{BB962C8B-B14F-4D97-AF65-F5344CB8AC3E}">
        <p14:creationId xmlns:p14="http://schemas.microsoft.com/office/powerpoint/2010/main" val="54971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856BF1-D1A9-BA4B-ACDA-DCE1A747FF8E}"/>
              </a:ext>
            </a:extLst>
          </p:cNvPr>
          <p:cNvSpPr>
            <a:spLocks noGrp="1"/>
          </p:cNvSpPr>
          <p:nvPr>
            <p:ph type="title"/>
          </p:nvPr>
        </p:nvSpPr>
        <p:spPr/>
        <p:txBody>
          <a:bodyPr/>
          <a:lstStyle/>
          <a:p>
            <a:r>
              <a:rPr lang="es-MX" dirty="0"/>
              <a:t>Content</a:t>
            </a:r>
          </a:p>
        </p:txBody>
      </p:sp>
      <p:sp>
        <p:nvSpPr>
          <p:cNvPr id="3" name="Marcador de contenido 2">
            <a:extLst>
              <a:ext uri="{FF2B5EF4-FFF2-40B4-BE49-F238E27FC236}">
                <a16:creationId xmlns:a16="http://schemas.microsoft.com/office/drawing/2014/main" id="{F2045D01-F91B-604D-B7D0-D74CDD50F16F}"/>
              </a:ext>
            </a:extLst>
          </p:cNvPr>
          <p:cNvSpPr>
            <a:spLocks noGrp="1"/>
          </p:cNvSpPr>
          <p:nvPr>
            <p:ph idx="1"/>
          </p:nvPr>
        </p:nvSpPr>
        <p:spPr/>
        <p:txBody>
          <a:bodyPr/>
          <a:lstStyle/>
          <a:p>
            <a:endParaRPr lang="es-MX" dirty="0"/>
          </a:p>
          <a:p>
            <a:r>
              <a:rPr lang="es-MX" dirty="0"/>
              <a:t>Training GANs</a:t>
            </a:r>
          </a:p>
          <a:p>
            <a:endParaRPr lang="es-MX" dirty="0"/>
          </a:p>
          <a:p>
            <a:r>
              <a:rPr lang="es-MX" dirty="0"/>
              <a:t>Training Deep Convolutional GANs</a:t>
            </a:r>
          </a:p>
          <a:p>
            <a:endParaRPr lang="es-MX" dirty="0"/>
          </a:p>
          <a:p>
            <a:r>
              <a:rPr lang="es-MX" dirty="0"/>
              <a:t>Conditional GAN</a:t>
            </a:r>
          </a:p>
        </p:txBody>
      </p:sp>
    </p:spTree>
    <p:extLst>
      <p:ext uri="{BB962C8B-B14F-4D97-AF65-F5344CB8AC3E}">
        <p14:creationId xmlns:p14="http://schemas.microsoft.com/office/powerpoint/2010/main" val="1640805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C1BFAC-E6C6-E941-A647-FB70E84588E8}"/>
              </a:ext>
            </a:extLst>
          </p:cNvPr>
          <p:cNvSpPr>
            <a:spLocks noGrp="1"/>
          </p:cNvSpPr>
          <p:nvPr>
            <p:ph type="title"/>
          </p:nvPr>
        </p:nvSpPr>
        <p:spPr/>
        <p:txBody>
          <a:bodyPr/>
          <a:lstStyle/>
          <a:p>
            <a:r>
              <a:rPr lang="es-MX" dirty="0"/>
              <a:t>Training GANs</a:t>
            </a:r>
          </a:p>
        </p:txBody>
      </p:sp>
      <p:sp>
        <p:nvSpPr>
          <p:cNvPr id="3" name="Marcador de contenido 2">
            <a:extLst>
              <a:ext uri="{FF2B5EF4-FFF2-40B4-BE49-F238E27FC236}">
                <a16:creationId xmlns:a16="http://schemas.microsoft.com/office/drawing/2014/main" id="{3708B382-4B39-7843-8C70-1378B22E906D}"/>
              </a:ext>
            </a:extLst>
          </p:cNvPr>
          <p:cNvSpPr>
            <a:spLocks noGrp="1"/>
          </p:cNvSpPr>
          <p:nvPr>
            <p:ph idx="1"/>
          </p:nvPr>
        </p:nvSpPr>
        <p:spPr/>
        <p:txBody>
          <a:bodyPr>
            <a:normAutofit lnSpcReduction="10000"/>
          </a:bodyPr>
          <a:lstStyle/>
          <a:p>
            <a:pPr marL="0" indent="0">
              <a:buNone/>
            </a:pPr>
            <a:r>
              <a:rPr lang="es-MX" dirty="0">
                <a:solidFill>
                  <a:srgbClr val="7030A0"/>
                </a:solidFill>
              </a:rPr>
              <a:t>Phase 1. </a:t>
            </a:r>
          </a:p>
          <a:p>
            <a:pPr marL="0" indent="0">
              <a:buNone/>
            </a:pPr>
            <a:r>
              <a:rPr lang="es-MX" dirty="0"/>
              <a:t>We feed Gaussian noise to the generator to produce fake images. We concatenate an equal number of real images and train the discriminator. The discriminator’s weights are updated.</a:t>
            </a:r>
          </a:p>
          <a:p>
            <a:endParaRPr lang="es-MX" dirty="0"/>
          </a:p>
          <a:p>
            <a:pPr marL="0" indent="0">
              <a:buNone/>
            </a:pPr>
            <a:r>
              <a:rPr lang="es-MX" dirty="0">
                <a:solidFill>
                  <a:srgbClr val="7030A0"/>
                </a:solidFill>
              </a:rPr>
              <a:t>Phase 2. </a:t>
            </a:r>
          </a:p>
          <a:p>
            <a:pPr marL="0" indent="0">
              <a:buNone/>
            </a:pPr>
            <a:r>
              <a:rPr lang="es-MX" dirty="0"/>
              <a:t>We feed the GAN some Gaussian noise. The generated images are now labelled as real images and they are passed to the discriminator. The discriminator’s weights are not changed at this time, only the Generator’s weights. </a:t>
            </a:r>
          </a:p>
        </p:txBody>
      </p:sp>
      <p:pic>
        <p:nvPicPr>
          <p:cNvPr id="5" name="Imagen 4">
            <a:extLst>
              <a:ext uri="{FF2B5EF4-FFF2-40B4-BE49-F238E27FC236}">
                <a16:creationId xmlns:a16="http://schemas.microsoft.com/office/drawing/2014/main" id="{59FD2806-2FD6-674E-A68B-D67928D1D981}"/>
              </a:ext>
            </a:extLst>
          </p:cNvPr>
          <p:cNvPicPr>
            <a:picLocks noChangeAspect="1"/>
          </p:cNvPicPr>
          <p:nvPr/>
        </p:nvPicPr>
        <p:blipFill>
          <a:blip r:embed="rId2"/>
          <a:stretch>
            <a:fillRect/>
          </a:stretch>
        </p:blipFill>
        <p:spPr>
          <a:xfrm>
            <a:off x="6602535" y="101233"/>
            <a:ext cx="4751265" cy="2054601"/>
          </a:xfrm>
          <a:prstGeom prst="rect">
            <a:avLst/>
          </a:prstGeom>
        </p:spPr>
      </p:pic>
    </p:spTree>
    <p:extLst>
      <p:ext uri="{BB962C8B-B14F-4D97-AF65-F5344CB8AC3E}">
        <p14:creationId xmlns:p14="http://schemas.microsoft.com/office/powerpoint/2010/main" val="150951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5D7618-C7DD-2449-9FCC-85C922E768C8}"/>
              </a:ext>
            </a:extLst>
          </p:cNvPr>
          <p:cNvSpPr>
            <a:spLocks noGrp="1"/>
          </p:cNvSpPr>
          <p:nvPr>
            <p:ph type="title"/>
          </p:nvPr>
        </p:nvSpPr>
        <p:spPr>
          <a:xfrm>
            <a:off x="381000" y="130665"/>
            <a:ext cx="5808785" cy="795460"/>
          </a:xfrm>
        </p:spPr>
        <p:txBody>
          <a:bodyPr/>
          <a:lstStyle/>
          <a:p>
            <a:r>
              <a:rPr lang="es-MX" dirty="0"/>
              <a:t>Training GANs - Code</a:t>
            </a:r>
          </a:p>
        </p:txBody>
      </p:sp>
      <p:pic>
        <p:nvPicPr>
          <p:cNvPr id="5" name="Marcador de contenido 4">
            <a:extLst>
              <a:ext uri="{FF2B5EF4-FFF2-40B4-BE49-F238E27FC236}">
                <a16:creationId xmlns:a16="http://schemas.microsoft.com/office/drawing/2014/main" id="{594E456D-B6D0-AC4C-B2D0-8F9BB45F396C}"/>
              </a:ext>
            </a:extLst>
          </p:cNvPr>
          <p:cNvPicPr>
            <a:picLocks noGrp="1" noChangeAspect="1"/>
          </p:cNvPicPr>
          <p:nvPr>
            <p:ph idx="1"/>
          </p:nvPr>
        </p:nvPicPr>
        <p:blipFill>
          <a:blip r:embed="rId2"/>
          <a:stretch>
            <a:fillRect/>
          </a:stretch>
        </p:blipFill>
        <p:spPr>
          <a:xfrm>
            <a:off x="1454874" y="1113693"/>
            <a:ext cx="9469821" cy="5403144"/>
          </a:xfrm>
          <a:ln w="50800">
            <a:solidFill>
              <a:srgbClr val="7030A0"/>
            </a:solidFill>
          </a:ln>
        </p:spPr>
      </p:pic>
    </p:spTree>
    <p:extLst>
      <p:ext uri="{BB962C8B-B14F-4D97-AF65-F5344CB8AC3E}">
        <p14:creationId xmlns:p14="http://schemas.microsoft.com/office/powerpoint/2010/main" val="3228422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2BF6F5-1AA4-B64E-8F01-56E3385670E1}"/>
              </a:ext>
            </a:extLst>
          </p:cNvPr>
          <p:cNvSpPr>
            <a:spLocks noGrp="1"/>
          </p:cNvSpPr>
          <p:nvPr>
            <p:ph type="title"/>
          </p:nvPr>
        </p:nvSpPr>
        <p:spPr/>
        <p:txBody>
          <a:bodyPr/>
          <a:lstStyle/>
          <a:p>
            <a:r>
              <a:rPr lang="es-MX" dirty="0">
                <a:solidFill>
                  <a:srgbClr val="7030A0"/>
                </a:solidFill>
              </a:rPr>
              <a:t>Nash Equilibrium</a:t>
            </a:r>
          </a:p>
        </p:txBody>
      </p:sp>
      <p:sp>
        <p:nvSpPr>
          <p:cNvPr id="3" name="Marcador de contenido 2">
            <a:extLst>
              <a:ext uri="{FF2B5EF4-FFF2-40B4-BE49-F238E27FC236}">
                <a16:creationId xmlns:a16="http://schemas.microsoft.com/office/drawing/2014/main" id="{6F53F28E-81FD-0347-B4E7-E71DE3903EAD}"/>
              </a:ext>
            </a:extLst>
          </p:cNvPr>
          <p:cNvSpPr>
            <a:spLocks noGrp="1"/>
          </p:cNvSpPr>
          <p:nvPr>
            <p:ph idx="1"/>
          </p:nvPr>
        </p:nvSpPr>
        <p:spPr>
          <a:xfrm>
            <a:off x="838200" y="1678918"/>
            <a:ext cx="5761891" cy="1843698"/>
          </a:xfrm>
        </p:spPr>
        <p:txBody>
          <a:bodyPr>
            <a:normAutofit/>
          </a:bodyPr>
          <a:lstStyle/>
          <a:p>
            <a:pPr marL="0" indent="0">
              <a:buNone/>
            </a:pPr>
            <a:r>
              <a:rPr lang="es-MX" dirty="0"/>
              <a:t>In game theory, the Nash equilibrium is the most common way to define the solution of a non-cooperative game involving two or more players. </a:t>
            </a:r>
          </a:p>
        </p:txBody>
      </p:sp>
      <p:pic>
        <p:nvPicPr>
          <p:cNvPr id="5" name="Imagen 4">
            <a:extLst>
              <a:ext uri="{FF2B5EF4-FFF2-40B4-BE49-F238E27FC236}">
                <a16:creationId xmlns:a16="http://schemas.microsoft.com/office/drawing/2014/main" id="{401E47B2-9ADF-3D46-854E-7BB50BC93D7A}"/>
              </a:ext>
            </a:extLst>
          </p:cNvPr>
          <p:cNvPicPr>
            <a:picLocks noChangeAspect="1"/>
          </p:cNvPicPr>
          <p:nvPr/>
        </p:nvPicPr>
        <p:blipFill>
          <a:blip r:embed="rId2"/>
          <a:stretch>
            <a:fillRect/>
          </a:stretch>
        </p:blipFill>
        <p:spPr>
          <a:xfrm>
            <a:off x="7121672" y="505772"/>
            <a:ext cx="4560373" cy="2833565"/>
          </a:xfrm>
          <a:prstGeom prst="rect">
            <a:avLst/>
          </a:prstGeom>
        </p:spPr>
      </p:pic>
      <p:sp>
        <p:nvSpPr>
          <p:cNvPr id="6" name="Marcador de contenido 2">
            <a:extLst>
              <a:ext uri="{FF2B5EF4-FFF2-40B4-BE49-F238E27FC236}">
                <a16:creationId xmlns:a16="http://schemas.microsoft.com/office/drawing/2014/main" id="{BD17EC62-502C-0044-A227-CDD9ECF4E3F4}"/>
              </a:ext>
            </a:extLst>
          </p:cNvPr>
          <p:cNvSpPr txBox="1">
            <a:spLocks/>
          </p:cNvSpPr>
          <p:nvPr/>
        </p:nvSpPr>
        <p:spPr>
          <a:xfrm>
            <a:off x="838200" y="5229713"/>
            <a:ext cx="10210800" cy="14371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dirty="0">
                <a:solidFill>
                  <a:srgbClr val="7030A0"/>
                </a:solidFill>
              </a:rPr>
              <a:t>A GAN can only reach a single Nash equilibrium</a:t>
            </a:r>
            <a:r>
              <a:rPr lang="es-MX" dirty="0"/>
              <a:t> when the generator produces perfectly realistic images, and the discriminator is forced to guess: 50% real, 50% fake.</a:t>
            </a:r>
          </a:p>
        </p:txBody>
      </p:sp>
      <p:sp>
        <p:nvSpPr>
          <p:cNvPr id="8" name="Marcador de contenido 2">
            <a:extLst>
              <a:ext uri="{FF2B5EF4-FFF2-40B4-BE49-F238E27FC236}">
                <a16:creationId xmlns:a16="http://schemas.microsoft.com/office/drawing/2014/main" id="{0206A5B0-FC54-814C-B24E-AB7279652E01}"/>
              </a:ext>
            </a:extLst>
          </p:cNvPr>
          <p:cNvSpPr txBox="1">
            <a:spLocks/>
          </p:cNvSpPr>
          <p:nvPr/>
        </p:nvSpPr>
        <p:spPr>
          <a:xfrm>
            <a:off x="838200" y="3705895"/>
            <a:ext cx="10210800" cy="14898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MX" dirty="0"/>
              <a:t>In a Nash equilibrium, each player is assumed to know the equilibrium strategies of the other players and no player has anything to gain by changing only their own strategy.</a:t>
            </a:r>
          </a:p>
        </p:txBody>
      </p:sp>
    </p:spTree>
    <p:extLst>
      <p:ext uri="{BB962C8B-B14F-4D97-AF65-F5344CB8AC3E}">
        <p14:creationId xmlns:p14="http://schemas.microsoft.com/office/powerpoint/2010/main" val="1765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48F22A-7946-3747-836E-60356331C855}"/>
              </a:ext>
            </a:extLst>
          </p:cNvPr>
          <p:cNvSpPr>
            <a:spLocks noGrp="1"/>
          </p:cNvSpPr>
          <p:nvPr>
            <p:ph type="title"/>
          </p:nvPr>
        </p:nvSpPr>
        <p:spPr/>
        <p:txBody>
          <a:bodyPr/>
          <a:lstStyle/>
          <a:p>
            <a:r>
              <a:rPr lang="es-MX" dirty="0"/>
              <a:t>The biggest difficulty:  </a:t>
            </a:r>
            <a:r>
              <a:rPr lang="es-MX" dirty="0">
                <a:solidFill>
                  <a:srgbClr val="7030A0"/>
                </a:solidFill>
              </a:rPr>
              <a:t>mode collapse</a:t>
            </a:r>
          </a:p>
        </p:txBody>
      </p:sp>
      <p:sp>
        <p:nvSpPr>
          <p:cNvPr id="3" name="Marcador de contenido 2">
            <a:extLst>
              <a:ext uri="{FF2B5EF4-FFF2-40B4-BE49-F238E27FC236}">
                <a16:creationId xmlns:a16="http://schemas.microsoft.com/office/drawing/2014/main" id="{A6DA3D6E-80D1-AA4B-8D0C-9BF04671F1FD}"/>
              </a:ext>
            </a:extLst>
          </p:cNvPr>
          <p:cNvSpPr>
            <a:spLocks noGrp="1"/>
          </p:cNvSpPr>
          <p:nvPr>
            <p:ph idx="1"/>
          </p:nvPr>
        </p:nvSpPr>
        <p:spPr/>
        <p:txBody>
          <a:bodyPr>
            <a:normAutofit lnSpcReduction="10000"/>
          </a:bodyPr>
          <a:lstStyle/>
          <a:p>
            <a:pPr marL="0" indent="0">
              <a:buNone/>
            </a:pPr>
            <a:r>
              <a:rPr lang="es-MX" dirty="0"/>
              <a:t>It occurs when the generator’s outputs gradually become less diverse.</a:t>
            </a:r>
          </a:p>
          <a:p>
            <a:pPr marL="0" indent="0">
              <a:buNone/>
            </a:pPr>
            <a:r>
              <a:rPr lang="es-MX" dirty="0"/>
              <a:t> Example:</a:t>
            </a:r>
          </a:p>
          <a:p>
            <a:pPr marL="914400" lvl="1" indent="-457200">
              <a:buFont typeface="+mj-lt"/>
              <a:buAutoNum type="arabicPeriod"/>
            </a:pPr>
            <a:r>
              <a:rPr lang="es-MX" dirty="0">
                <a:solidFill>
                  <a:schemeClr val="accent6">
                    <a:lumMod val="75000"/>
                  </a:schemeClr>
                </a:solidFill>
              </a:rPr>
              <a:t>The generator gets better  at producing convincing shoes images than any other class. </a:t>
            </a:r>
          </a:p>
          <a:p>
            <a:pPr marL="914400" lvl="1" indent="-457200">
              <a:buFont typeface="+mj-lt"/>
              <a:buAutoNum type="arabicPeriod"/>
            </a:pPr>
            <a:r>
              <a:rPr lang="es-MX" dirty="0">
                <a:solidFill>
                  <a:schemeClr val="accent6">
                    <a:lumMod val="75000"/>
                  </a:schemeClr>
                </a:solidFill>
              </a:rPr>
              <a:t>The discriminator sees only fake images of shoes and will also forget to discriminate other classes.</a:t>
            </a:r>
          </a:p>
          <a:p>
            <a:pPr marL="914400" lvl="1" indent="-457200">
              <a:buFont typeface="+mj-lt"/>
              <a:buAutoNum type="arabicPeriod"/>
            </a:pPr>
            <a:r>
              <a:rPr lang="es-MX" dirty="0">
                <a:solidFill>
                  <a:schemeClr val="accent6">
                    <a:lumMod val="75000"/>
                  </a:schemeClr>
                </a:solidFill>
              </a:rPr>
              <a:t>Eventually when the discriminator manages to discriminate the fake shoes from the real ones, the generator will be forced to move to another class, for example, shirts.</a:t>
            </a:r>
          </a:p>
          <a:p>
            <a:pPr marL="914400" lvl="1" indent="-457200">
              <a:buFont typeface="+mj-lt"/>
              <a:buAutoNum type="arabicPeriod"/>
            </a:pPr>
            <a:r>
              <a:rPr lang="es-MX" dirty="0">
                <a:solidFill>
                  <a:schemeClr val="accent6">
                    <a:lumMod val="75000"/>
                  </a:schemeClr>
                </a:solidFill>
              </a:rPr>
              <a:t>The discriminator will follow focusing on discriminating shirts.</a:t>
            </a:r>
          </a:p>
          <a:p>
            <a:pPr marL="914400" lvl="1" indent="-457200">
              <a:buFont typeface="+mj-lt"/>
              <a:buAutoNum type="arabicPeriod"/>
            </a:pPr>
            <a:r>
              <a:rPr lang="es-MX" dirty="0">
                <a:solidFill>
                  <a:schemeClr val="accent6">
                    <a:lumMod val="75000"/>
                  </a:schemeClr>
                </a:solidFill>
              </a:rPr>
              <a:t>The GAN may gradually cycle across a few classes, never really becoming very good at any of them.</a:t>
            </a:r>
          </a:p>
          <a:p>
            <a:pPr lvl="1"/>
            <a:endParaRPr lang="es-MX" dirty="0"/>
          </a:p>
        </p:txBody>
      </p:sp>
    </p:spTree>
    <p:extLst>
      <p:ext uri="{BB962C8B-B14F-4D97-AF65-F5344CB8AC3E}">
        <p14:creationId xmlns:p14="http://schemas.microsoft.com/office/powerpoint/2010/main" val="307673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F67E8-393C-B541-BF16-7858C56EF944}"/>
              </a:ext>
            </a:extLst>
          </p:cNvPr>
          <p:cNvSpPr>
            <a:spLocks noGrp="1"/>
          </p:cNvSpPr>
          <p:nvPr>
            <p:ph type="title"/>
          </p:nvPr>
        </p:nvSpPr>
        <p:spPr/>
        <p:txBody>
          <a:bodyPr/>
          <a:lstStyle/>
          <a:p>
            <a:r>
              <a:rPr lang="es-MX" dirty="0"/>
              <a:t>GANs are </a:t>
            </a:r>
            <a:r>
              <a:rPr lang="es-MX" dirty="0">
                <a:solidFill>
                  <a:srgbClr val="7030A0"/>
                </a:solidFill>
              </a:rPr>
              <a:t>unstable</a:t>
            </a:r>
          </a:p>
        </p:txBody>
      </p:sp>
      <p:sp>
        <p:nvSpPr>
          <p:cNvPr id="3" name="Marcador de contenido 2">
            <a:extLst>
              <a:ext uri="{FF2B5EF4-FFF2-40B4-BE49-F238E27FC236}">
                <a16:creationId xmlns:a16="http://schemas.microsoft.com/office/drawing/2014/main" id="{654AD9E6-0322-3C4A-8DA4-71B7CB78E517}"/>
              </a:ext>
            </a:extLst>
          </p:cNvPr>
          <p:cNvSpPr>
            <a:spLocks noGrp="1"/>
          </p:cNvSpPr>
          <p:nvPr>
            <p:ph idx="1"/>
          </p:nvPr>
        </p:nvSpPr>
        <p:spPr/>
        <p:txBody>
          <a:bodyPr>
            <a:normAutofit/>
          </a:bodyPr>
          <a:lstStyle/>
          <a:p>
            <a:pPr marL="0" indent="0">
              <a:buNone/>
            </a:pPr>
            <a:r>
              <a:rPr lang="es-MX" dirty="0"/>
              <a:t>The generator and the discriminator are constantly pushing against each other. As a consequence of this, their parameters may end up oscillating and becoming unstable.</a:t>
            </a:r>
          </a:p>
          <a:p>
            <a:pPr marL="0" indent="0">
              <a:buNone/>
            </a:pPr>
            <a:endParaRPr lang="es-MX" dirty="0"/>
          </a:p>
          <a:p>
            <a:pPr marL="0" indent="0">
              <a:buNone/>
            </a:pPr>
            <a:r>
              <a:rPr lang="es-MX" dirty="0"/>
              <a:t>Training may begin properly, then suddenly diverge for no apparent reason.</a:t>
            </a:r>
          </a:p>
          <a:p>
            <a:pPr marL="0" indent="0">
              <a:buNone/>
            </a:pPr>
            <a:endParaRPr lang="es-MX" dirty="0"/>
          </a:p>
          <a:p>
            <a:pPr marL="0" indent="0">
              <a:buNone/>
            </a:pPr>
            <a:r>
              <a:rPr lang="es-MX" dirty="0"/>
              <a:t>GANs are very sensitive to hyperparameters and you may have to spend a lot of time fine-tuning them.</a:t>
            </a:r>
          </a:p>
        </p:txBody>
      </p:sp>
    </p:spTree>
    <p:extLst>
      <p:ext uri="{BB962C8B-B14F-4D97-AF65-F5344CB8AC3E}">
        <p14:creationId xmlns:p14="http://schemas.microsoft.com/office/powerpoint/2010/main" val="368839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B172E6-3156-6144-8ACF-B087E14BF5B4}"/>
              </a:ext>
            </a:extLst>
          </p:cNvPr>
          <p:cNvSpPr>
            <a:spLocks noGrp="1"/>
          </p:cNvSpPr>
          <p:nvPr>
            <p:ph type="title"/>
          </p:nvPr>
        </p:nvSpPr>
        <p:spPr/>
        <p:txBody>
          <a:bodyPr/>
          <a:lstStyle/>
          <a:p>
            <a:r>
              <a:rPr lang="es-MX" dirty="0">
                <a:solidFill>
                  <a:srgbClr val="7030A0"/>
                </a:solidFill>
              </a:rPr>
              <a:t>Solutions</a:t>
            </a:r>
            <a:r>
              <a:rPr lang="es-MX" dirty="0"/>
              <a:t> proposed so far</a:t>
            </a:r>
          </a:p>
        </p:txBody>
      </p:sp>
      <p:sp>
        <p:nvSpPr>
          <p:cNvPr id="3" name="Marcador de contenido 2">
            <a:extLst>
              <a:ext uri="{FF2B5EF4-FFF2-40B4-BE49-F238E27FC236}">
                <a16:creationId xmlns:a16="http://schemas.microsoft.com/office/drawing/2014/main" id="{2275A1F7-01CD-E247-8F02-C8CDF6A33F48}"/>
              </a:ext>
            </a:extLst>
          </p:cNvPr>
          <p:cNvSpPr>
            <a:spLocks noGrp="1"/>
          </p:cNvSpPr>
          <p:nvPr>
            <p:ph idx="1"/>
          </p:nvPr>
        </p:nvSpPr>
        <p:spPr/>
        <p:txBody>
          <a:bodyPr>
            <a:normAutofit fontScale="77500" lnSpcReduction="20000"/>
          </a:bodyPr>
          <a:lstStyle/>
          <a:p>
            <a:pPr marL="0" indent="0">
              <a:buNone/>
            </a:pPr>
            <a:r>
              <a:rPr lang="es-MX" dirty="0">
                <a:solidFill>
                  <a:srgbClr val="7030A0"/>
                </a:solidFill>
              </a:rPr>
              <a:t>New cost functions, training strategies and ways to avoid mode collapse.</a:t>
            </a:r>
          </a:p>
          <a:p>
            <a:pPr marL="0" indent="0">
              <a:buNone/>
            </a:pPr>
            <a:endParaRPr lang="es-MX" dirty="0"/>
          </a:p>
          <a:p>
            <a:pPr marL="0" indent="0">
              <a:buNone/>
            </a:pPr>
            <a:r>
              <a:rPr lang="es-MX" dirty="0">
                <a:solidFill>
                  <a:srgbClr val="7030A0"/>
                </a:solidFill>
              </a:rPr>
              <a:t>Experience replay.</a:t>
            </a:r>
          </a:p>
          <a:p>
            <a:pPr marL="0" indent="0">
              <a:buNone/>
            </a:pPr>
            <a:r>
              <a:rPr lang="es-MX" dirty="0"/>
              <a:t>It consists in storing the images produced by the generator in a buffer and training the discriminator using real images and fake images drawn from this buffer. Old images are gradually dropped.</a:t>
            </a:r>
          </a:p>
          <a:p>
            <a:pPr marL="0" indent="0">
              <a:buNone/>
            </a:pPr>
            <a:endParaRPr lang="es-MX" dirty="0"/>
          </a:p>
          <a:p>
            <a:pPr marL="0" indent="0">
              <a:buNone/>
            </a:pPr>
            <a:r>
              <a:rPr lang="es-MX" dirty="0">
                <a:solidFill>
                  <a:srgbClr val="7030A0"/>
                </a:solidFill>
              </a:rPr>
              <a:t>Mini-batch discrimination.</a:t>
            </a:r>
          </a:p>
          <a:p>
            <a:pPr marL="0" indent="0">
              <a:buNone/>
            </a:pPr>
            <a:r>
              <a:rPr lang="es-MX" dirty="0"/>
              <a:t>It measures how similar images are across the batch and provides this statistic to the discriminator, so it can easily reject a whole batch of fake images that lack diversity.</a:t>
            </a:r>
          </a:p>
          <a:p>
            <a:pPr marL="0" indent="0">
              <a:buNone/>
            </a:pPr>
            <a:endParaRPr lang="es-MX" dirty="0"/>
          </a:p>
          <a:p>
            <a:pPr marL="0" indent="0">
              <a:buNone/>
            </a:pPr>
            <a:r>
              <a:rPr lang="es-MX" dirty="0">
                <a:solidFill>
                  <a:srgbClr val="7030A0"/>
                </a:solidFill>
              </a:rPr>
              <a:t>Specific architectures that happen to perform well.</a:t>
            </a:r>
          </a:p>
        </p:txBody>
      </p:sp>
    </p:spTree>
    <p:extLst>
      <p:ext uri="{BB962C8B-B14F-4D97-AF65-F5344CB8AC3E}">
        <p14:creationId xmlns:p14="http://schemas.microsoft.com/office/powerpoint/2010/main" val="135451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99C284-3208-BC47-91C8-B388599E9C47}"/>
              </a:ext>
            </a:extLst>
          </p:cNvPr>
          <p:cNvSpPr>
            <a:spLocks noGrp="1"/>
          </p:cNvSpPr>
          <p:nvPr>
            <p:ph type="title"/>
          </p:nvPr>
        </p:nvSpPr>
        <p:spPr>
          <a:xfrm>
            <a:off x="463062" y="0"/>
            <a:ext cx="10515600" cy="1325563"/>
          </a:xfrm>
        </p:spPr>
        <p:txBody>
          <a:bodyPr/>
          <a:lstStyle/>
          <a:p>
            <a:r>
              <a:rPr lang="es-MX" dirty="0"/>
              <a:t>Training </a:t>
            </a:r>
            <a:r>
              <a:rPr lang="es-MX" dirty="0">
                <a:solidFill>
                  <a:srgbClr val="7030A0"/>
                </a:solidFill>
              </a:rPr>
              <a:t>Deep Convolutional GANs (DCGAN)</a:t>
            </a:r>
          </a:p>
        </p:txBody>
      </p:sp>
      <p:sp>
        <p:nvSpPr>
          <p:cNvPr id="3" name="Marcador de contenido 2">
            <a:extLst>
              <a:ext uri="{FF2B5EF4-FFF2-40B4-BE49-F238E27FC236}">
                <a16:creationId xmlns:a16="http://schemas.microsoft.com/office/drawing/2014/main" id="{DAF735F7-C441-7D43-8DDA-8B4129320E92}"/>
              </a:ext>
            </a:extLst>
          </p:cNvPr>
          <p:cNvSpPr>
            <a:spLocks noGrp="1"/>
          </p:cNvSpPr>
          <p:nvPr>
            <p:ph idx="1"/>
          </p:nvPr>
        </p:nvSpPr>
        <p:spPr>
          <a:xfrm>
            <a:off x="281354" y="1383324"/>
            <a:ext cx="11805138" cy="5474676"/>
          </a:xfrm>
        </p:spPr>
        <p:txBody>
          <a:bodyPr>
            <a:normAutofit lnSpcReduction="10000"/>
          </a:bodyPr>
          <a:lstStyle/>
          <a:p>
            <a:r>
              <a:rPr lang="es-MX" dirty="0"/>
              <a:t>Replace any pooling layers with strided convolutions (in the discriminator) and transposed convolutions (in the generator).</a:t>
            </a:r>
          </a:p>
          <a:p>
            <a:endParaRPr lang="es-MX" dirty="0"/>
          </a:p>
          <a:p>
            <a:r>
              <a:rPr lang="es-MX" dirty="0"/>
              <a:t>Use batch normalization in both the generator and the discriminator, except in the generator’s output layer and the discriminator’s input layer.</a:t>
            </a:r>
          </a:p>
          <a:p>
            <a:endParaRPr lang="es-MX" dirty="0"/>
          </a:p>
          <a:p>
            <a:r>
              <a:rPr lang="es-MX" dirty="0"/>
              <a:t>Remove fully connected hidden layers for deeper architectures.</a:t>
            </a:r>
          </a:p>
          <a:p>
            <a:endParaRPr lang="es-MX" dirty="0"/>
          </a:p>
          <a:p>
            <a:r>
              <a:rPr lang="es-MX" dirty="0"/>
              <a:t>Use ReLU activation in the generator for all layers except the output layer, which should use tanh.</a:t>
            </a:r>
          </a:p>
          <a:p>
            <a:endParaRPr lang="es-MX" dirty="0"/>
          </a:p>
          <a:p>
            <a:r>
              <a:rPr lang="es-MX" dirty="0"/>
              <a:t>Use leaky ReLU activation in the discriminator for all layers.</a:t>
            </a:r>
          </a:p>
        </p:txBody>
      </p:sp>
    </p:spTree>
    <p:extLst>
      <p:ext uri="{BB962C8B-B14F-4D97-AF65-F5344CB8AC3E}">
        <p14:creationId xmlns:p14="http://schemas.microsoft.com/office/powerpoint/2010/main" val="37701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373B0F-BF6D-CB42-AB72-D57D8F356726}"/>
              </a:ext>
            </a:extLst>
          </p:cNvPr>
          <p:cNvSpPr>
            <a:spLocks noGrp="1"/>
          </p:cNvSpPr>
          <p:nvPr>
            <p:ph type="title"/>
          </p:nvPr>
        </p:nvSpPr>
        <p:spPr>
          <a:xfrm>
            <a:off x="181708" y="387716"/>
            <a:ext cx="2069123" cy="795460"/>
          </a:xfrm>
        </p:spPr>
        <p:txBody>
          <a:bodyPr>
            <a:normAutofit fontScale="90000"/>
          </a:bodyPr>
          <a:lstStyle/>
          <a:p>
            <a:r>
              <a:rPr lang="es-MX" dirty="0"/>
              <a:t>DCGAN code</a:t>
            </a:r>
          </a:p>
        </p:txBody>
      </p:sp>
      <p:pic>
        <p:nvPicPr>
          <p:cNvPr id="5" name="Marcador de contenido 4">
            <a:extLst>
              <a:ext uri="{FF2B5EF4-FFF2-40B4-BE49-F238E27FC236}">
                <a16:creationId xmlns:a16="http://schemas.microsoft.com/office/drawing/2014/main" id="{20F23741-BFD3-9747-996F-9A2511896D3B}"/>
              </a:ext>
            </a:extLst>
          </p:cNvPr>
          <p:cNvPicPr>
            <a:picLocks noGrp="1" noChangeAspect="1"/>
          </p:cNvPicPr>
          <p:nvPr>
            <p:ph idx="1"/>
          </p:nvPr>
        </p:nvPicPr>
        <p:blipFill>
          <a:blip r:embed="rId2"/>
          <a:stretch>
            <a:fillRect/>
          </a:stretch>
        </p:blipFill>
        <p:spPr>
          <a:xfrm>
            <a:off x="2686642" y="633047"/>
            <a:ext cx="8702910" cy="5497025"/>
          </a:xfrm>
          <a:ln w="50800">
            <a:solidFill>
              <a:srgbClr val="7030A0"/>
            </a:solidFill>
          </a:ln>
        </p:spPr>
      </p:pic>
    </p:spTree>
    <p:extLst>
      <p:ext uri="{BB962C8B-B14F-4D97-AF65-F5344CB8AC3E}">
        <p14:creationId xmlns:p14="http://schemas.microsoft.com/office/powerpoint/2010/main" val="1269655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76CB8D-2780-404F-A7F1-BA21233BE4C2}"/>
              </a:ext>
            </a:extLst>
          </p:cNvPr>
          <p:cNvSpPr>
            <a:spLocks noGrp="1"/>
          </p:cNvSpPr>
          <p:nvPr>
            <p:ph type="title"/>
          </p:nvPr>
        </p:nvSpPr>
        <p:spPr>
          <a:xfrm>
            <a:off x="304800" y="277091"/>
            <a:ext cx="3412981" cy="1460500"/>
          </a:xfrm>
        </p:spPr>
        <p:txBody>
          <a:bodyPr/>
          <a:lstStyle/>
          <a:p>
            <a:r>
              <a:rPr lang="es-MX" dirty="0">
                <a:solidFill>
                  <a:srgbClr val="7030A0"/>
                </a:solidFill>
              </a:rPr>
              <a:t>DCGAN Interpolation</a:t>
            </a:r>
          </a:p>
        </p:txBody>
      </p:sp>
      <p:pic>
        <p:nvPicPr>
          <p:cNvPr id="5" name="Imagen 4">
            <a:extLst>
              <a:ext uri="{FF2B5EF4-FFF2-40B4-BE49-F238E27FC236}">
                <a16:creationId xmlns:a16="http://schemas.microsoft.com/office/drawing/2014/main" id="{C70F802B-B463-0F43-88D3-86CCFA5F6459}"/>
              </a:ext>
            </a:extLst>
          </p:cNvPr>
          <p:cNvPicPr>
            <a:picLocks noChangeAspect="1"/>
          </p:cNvPicPr>
          <p:nvPr/>
        </p:nvPicPr>
        <p:blipFill>
          <a:blip r:embed="rId2"/>
          <a:stretch>
            <a:fillRect/>
          </a:stretch>
        </p:blipFill>
        <p:spPr>
          <a:xfrm>
            <a:off x="3717781" y="0"/>
            <a:ext cx="6834620" cy="6858000"/>
          </a:xfrm>
          <a:prstGeom prst="rect">
            <a:avLst/>
          </a:prstGeom>
        </p:spPr>
      </p:pic>
    </p:spTree>
    <p:extLst>
      <p:ext uri="{BB962C8B-B14F-4D97-AF65-F5344CB8AC3E}">
        <p14:creationId xmlns:p14="http://schemas.microsoft.com/office/powerpoint/2010/main" val="1320668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EF4822-3B4D-AD41-91BB-CBB68308CD60}"/>
              </a:ext>
            </a:extLst>
          </p:cNvPr>
          <p:cNvSpPr>
            <a:spLocks noGrp="1"/>
          </p:cNvSpPr>
          <p:nvPr>
            <p:ph type="title"/>
          </p:nvPr>
        </p:nvSpPr>
        <p:spPr/>
        <p:txBody>
          <a:bodyPr/>
          <a:lstStyle/>
          <a:p>
            <a:r>
              <a:rPr lang="es-MX" dirty="0"/>
              <a:t>DCGAN Arithmetic</a:t>
            </a:r>
          </a:p>
        </p:txBody>
      </p:sp>
      <p:pic>
        <p:nvPicPr>
          <p:cNvPr id="5" name="Marcador de contenido 4">
            <a:extLst>
              <a:ext uri="{FF2B5EF4-FFF2-40B4-BE49-F238E27FC236}">
                <a16:creationId xmlns:a16="http://schemas.microsoft.com/office/drawing/2014/main" id="{7029AC25-24A1-A349-A1D9-A255F50D83D4}"/>
              </a:ext>
            </a:extLst>
          </p:cNvPr>
          <p:cNvPicPr>
            <a:picLocks noGrp="1" noChangeAspect="1"/>
          </p:cNvPicPr>
          <p:nvPr>
            <p:ph idx="1"/>
          </p:nvPr>
        </p:nvPicPr>
        <p:blipFill>
          <a:blip r:embed="rId2"/>
          <a:stretch>
            <a:fillRect/>
          </a:stretch>
        </p:blipFill>
        <p:spPr>
          <a:xfrm>
            <a:off x="1846193" y="1825625"/>
            <a:ext cx="8499613" cy="4351338"/>
          </a:xfrm>
        </p:spPr>
      </p:pic>
    </p:spTree>
    <p:extLst>
      <p:ext uri="{BB962C8B-B14F-4D97-AF65-F5344CB8AC3E}">
        <p14:creationId xmlns:p14="http://schemas.microsoft.com/office/powerpoint/2010/main" val="1365974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ADC109-3E6E-F142-A077-C94B90491F26}"/>
              </a:ext>
            </a:extLst>
          </p:cNvPr>
          <p:cNvSpPr>
            <a:spLocks noGrp="1"/>
          </p:cNvSpPr>
          <p:nvPr>
            <p:ph type="title"/>
          </p:nvPr>
        </p:nvSpPr>
        <p:spPr/>
        <p:txBody>
          <a:bodyPr/>
          <a:lstStyle/>
          <a:p>
            <a:r>
              <a:rPr lang="es-MX" dirty="0"/>
              <a:t>DCGAN Arithmetic</a:t>
            </a:r>
          </a:p>
        </p:txBody>
      </p:sp>
      <p:pic>
        <p:nvPicPr>
          <p:cNvPr id="5" name="Marcador de contenido 4">
            <a:extLst>
              <a:ext uri="{FF2B5EF4-FFF2-40B4-BE49-F238E27FC236}">
                <a16:creationId xmlns:a16="http://schemas.microsoft.com/office/drawing/2014/main" id="{69F9B035-6BDD-9C4F-9B94-A25B4B40A13C}"/>
              </a:ext>
            </a:extLst>
          </p:cNvPr>
          <p:cNvPicPr>
            <a:picLocks noGrp="1" noChangeAspect="1"/>
          </p:cNvPicPr>
          <p:nvPr>
            <p:ph idx="1"/>
          </p:nvPr>
        </p:nvPicPr>
        <p:blipFill>
          <a:blip r:embed="rId2"/>
          <a:stretch>
            <a:fillRect/>
          </a:stretch>
        </p:blipFill>
        <p:spPr>
          <a:xfrm>
            <a:off x="1916049" y="1825625"/>
            <a:ext cx="8359901" cy="4351338"/>
          </a:xfrm>
        </p:spPr>
      </p:pic>
    </p:spTree>
    <p:extLst>
      <p:ext uri="{BB962C8B-B14F-4D97-AF65-F5344CB8AC3E}">
        <p14:creationId xmlns:p14="http://schemas.microsoft.com/office/powerpoint/2010/main" val="192223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7BD06-69BD-4343-8A7A-1866B22D08E9}"/>
              </a:ext>
            </a:extLst>
          </p:cNvPr>
          <p:cNvSpPr>
            <a:spLocks noGrp="1"/>
          </p:cNvSpPr>
          <p:nvPr>
            <p:ph type="title"/>
          </p:nvPr>
        </p:nvSpPr>
        <p:spPr/>
        <p:txBody>
          <a:bodyPr/>
          <a:lstStyle/>
          <a:p>
            <a:r>
              <a:rPr lang="es-MX" dirty="0"/>
              <a:t>Pixel Arithmetic</a:t>
            </a:r>
          </a:p>
        </p:txBody>
      </p:sp>
      <p:pic>
        <p:nvPicPr>
          <p:cNvPr id="5" name="Marcador de contenido 4">
            <a:extLst>
              <a:ext uri="{FF2B5EF4-FFF2-40B4-BE49-F238E27FC236}">
                <a16:creationId xmlns:a16="http://schemas.microsoft.com/office/drawing/2014/main" id="{893078CC-5543-1D4B-BF77-ACE09F51203C}"/>
              </a:ext>
            </a:extLst>
          </p:cNvPr>
          <p:cNvPicPr>
            <a:picLocks noGrp="1" noChangeAspect="1"/>
          </p:cNvPicPr>
          <p:nvPr>
            <p:ph idx="1"/>
          </p:nvPr>
        </p:nvPicPr>
        <p:blipFill>
          <a:blip r:embed="rId2"/>
          <a:stretch>
            <a:fillRect/>
          </a:stretch>
        </p:blipFill>
        <p:spPr>
          <a:xfrm>
            <a:off x="838200" y="2641518"/>
            <a:ext cx="10515600" cy="2719551"/>
          </a:xfrm>
        </p:spPr>
      </p:pic>
    </p:spTree>
    <p:extLst>
      <p:ext uri="{BB962C8B-B14F-4D97-AF65-F5344CB8AC3E}">
        <p14:creationId xmlns:p14="http://schemas.microsoft.com/office/powerpoint/2010/main" val="3323301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25BBF1-D0A1-2141-B33E-295E6812B2A7}"/>
              </a:ext>
            </a:extLst>
          </p:cNvPr>
          <p:cNvSpPr>
            <a:spLocks noGrp="1"/>
          </p:cNvSpPr>
          <p:nvPr>
            <p:ph type="title"/>
          </p:nvPr>
        </p:nvSpPr>
        <p:spPr/>
        <p:txBody>
          <a:bodyPr/>
          <a:lstStyle/>
          <a:p>
            <a:r>
              <a:rPr lang="es-MX" dirty="0">
                <a:solidFill>
                  <a:srgbClr val="7030A0"/>
                </a:solidFill>
              </a:rPr>
              <a:t>Conditional GAN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B9DA5CF-C124-BE4E-8416-D859010893CB}"/>
                  </a:ext>
                </a:extLst>
              </p:cNvPr>
              <p:cNvSpPr>
                <a:spLocks noGrp="1"/>
              </p:cNvSpPr>
              <p:nvPr>
                <p:ph idx="1"/>
              </p:nvPr>
            </p:nvSpPr>
            <p:spPr/>
            <p:txBody>
              <a:bodyPr>
                <a:normAutofit/>
              </a:bodyPr>
              <a:lstStyle/>
              <a:p>
                <a:pPr marL="0" indent="0">
                  <a:buNone/>
                </a:pPr>
                <a:r>
                  <a:rPr lang="es-MX" dirty="0"/>
                  <a:t>Generative adversarial nets can be extended to a conditional model if both the generator and discriminator are conditioned on some extra information </a:t>
                </a:r>
                <a14:m>
                  <m:oMath xmlns:m="http://schemas.openxmlformats.org/officeDocument/2006/math">
                    <m:r>
                      <a:rPr lang="en-US" b="0" i="1" smtClean="0">
                        <a:latin typeface="Cambria Math" panose="02040503050406030204" pitchFamily="18" charset="0"/>
                      </a:rPr>
                      <m:t>𝑦</m:t>
                    </m:r>
                  </m:oMath>
                </a14:m>
                <a:r>
                  <a:rPr lang="es-MX" dirty="0"/>
                  <a:t>. </a:t>
                </a:r>
              </a:p>
              <a:p>
                <a:pPr marL="0" indent="0">
                  <a:buNone/>
                </a:pPr>
                <a:endParaRPr lang="es-MX" dirty="0"/>
              </a:p>
              <a:p>
                <a:pPr marL="0" indent="0">
                  <a:buNone/>
                </a:pPr>
                <a14:m>
                  <m:oMath xmlns:m="http://schemas.openxmlformats.org/officeDocument/2006/math">
                    <m:r>
                      <a:rPr lang="en-US" b="0" i="1" smtClean="0">
                        <a:latin typeface="Cambria Math" panose="02040503050406030204" pitchFamily="18" charset="0"/>
                      </a:rPr>
                      <m:t>𝑦</m:t>
                    </m:r>
                  </m:oMath>
                </a14:m>
                <a:r>
                  <a:rPr lang="es-MX" dirty="0"/>
                  <a:t> could be any kind of auxiliary information, such as class labels or data from other modalities. </a:t>
                </a:r>
              </a:p>
              <a:p>
                <a:pPr marL="0" indent="0">
                  <a:buNone/>
                </a:pPr>
                <a:endParaRPr lang="es-MX" dirty="0"/>
              </a:p>
              <a:p>
                <a:pPr marL="0" indent="0">
                  <a:buNone/>
                </a:pPr>
                <a:r>
                  <a:rPr lang="es-MX" dirty="0"/>
                  <a:t>We can perform the conditioning by feeding </a:t>
                </a:r>
                <a14:m>
                  <m:oMath xmlns:m="http://schemas.openxmlformats.org/officeDocument/2006/math">
                    <m:r>
                      <a:rPr lang="en-US" b="0" i="1" smtClean="0">
                        <a:latin typeface="Cambria Math" panose="02040503050406030204" pitchFamily="18" charset="0"/>
                      </a:rPr>
                      <m:t>𝑦</m:t>
                    </m:r>
                  </m:oMath>
                </a14:m>
                <a:r>
                  <a:rPr lang="es-MX" dirty="0"/>
                  <a:t> into the both the discriminator and generator as additional input layer.</a:t>
                </a:r>
              </a:p>
            </p:txBody>
          </p:sp>
        </mc:Choice>
        <mc:Fallback xmlns="">
          <p:sp>
            <p:nvSpPr>
              <p:cNvPr id="3" name="Marcador de contenido 2">
                <a:extLst>
                  <a:ext uri="{FF2B5EF4-FFF2-40B4-BE49-F238E27FC236}">
                    <a16:creationId xmlns:a16="http://schemas.microsoft.com/office/drawing/2014/main" id="{7B9DA5CF-C124-BE4E-8416-D859010893CB}"/>
                  </a:ext>
                </a:extLst>
              </p:cNvPr>
              <p:cNvSpPr>
                <a:spLocks noGrp="1" noRot="1" noChangeAspect="1" noMove="1" noResize="1" noEditPoints="1" noAdjustHandles="1" noChangeArrowheads="1" noChangeShapeType="1" noTextEdit="1"/>
              </p:cNvSpPr>
              <p:nvPr>
                <p:ph idx="1"/>
              </p:nvPr>
            </p:nvSpPr>
            <p:spPr>
              <a:blipFill>
                <a:blip r:embed="rId2"/>
                <a:stretch>
                  <a:fillRect l="-1086" t="-2632" r="-1448"/>
                </a:stretch>
              </a:blipFill>
            </p:spPr>
            <p:txBody>
              <a:bodyPr/>
              <a:lstStyle/>
              <a:p>
                <a:r>
                  <a:rPr lang="es-MX">
                    <a:noFill/>
                  </a:rPr>
                  <a:t> </a:t>
                </a:r>
              </a:p>
            </p:txBody>
          </p:sp>
        </mc:Fallback>
      </mc:AlternateContent>
    </p:spTree>
    <p:extLst>
      <p:ext uri="{BB962C8B-B14F-4D97-AF65-F5344CB8AC3E}">
        <p14:creationId xmlns:p14="http://schemas.microsoft.com/office/powerpoint/2010/main" val="174016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2BD8D3-A2F1-2448-BE34-AE5F962A6B2F}"/>
              </a:ext>
            </a:extLst>
          </p:cNvPr>
          <p:cNvSpPr>
            <a:spLocks noGrp="1"/>
          </p:cNvSpPr>
          <p:nvPr>
            <p:ph type="title"/>
          </p:nvPr>
        </p:nvSpPr>
        <p:spPr/>
        <p:txBody>
          <a:bodyPr/>
          <a:lstStyle/>
          <a:p>
            <a:r>
              <a:rPr lang="es-MX" dirty="0"/>
              <a:t>Conditional GAN - Architecture</a:t>
            </a:r>
          </a:p>
        </p:txBody>
      </p:sp>
      <p:pic>
        <p:nvPicPr>
          <p:cNvPr id="5" name="Marcador de contenido 4">
            <a:extLst>
              <a:ext uri="{FF2B5EF4-FFF2-40B4-BE49-F238E27FC236}">
                <a16:creationId xmlns:a16="http://schemas.microsoft.com/office/drawing/2014/main" id="{E108F4F5-7AA0-1743-B64D-CB623BA341DD}"/>
              </a:ext>
            </a:extLst>
          </p:cNvPr>
          <p:cNvPicPr>
            <a:picLocks noGrp="1" noChangeAspect="1"/>
          </p:cNvPicPr>
          <p:nvPr>
            <p:ph idx="1"/>
          </p:nvPr>
        </p:nvPicPr>
        <p:blipFill>
          <a:blip r:embed="rId2"/>
          <a:stretch>
            <a:fillRect/>
          </a:stretch>
        </p:blipFill>
        <p:spPr>
          <a:xfrm>
            <a:off x="3233672" y="1690688"/>
            <a:ext cx="5724655" cy="4980371"/>
          </a:xfrm>
        </p:spPr>
      </p:pic>
    </p:spTree>
    <p:extLst>
      <p:ext uri="{BB962C8B-B14F-4D97-AF65-F5344CB8AC3E}">
        <p14:creationId xmlns:p14="http://schemas.microsoft.com/office/powerpoint/2010/main" val="1050777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C89DC6-22FB-C64F-B45E-8E9FA110E869}"/>
              </a:ext>
            </a:extLst>
          </p:cNvPr>
          <p:cNvSpPr>
            <a:spLocks noGrp="1"/>
          </p:cNvSpPr>
          <p:nvPr>
            <p:ph type="title"/>
          </p:nvPr>
        </p:nvSpPr>
        <p:spPr/>
        <p:txBody>
          <a:bodyPr/>
          <a:lstStyle/>
          <a:p>
            <a:r>
              <a:rPr lang="es-MX" dirty="0"/>
              <a:t>Conditional GAN Generator</a:t>
            </a:r>
          </a:p>
        </p:txBody>
      </p:sp>
      <p:pic>
        <p:nvPicPr>
          <p:cNvPr id="5" name="Marcador de contenido 4">
            <a:extLst>
              <a:ext uri="{FF2B5EF4-FFF2-40B4-BE49-F238E27FC236}">
                <a16:creationId xmlns:a16="http://schemas.microsoft.com/office/drawing/2014/main" id="{CB6135C7-ADAB-894F-B686-BAF7EA3BBF4D}"/>
              </a:ext>
            </a:extLst>
          </p:cNvPr>
          <p:cNvPicPr>
            <a:picLocks noGrp="1" noChangeAspect="1"/>
          </p:cNvPicPr>
          <p:nvPr>
            <p:ph idx="1"/>
          </p:nvPr>
        </p:nvPicPr>
        <p:blipFill>
          <a:blip r:embed="rId2"/>
          <a:stretch>
            <a:fillRect/>
          </a:stretch>
        </p:blipFill>
        <p:spPr>
          <a:xfrm>
            <a:off x="838200" y="2047543"/>
            <a:ext cx="10515600" cy="3907501"/>
          </a:xfrm>
          <a:ln w="50800">
            <a:solidFill>
              <a:srgbClr val="7030A0"/>
            </a:solidFill>
          </a:ln>
        </p:spPr>
      </p:pic>
    </p:spTree>
    <p:extLst>
      <p:ext uri="{BB962C8B-B14F-4D97-AF65-F5344CB8AC3E}">
        <p14:creationId xmlns:p14="http://schemas.microsoft.com/office/powerpoint/2010/main" val="3271688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181AD9-F2FD-6140-A1A0-2AEC9ABDA5E1}"/>
              </a:ext>
            </a:extLst>
          </p:cNvPr>
          <p:cNvSpPr>
            <a:spLocks noGrp="1"/>
          </p:cNvSpPr>
          <p:nvPr>
            <p:ph type="title"/>
          </p:nvPr>
        </p:nvSpPr>
        <p:spPr/>
        <p:txBody>
          <a:bodyPr/>
          <a:lstStyle/>
          <a:p>
            <a:r>
              <a:rPr lang="es-MX" dirty="0"/>
              <a:t>Conditional GAN Discriminator</a:t>
            </a:r>
          </a:p>
        </p:txBody>
      </p:sp>
      <p:pic>
        <p:nvPicPr>
          <p:cNvPr id="5" name="Marcador de contenido 4">
            <a:extLst>
              <a:ext uri="{FF2B5EF4-FFF2-40B4-BE49-F238E27FC236}">
                <a16:creationId xmlns:a16="http://schemas.microsoft.com/office/drawing/2014/main" id="{0F42E9E1-E53B-D340-8D1F-A47608788374}"/>
              </a:ext>
            </a:extLst>
          </p:cNvPr>
          <p:cNvPicPr>
            <a:picLocks noGrp="1" noChangeAspect="1"/>
          </p:cNvPicPr>
          <p:nvPr>
            <p:ph idx="1"/>
          </p:nvPr>
        </p:nvPicPr>
        <p:blipFill>
          <a:blip r:embed="rId2"/>
          <a:stretch>
            <a:fillRect/>
          </a:stretch>
        </p:blipFill>
        <p:spPr>
          <a:xfrm>
            <a:off x="1874625" y="1825625"/>
            <a:ext cx="8442750" cy="4351338"/>
          </a:xfrm>
          <a:ln w="50800">
            <a:solidFill>
              <a:srgbClr val="7030A0"/>
            </a:solidFill>
          </a:ln>
        </p:spPr>
      </p:pic>
    </p:spTree>
    <p:extLst>
      <p:ext uri="{BB962C8B-B14F-4D97-AF65-F5344CB8AC3E}">
        <p14:creationId xmlns:p14="http://schemas.microsoft.com/office/powerpoint/2010/main" val="4196911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2FCE09-6A70-CB45-AA12-341A83E289F6}"/>
              </a:ext>
            </a:extLst>
          </p:cNvPr>
          <p:cNvSpPr>
            <a:spLocks noGrp="1"/>
          </p:cNvSpPr>
          <p:nvPr>
            <p:ph type="title"/>
          </p:nvPr>
        </p:nvSpPr>
        <p:spPr/>
        <p:txBody>
          <a:bodyPr/>
          <a:lstStyle/>
          <a:p>
            <a:r>
              <a:rPr lang="es-MX" dirty="0"/>
              <a:t>CGAN for mnist</a:t>
            </a:r>
          </a:p>
        </p:txBody>
      </p:sp>
      <p:pic>
        <p:nvPicPr>
          <p:cNvPr id="5" name="Marcador de contenido 4">
            <a:extLst>
              <a:ext uri="{FF2B5EF4-FFF2-40B4-BE49-F238E27FC236}">
                <a16:creationId xmlns:a16="http://schemas.microsoft.com/office/drawing/2014/main" id="{9A134FDD-8C4D-2145-BF88-CC57F3379F40}"/>
              </a:ext>
            </a:extLst>
          </p:cNvPr>
          <p:cNvPicPr>
            <a:picLocks noGrp="1" noChangeAspect="1"/>
          </p:cNvPicPr>
          <p:nvPr>
            <p:ph idx="1"/>
          </p:nvPr>
        </p:nvPicPr>
        <p:blipFill>
          <a:blip r:embed="rId2"/>
          <a:stretch>
            <a:fillRect/>
          </a:stretch>
        </p:blipFill>
        <p:spPr>
          <a:xfrm>
            <a:off x="1720861" y="1690688"/>
            <a:ext cx="9103371" cy="4713720"/>
          </a:xfrm>
        </p:spPr>
      </p:pic>
    </p:spTree>
    <p:extLst>
      <p:ext uri="{BB962C8B-B14F-4D97-AF65-F5344CB8AC3E}">
        <p14:creationId xmlns:p14="http://schemas.microsoft.com/office/powerpoint/2010/main" val="282625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79B2B2-47B7-5144-A879-AEF3014F7717}"/>
              </a:ext>
            </a:extLst>
          </p:cNvPr>
          <p:cNvSpPr>
            <a:spLocks noGrp="1"/>
          </p:cNvSpPr>
          <p:nvPr>
            <p:ph type="title"/>
          </p:nvPr>
        </p:nvSpPr>
        <p:spPr/>
        <p:txBody>
          <a:bodyPr/>
          <a:lstStyle/>
          <a:p>
            <a:r>
              <a:rPr lang="es-MX" dirty="0"/>
              <a:t>CGAN for automated tagging of images</a:t>
            </a:r>
          </a:p>
        </p:txBody>
      </p:sp>
      <p:pic>
        <p:nvPicPr>
          <p:cNvPr id="5" name="Marcador de contenido 4">
            <a:extLst>
              <a:ext uri="{FF2B5EF4-FFF2-40B4-BE49-F238E27FC236}">
                <a16:creationId xmlns:a16="http://schemas.microsoft.com/office/drawing/2014/main" id="{21C50093-C0CE-8F44-A775-940683443D3D}"/>
              </a:ext>
            </a:extLst>
          </p:cNvPr>
          <p:cNvPicPr>
            <a:picLocks noGrp="1" noChangeAspect="1"/>
          </p:cNvPicPr>
          <p:nvPr>
            <p:ph idx="1"/>
          </p:nvPr>
        </p:nvPicPr>
        <p:blipFill>
          <a:blip r:embed="rId2"/>
          <a:stretch>
            <a:fillRect/>
          </a:stretch>
        </p:blipFill>
        <p:spPr>
          <a:xfrm>
            <a:off x="3140402" y="1464614"/>
            <a:ext cx="5911196" cy="5224968"/>
          </a:xfrm>
        </p:spPr>
      </p:pic>
    </p:spTree>
    <p:extLst>
      <p:ext uri="{BB962C8B-B14F-4D97-AF65-F5344CB8AC3E}">
        <p14:creationId xmlns:p14="http://schemas.microsoft.com/office/powerpoint/2010/main" val="1028082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9B13CC-65FD-2D4D-BC4C-7C5597B1F941}"/>
              </a:ext>
            </a:extLst>
          </p:cNvPr>
          <p:cNvSpPr>
            <a:spLocks noGrp="1"/>
          </p:cNvSpPr>
          <p:nvPr>
            <p:ph type="title"/>
          </p:nvPr>
        </p:nvSpPr>
        <p:spPr>
          <a:xfrm>
            <a:off x="2924908" y="1197462"/>
            <a:ext cx="6277708" cy="4335829"/>
          </a:xfrm>
        </p:spPr>
        <p:txBody>
          <a:bodyPr>
            <a:normAutofit/>
          </a:bodyPr>
          <a:lstStyle/>
          <a:p>
            <a:pPr algn="ctr"/>
            <a:r>
              <a:rPr lang="es-MX" dirty="0"/>
              <a:t>Thank you!</a:t>
            </a:r>
            <a:br>
              <a:rPr lang="es-MX" dirty="0"/>
            </a:br>
            <a:br>
              <a:rPr lang="es-MX" dirty="0"/>
            </a:br>
            <a:r>
              <a:rPr lang="es-MX" sz="2800" dirty="0"/>
              <a:t>Víctor Uc Cetina</a:t>
            </a:r>
            <a:br>
              <a:rPr lang="es-MX" sz="2800" dirty="0"/>
            </a:br>
            <a:r>
              <a:rPr lang="es-MX" sz="2800" dirty="0"/>
              <a:t>victoruccetina@gmail.com</a:t>
            </a:r>
            <a:endParaRPr lang="es-MX" dirty="0"/>
          </a:p>
        </p:txBody>
      </p:sp>
    </p:spTree>
    <p:extLst>
      <p:ext uri="{BB962C8B-B14F-4D97-AF65-F5344CB8AC3E}">
        <p14:creationId xmlns:p14="http://schemas.microsoft.com/office/powerpoint/2010/main" val="12854021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1474</TotalTime>
  <Words>667</Words>
  <Application>Microsoft Macintosh PowerPoint</Application>
  <PresentationFormat>Panorámica</PresentationFormat>
  <Paragraphs>72</Paragraphs>
  <Slides>21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Calibri</vt:lpstr>
      <vt:lpstr>Calibri Light</vt:lpstr>
      <vt:lpstr>Cambria Math</vt:lpstr>
      <vt:lpstr>Tema de Office</vt:lpstr>
      <vt:lpstr>Training GANs, DCGAN and CGAN</vt:lpstr>
      <vt:lpstr>Content</vt:lpstr>
      <vt:lpstr>Training GANs</vt:lpstr>
      <vt:lpstr>Training GANs - Code</vt:lpstr>
      <vt:lpstr>Nash Equilibrium</vt:lpstr>
      <vt:lpstr>The biggest difficulty:  mode collapse</vt:lpstr>
      <vt:lpstr>GANs are unstable</vt:lpstr>
      <vt:lpstr>Solutions proposed so far</vt:lpstr>
      <vt:lpstr>Training Deep Convolutional GANs (DCGAN)</vt:lpstr>
      <vt:lpstr>DCGAN code</vt:lpstr>
      <vt:lpstr>DCGAN Interpolation</vt:lpstr>
      <vt:lpstr>DCGAN Arithmetic</vt:lpstr>
      <vt:lpstr>DCGAN Arithmetic</vt:lpstr>
      <vt:lpstr>Pixel Arithmetic</vt:lpstr>
      <vt:lpstr>Conditional GAN</vt:lpstr>
      <vt:lpstr>Conditional GAN - Architecture</vt:lpstr>
      <vt:lpstr>Conditional GAN Generator</vt:lpstr>
      <vt:lpstr>Conditional GAN Discriminator</vt:lpstr>
      <vt:lpstr>CGAN for mnist</vt:lpstr>
      <vt:lpstr>CGAN for automated tagging of images</vt:lpstr>
      <vt:lpstr>Thank you!  Víctor Uc Cetina victoruccetina@gmail.com</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GAN’s</dc:title>
  <dc:creator>Microsoft Office User</dc:creator>
  <cp:lastModifiedBy>Microsoft Office User</cp:lastModifiedBy>
  <cp:revision>20</cp:revision>
  <dcterms:created xsi:type="dcterms:W3CDTF">2021-09-24T13:32:49Z</dcterms:created>
  <dcterms:modified xsi:type="dcterms:W3CDTF">2021-11-09T03:55:52Z</dcterms:modified>
</cp:coreProperties>
</file>