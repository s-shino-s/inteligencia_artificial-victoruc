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93A"/>
                </a:solidFill>
                <a:latin typeface="Aptos"/>
              </a:rPr>
              <a:t>CURSO DE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Aptos"/>
              </a:rPr>
              <a:t>Redes Generativas </a:t>
            </a:r>
            <a:r>
              <a:rPr sz="5200" b="1" i="0">
                <a:solidFill>
                  <a:srgbClr val="EDE9FE"/>
                </a:solidFill>
                <a:latin typeface="Aptos"/>
              </a:rPr>
              <a:t>Antagónicas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5D0DC"/>
                </a:solidFill>
                <a:latin typeface="Aptos"/>
              </a:rPr>
              <a:t>Dos redes que compiten: una inventa datos, la otra los descubre. El juego que aprendió a generar imágenes realistas.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29200"/>
            <a:ext cx="1741932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129784"/>
            <a:ext cx="17419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Generador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7772" y="5029200"/>
            <a:ext cx="2235708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7772" y="5129784"/>
            <a:ext cx="22357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Discriminador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5029200"/>
            <a:ext cx="19888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5129784"/>
            <a:ext cx="19888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Juego minimax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B93A"/>
                </a:solidFill>
                <a:latin typeface="Aptos"/>
              </a:rPr>
              <a:t>Goodfellow et al., 2014  · 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ptos"/>
              </a:rPr>
              <a:t>QUÉ VEREMOS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7043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6002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58191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Modelos generativos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84248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Qué significa “generar” y en qué se diferencia de clasificar.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8229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6002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C3AE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58191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La idea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984248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Falsificador vs. detective: dos redes en un juego de suma cero.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99232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2999232"/>
            <a:ext cx="82296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1821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D9488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6382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Arquitectura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66160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Generador, discriminador y el flujo de datos reales y falsos.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999232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999232"/>
            <a:ext cx="82296" cy="1417320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1821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93A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6382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Entrenamiento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566160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El objetivo minimax, el algoritmo y el equilibrio.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58114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4581144"/>
            <a:ext cx="82296" cy="1417320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47640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5340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74573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Problemas y trucos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48072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Colapso de modos, inestabilidad y cómo mitigarlos.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58114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581144"/>
            <a:ext cx="82296" cy="141732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476402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9E5B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74573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Variantes y usos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148072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DCGAN, cGAN, CycleGAN, StyleGAN y aplicaciones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¿Qué es un modelo generativo?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No solo separa clases: aprende a producir muestras nuevas parecidas a los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82296" cy="3383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Discriminativo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4846320" cy="2651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Aprende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P(y | x)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Traza fronteras entre clases.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Pregunta: “¿esto es un gato o un perro?”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Ej.: regresión logística, CNN clasificadora.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0020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600200"/>
            <a:ext cx="82296" cy="3383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76479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Generativo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48840"/>
            <a:ext cx="4846320" cy="2651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Modela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P(x)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o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P(x | 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Aprende cómo se ven los datos.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Pregunta: “¿cómo sería un gato nuevo?”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Ej.: GANs, VAEs, modelos de difusión.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257800"/>
            <a:ext cx="11000232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2233C"/>
                </a:solidFill>
                <a:latin typeface="Aptos"/>
              </a:rPr>
              <a:t>Meta de una GAN: 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muestrear de una distribución p_data que nunca conocemos por completo, usando solo ejemplos.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La idea central: un juego entre dos redes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Goodfellow (2014): enfrentar un falsificador contra un detective, y dejar que mejoren juntos.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45920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Generador  (el falsificador)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846320" cy="21031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Parte de ruido aleatorio z.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Fabrica muestras falsas G(z).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Objetivo: engañar al detective.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Nunca ve datos reales directamente.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45920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645920"/>
            <a:ext cx="82296" cy="2880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81051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Discriminador  (el detective)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40280"/>
            <a:ext cx="4846320" cy="21031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Recibe muestras reales y falsas.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Estima la probabilidad de ser real.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Objetivo: no dejarse engañar.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Da la señal que enseña a 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00600"/>
            <a:ext cx="11000232" cy="1371600"/>
          </a:xfrm>
          <a:prstGeom prst="roundRect">
            <a:avLst>
              <a:gd name="adj" fmla="val 6000"/>
            </a:avLst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93A"/>
                </a:solidFill>
                <a:latin typeface="Aptos"/>
              </a:rPr>
              <a:t>Competencia que mejora a ambos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D0DC"/>
                </a:solidFill>
                <a:latin typeface="Aptos"/>
              </a:rPr>
              <a:t>Cuanto mejor detecta D, más fino debe falsificar G; cuanto mejor falsifica G, más agudo debe volverse D. El equilibrio llega cuando las falsificaciones son indistinguibles de lo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Arquitectura y flujo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Cómo circulan el ruido, las muestras y la señal de error en cada paso.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33C"/>
                </a:solidFill>
                <a:latin typeface="Aptos"/>
              </a:rPr>
              <a:t>Ruido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00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z ~ N(0, I)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21408" y="2532888"/>
            <a:ext cx="502920" cy="14630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24912" y="201168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24912" y="22860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Generador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6517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E9FE"/>
                </a:solidFill>
                <a:latin typeface="Aptos"/>
              </a:rPr>
              <a:t>z → G(z)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54880" y="2532888"/>
            <a:ext cx="502920" cy="14630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58384" y="155448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58384" y="1554480"/>
            <a:ext cx="82296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4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33C"/>
                </a:solidFill>
                <a:latin typeface="Aptos"/>
              </a:rPr>
              <a:t>Muestra falsa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19751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ptos"/>
              </a:rPr>
              <a:t>G(z)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58384" y="260604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58384" y="2606040"/>
            <a:ext cx="82296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58384" y="27249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33C"/>
                </a:solidFill>
                <a:latin typeface="Aptos"/>
              </a:rPr>
              <a:t>Datos reales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026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D9488"/>
                </a:solidFill>
                <a:latin typeface="Aptos"/>
              </a:rPr>
              <a:t>x ~ p_data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96912" y="2532888"/>
            <a:ext cx="502920" cy="146304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00416" y="201168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0416" y="22860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Discrimin.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6" y="26517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CFBF1"/>
                </a:solidFill>
                <a:latin typeface="Aptos"/>
              </a:rPr>
              <a:t>D(·) ∈ [0,1]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930384" y="2532888"/>
            <a:ext cx="457200" cy="14630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24160" y="214884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24160" y="214884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24160" y="2286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33C"/>
                </a:solidFill>
                <a:latin typeface="Aptos"/>
              </a:rPr>
              <a:t>¿Real 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54203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33C"/>
                </a:solidFill>
                <a:latin typeface="Aptos"/>
              </a:rPr>
              <a:t>falso?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28529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prob.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200400" y="3703320"/>
            <a:ext cx="5669280" cy="109728"/>
          </a:xfrm>
          <a:prstGeom prst="rightArrow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0" y="3474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40"/>
                </a:solidFill>
                <a:latin typeface="Aptos"/>
              </a:rPr>
              <a:t>gradiente: “engaña mejor”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160520"/>
            <a:ext cx="11000232" cy="187451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343400"/>
            <a:ext cx="10515600" cy="1645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7C3AED"/>
                </a:solidFill>
                <a:latin typeface="Aptos"/>
              </a:rPr>
              <a:t>G nunca toca los datos reales: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solo aprende del gradiente que baja desde 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0D9488"/>
                </a:solidFill>
                <a:latin typeface="Aptos"/>
              </a:rPr>
              <a:t>D es un clasificador binario: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real ≈ 1, falso ≈ 0.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La flecha punteada roja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es el gradiente que corrige a G para engañar mejor a 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ptos"/>
              </a:rPr>
              <a:t>COMPONENTE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El Generador  G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7043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Transforma un vector de ruido en una muestra estructurada (por ejemplo, una imagen).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6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90195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Qué hace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4846320" cy="3291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Entrada: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vector latente z de ruido (p. ej. 100 dims).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Salida: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una muestra G(z) del tamaño de los datos.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Arquitectura típica: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capas deconvolucionales que van de vector a imagen.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Aprende un mapeo </a:t>
            </a:r>
            <a:r>
              <a:rPr sz="1300" b="1" i="0">
                <a:solidFill>
                  <a:srgbClr val="7C3AED"/>
                </a:solidFill>
                <a:latin typeface="Aptos"/>
              </a:rPr>
              <a:t>espacio latente → datos</a:t>
            </a:r>
            <a:r>
              <a:rPr sz="1300" b="0" i="0">
                <a:solidFill>
                  <a:srgbClr val="334155"/>
                </a:solidFill>
                <a:latin typeface="Aptos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Moverse en z de forma suave cambia la salida de forma suave.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73736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5352" y="1737360"/>
            <a:ext cx="82296" cy="402336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90195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B93A"/>
                </a:solidFill>
                <a:latin typeface="Aptos"/>
              </a:rPr>
              <a:t>El espacio latente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3172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5D0DC"/>
                </a:solidFill>
                <a:latin typeface="Aptos"/>
              </a:rPr>
              <a:t>Cada punto de z es una “receta” que G convierte en una muestra concreta.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sz="1300" b="0" i="0">
              <a:solidFill>
                <a:srgbClr val="C5D0DC"/>
              </a:solidFill>
              <a:latin typeface="Apto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Interpolar entre z₁ y z₂</a:t>
            </a:r>
            <a:r>
              <a:rPr sz="1300" b="0" i="0">
                <a:solidFill>
                  <a:srgbClr val="C5D0DC"/>
                </a:solidFill>
                <a:latin typeface="Aptos"/>
              </a:rPr>
              <a:t> produce transiciones graduales entre dos muestras.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sz="1300" b="0" i="0">
              <a:solidFill>
                <a:srgbClr val="C5D0DC"/>
              </a:solidFill>
              <a:latin typeface="Apto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Direcciones del espacio</a:t>
            </a:r>
            <a:r>
              <a:rPr sz="1300" b="0" i="0">
                <a:solidFill>
                  <a:srgbClr val="C5D0DC"/>
                </a:solidFill>
                <a:latin typeface="Aptos"/>
              </a:rPr>
              <a:t> pueden capturar atributos (sonrisa, edad, pose…).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ptos"/>
              </a:rPr>
              <a:t>COMPONENTE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El Discriminador  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7043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Un clasificador binario que aprende a separar lo real de lo generado.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7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82296" cy="4023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90195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Qué hace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4846320" cy="3291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Entrada: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una muestra (real x o falsa G(z)).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Salida: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D(·) ∈ [0,1], probabilidad de ser real.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Arquitectura típica: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una CNN clasificadora estándar.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Se entrena con etiquetas: </a:t>
            </a:r>
            <a:r>
              <a:rPr sz="1300" b="1" i="0">
                <a:solidFill>
                  <a:srgbClr val="0D9488"/>
                </a:solidFill>
                <a:latin typeface="Aptos"/>
              </a:rPr>
              <a:t>real = 1, falso = 0</a:t>
            </a:r>
            <a:r>
              <a:rPr sz="1300" b="0" i="0">
                <a:solidFill>
                  <a:srgbClr val="334155"/>
                </a:solidFill>
                <a:latin typeface="Aptos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D9488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Es el “profesor”: su error enseña al generador.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73736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5352" y="1737360"/>
            <a:ext cx="82296" cy="4023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90195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Señal de aprendizaje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31720"/>
            <a:ext cx="4846320" cy="3291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0D9488"/>
                </a:solidFill>
                <a:latin typeface="Aptos"/>
              </a:rPr>
              <a:t>Para D: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maximizar acierto en reales y falsos.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7C3AED"/>
                </a:solidFill>
                <a:latin typeface="Aptos"/>
              </a:rPr>
              <a:t>Para G: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maximizar el error de D sobre sus falsos.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Si D es demasiado fuerte,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G casi no recibe gradiente (se satura).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Si D es demasiado débil,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G no tiene a quién engañar y no mejora.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2233C"/>
                </a:solidFill>
                <a:latin typeface="Aptos"/>
              </a:rPr>
              <a:t>•  </a:t>
            </a:r>
            <a:r>
              <a:rPr sz="1300" b="1" i="0">
                <a:solidFill>
                  <a:srgbClr val="12233C"/>
                </a:solidFill>
                <a:latin typeface="Aptos"/>
              </a:rPr>
              <a:t>Clave: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mantener a ambos equilibrados durante el juego.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El objetivo: un juego minimax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Una sola función de valor que G quiere minimizar y D quiere maximizar.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8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11000232" cy="1234440"/>
          </a:xfrm>
          <a:prstGeom prst="roundRect">
            <a:avLst>
              <a:gd name="adj" fmla="val 6000"/>
            </a:avLst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3AED"/>
                </a:solidFill>
                <a:latin typeface="Aptos"/>
              </a:rPr>
              <a:t>minᴳ </a:t>
            </a:r>
            <a:r>
              <a:rPr sz="1700" b="1" i="0">
                <a:solidFill>
                  <a:srgbClr val="0D9488"/>
                </a:solidFill>
                <a:latin typeface="Aptos"/>
              </a:rPr>
              <a:t>maxᴰ  V(D, G) =</a:t>
            </a:r>
            <a:r>
              <a:rPr sz="1700" b="1" i="0">
                <a:solidFill>
                  <a:srgbClr val="FFFFFF"/>
                </a:solidFill>
                <a:latin typeface="Aptos"/>
              </a:rPr>
              <a:t>  𝔼ₓ~p_data [ log D(x) ]  +  𝔼_z [ log(1 − D(G(z)))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5D0DC"/>
                </a:solidFill>
                <a:latin typeface="Aptos"/>
              </a:rPr>
              <a:t>↑ D sube D(x) hacia 1 en reales y baja D(G(z)) hacia 0 en falsos.   ↓ G sube D(G(z)) para que sus falsos parezcan reales.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3520440" cy="2788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063240"/>
            <a:ext cx="82296" cy="2788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2278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Término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80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log D(x)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500" b="1" i="0">
              <a:solidFill>
                <a:srgbClr val="12233C"/>
              </a:solidFill>
              <a:latin typeface="Apto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D quiere que sea alto: reconocer los datos verdaderos como reales.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063240"/>
            <a:ext cx="3520440" cy="2788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15968" y="3063240"/>
            <a:ext cx="82296" cy="2788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2278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Término falso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611880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log(1 − D(G(z)))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500" b="1" i="0">
              <a:solidFill>
                <a:srgbClr val="12233C"/>
              </a:solidFill>
              <a:latin typeface="Apto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D lo sube (detecta el falso); G lo baja (engaña a 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3063240"/>
            <a:ext cx="3557016" cy="2788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37575" y="3063240"/>
            <a:ext cx="82296" cy="2788920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7" y="3227832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Truco práctico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611880"/>
            <a:ext cx="3063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2233C"/>
                </a:solidFill>
                <a:latin typeface="Aptos"/>
              </a:rPr>
              <a:t>Non-saturating loss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sz="1400" b="1" i="0">
              <a:solidFill>
                <a:srgbClr val="12233C"/>
              </a:solidFill>
              <a:latin typeface="Apto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En vez de minimizar log(1−D(G(z))), G </a:t>
            </a:r>
            <a:r>
              <a:rPr sz="1200" b="1" i="0">
                <a:solidFill>
                  <a:srgbClr val="7C3AED"/>
                </a:solidFill>
                <a:latin typeface="Aptos"/>
              </a:rPr>
              <a:t>maximiza log D(G(z))</a:t>
            </a:r>
            <a:r>
              <a:rPr sz="1200" b="0" i="0">
                <a:solidFill>
                  <a:srgbClr val="334155"/>
                </a:solidFill>
                <a:latin typeface="Aptos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sz="1200" b="0" i="0">
              <a:solidFill>
                <a:srgbClr val="334155"/>
              </a:solidFill>
              <a:latin typeface="Apto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Da gradientes fuertes cuando G aún es malo.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Algoritmo de entrenamiento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Se alternan actualizaciones de D y de G sobre mini-lotes; ninguno gana de golpe.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9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89280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81965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Muestrear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1965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Toma un lote real x ~ p_data y ruido z ~ p_z.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87752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2587752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71576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Actualizar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1576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Sube por el gradiente: mejor separar reales de G(z).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83864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" y="3483864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685032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611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Muestrear 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611880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Nuevo lote de ruido para el generador.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379976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" y="437997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581144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50799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Actualizar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07992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Baja el gradiente: haz que D(G(z)) parezca real.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276088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5276088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477255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404103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Repetir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04103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Miles de iteraciones, vigilando el equilibrio.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2362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233C"/>
                </a:solidFill>
                <a:latin typeface="Aptos"/>
              </a:rPr>
              <a:t>Nota:  </a:t>
            </a:r>
            <a:r>
              <a:rPr sz="1100" b="0" i="0">
                <a:solidFill>
                  <a:srgbClr val="64748B"/>
                </a:solidFill>
                <a:latin typeface="Aptos"/>
              </a:rPr>
              <a:t>a menudo se hacen k pasos de D por cada paso de G para mantener a D informado.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¿Cuándo termina el juego?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En el óptimo teórico, el generador reproduce la distribución de los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10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82296" cy="2148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Equilibrio ideal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33C"/>
                </a:solidFill>
                <a:latin typeface="Aptos"/>
              </a:rPr>
              <a:t>p_g = p_data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sz="1800" b="1" i="0">
              <a:solidFill>
                <a:srgbClr val="12233C"/>
              </a:solidFill>
              <a:latin typeface="Apto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El generador imita exactamente la distribución real de los 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9164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691640"/>
            <a:ext cx="82296" cy="21488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8562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Discriminador perdido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4028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33C"/>
                </a:solidFill>
                <a:latin typeface="Aptos"/>
              </a:rPr>
              <a:t>D(x) = ½  para todo 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sz="1800" b="1" i="0">
              <a:solidFill>
                <a:srgbClr val="12233C"/>
              </a:solidFill>
              <a:latin typeface="Apto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No puede distinguir real de falso: adivina al azar.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14800"/>
            <a:ext cx="11000232" cy="19202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En la práctica…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515600" cy="12801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563EB"/>
                </a:solidFill>
                <a:latin typeface="Aptos"/>
              </a:rPr>
              <a:t>• 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Ese equilibrio es un ideal: rara vez se alcanza de forma exacta.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563EB"/>
                </a:solidFill>
                <a:latin typeface="Aptos"/>
              </a:rPr>
              <a:t>• 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El entrenamiento es un objetivo móvil (ambas redes cambian a la vez).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563EB"/>
                </a:solidFill>
                <a:latin typeface="Aptos"/>
              </a:rPr>
              <a:t>• 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Se evalúa con métricas como FID/IS y con inspección visual, no solo con la pérdida.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Problemas comunes al entrenar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Las GANs son potentes pero notoriamente inestables. Cuatro dolores de cabeza clásicos.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82296" cy="1965960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Colapso de modos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G produce pocas variantes (siempre el mismo dígito). Ignora parte de p_data.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7373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737360"/>
            <a:ext cx="82296" cy="1965960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93852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No convergencia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42316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D y G oscilan sin estabilizarse; las pérdidas suben y bajan sin rumbo.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77639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977639"/>
            <a:ext cx="82296" cy="1965960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78807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Gradiente que se desvanece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Si D es demasiado bueno, G casi no recibe señal y deja de aprender.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977639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3977639"/>
            <a:ext cx="82296" cy="1965960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4178807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33C"/>
                </a:solidFill>
                <a:latin typeface="Aptos"/>
              </a:rPr>
              <a:t>Desbalance D–G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66344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Uno domina al otro; el juego pierde su tensión y se rompe.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Trucos de estabilización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Buena parte del progreso de las GANs vino de recetas prácticas de entrenamiento.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82296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8366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DCGAN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86000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Aptos"/>
              </a:rPr>
              <a:t>Convoluciones, BatchNorm y ReLU/LeakyReLU: la receta base para imágenes.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188366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Wasserstein (WGAN)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286000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Aptos"/>
              </a:rPr>
              <a:t>Cambia la pérdida por la distancia de Wasserstein: gradientes más estables.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200400"/>
            <a:ext cx="82296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3467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Label smoothing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74903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Aptos"/>
              </a:rPr>
              <a:t>Usar 0.9 en vez de 1.0 para “real” evita que D se confíe demasiado.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0040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200400"/>
            <a:ext cx="82296" cy="1298448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33467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Two Time-Scale (TTUR)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4903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Aptos"/>
              </a:rPr>
              <a:t>Tasas de aprendizaje distintas para D y G ayudan a converger.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66344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663440"/>
            <a:ext cx="82296" cy="1298448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80974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Ruido / augmentación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21207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Aptos"/>
              </a:rPr>
              <a:t>Inyectar ruido o aumentar datos regulariza a 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66344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4663440"/>
            <a:ext cx="82296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480974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Spectral norm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521207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Aptos"/>
              </a:rPr>
              <a:t>Normaliza los pesos de D para controlar su capacidad.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El zoológico de las GANs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Una familia enorme de variantes, cada una con un giro sobre la idea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9019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cGAN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2316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Condicional: genera dado una etiqueta o texto. Control sobre la salida.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373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737360"/>
            <a:ext cx="82296" cy="1965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9019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Pix2Pix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Imagen → imagen con pares (bocetos → fotos).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73736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7575" y="1737360"/>
            <a:ext cx="82296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7" y="19019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CycleGAN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42316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Traducción sin pares (caballos ↔ cebras, verano ↔ invierno).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82296" cy="1965960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09651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StyleGAN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6177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Control por estilos; rostros fotorrealistas de alta resolución.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93192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15968" y="3931920"/>
            <a:ext cx="82296" cy="196596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409651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SRGAN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Súper-resolución: recupera detalle en imágenes de baja calidad.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393192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37575" y="3931920"/>
            <a:ext cx="82296" cy="1965960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7" y="409651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WGAN-GP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7" y="46177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Variante estable con penalización de gradiente.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Aplicaciones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Dónde brillan las GANs en el mundo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82296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8366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Síntesis de imágenes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86000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Rostros, obras de arte y objetos que no existen.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188366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Traducción de imágenes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286000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Boceto → foto, día → noche, estilo → estilo.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200400"/>
            <a:ext cx="82296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3467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Súper-resolución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74903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Aumentar resolución y restaurar fotos antiguas.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0040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200400"/>
            <a:ext cx="82296" cy="1298448"/>
          </a:xfrm>
          <a:prstGeom prst="rect">
            <a:avLst/>
          </a:prstGeom>
          <a:solidFill>
            <a:srgbClr val="E8B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33467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Aumento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74903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Generar ejemplos sintéticos para entrenar otros modelos.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66344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663440"/>
            <a:ext cx="82296" cy="1298448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80974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Diseño y moda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21207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Prototipos de productos, texturas y materiales.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663440"/>
            <a:ext cx="5212080" cy="129844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4663440"/>
            <a:ext cx="82296" cy="1298448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480974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233C"/>
                </a:solidFill>
                <a:latin typeface="Aptos"/>
              </a:rPr>
              <a:t>Ciencia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521207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Aptos"/>
              </a:rPr>
              <a:t>Simular datos físicos, moléculas o imágenes médicas.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Límites y ética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98755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El mismo poder generativo abre riesgos que conviene discutir en clase.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82296" cy="4114800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Riesgos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4846320" cy="33832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95340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Deepfakes: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suplantación de identidad y desinformación.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95340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Sesgos: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G reproduce (y amplifica) los sesgos de los datos.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95340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Consentimiento y autoría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de los datos de entrenamiento.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D95340"/>
                </a:solidFill>
                <a:latin typeface="Aptos"/>
              </a:rPr>
              <a:t>•  </a:t>
            </a:r>
            <a:r>
              <a:rPr sz="1300" b="1" i="0">
                <a:solidFill>
                  <a:srgbClr val="D95340"/>
                </a:solidFill>
                <a:latin typeface="Aptos"/>
              </a:rPr>
              <a:t>Evaluación difícil:</a:t>
            </a:r>
            <a:r>
              <a:rPr sz="1300" b="0" i="0">
                <a:solidFill>
                  <a:srgbClr val="334155"/>
                </a:solidFill>
                <a:latin typeface="Aptos"/>
              </a:rPr>
              <a:t> “se ve bien” no es una métrica objetiva.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9164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691640"/>
            <a:ext cx="82296" cy="411480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85623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Buenas prácticas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86000"/>
            <a:ext cx="4846320" cy="33832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59E5B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Marcar el contenido generado (marcas de agua, metadatos).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59E5B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Curar y auditar los datos de entrenamiento.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59E5B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Usar métricas cuantitativas (FID, IS) además del ojo humano.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159E5B"/>
                </a:solidFill>
                <a:latin typeface="Aptos"/>
              </a:rPr>
              <a:t>• 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Considerar el impacto antes de desplegar un modelo generativo.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ptos"/>
              </a:rPr>
              <a:t>PARA LLEVAR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33C"/>
                </a:solidFill>
                <a:latin typeface="Aptos"/>
              </a:rPr>
              <a:t>Resumen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70432"/>
            <a:ext cx="105156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ptos"/>
              </a:rPr>
              <a:t>Cinco ideas que resumen toda la clase.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GANs · Redes Generativas Antagónicas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3737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16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783080"/>
            <a:ext cx="82296" cy="7863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11095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Dos redes, un juego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11095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G falsifica, D detecta; compiten y mejoran juntos.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9191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679191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Objetivo minimax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07208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min_G max_D V(D,G): equilibrio cuando p_g = p_data.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75303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575303"/>
            <a:ext cx="82296" cy="7863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G no ve datos reales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03320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Aprende solo del gradiente que baja desde 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471416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471416"/>
            <a:ext cx="82296" cy="786384"/>
          </a:xfrm>
          <a:prstGeom prst="rect">
            <a:avLst/>
          </a:prstGeom>
          <a:solidFill>
            <a:srgbClr val="D9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99431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Inestables por diseño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99431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Colapso de modos e inestabilidad: por eso tantos trucos.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367527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5367527"/>
            <a:ext cx="82296" cy="786384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495543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33C"/>
                </a:solidFill>
                <a:latin typeface="Aptos"/>
              </a:rPr>
              <a:t>Familia enorme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495543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Aptos"/>
              </a:rPr>
              <a:t>De DCGAN a StyleGAN: imágenes, traducción, súper-resolución.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ptos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29184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5D0DC"/>
                </a:solidFill>
                <a:latin typeface="Aptos"/>
              </a:rPr>
              <a:t>Redes Generativas Antagónicas: el arte de aprender a generar compitiendo.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B93A"/>
                </a:solidFill>
                <a:latin typeface="Aptos"/>
              </a:rPr>
              <a:t>Lecturas: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5D0DC"/>
                </a:solidFill>
                <a:latin typeface="Aptos"/>
              </a:rPr>
              <a:t>Goodfellow et al. (2014), “Generative Adversarial Nets”.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5D0DC"/>
                </a:solidFill>
                <a:latin typeface="Aptos"/>
              </a:rPr>
              <a:t>Radford et al. (2016), DCGAN  ·  Karras et al. (2019), StyleGAN.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1965</Words>
  <Application>Microsoft Macintosh PowerPoint</Application>
  <PresentationFormat>Panorámica</PresentationFormat>
  <Paragraphs>265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1</cp:revision>
  <dcterms:created xsi:type="dcterms:W3CDTF">2013-01-27T09:14:16Z</dcterms:created>
  <dcterms:modified xsi:type="dcterms:W3CDTF">2026-08-22T04:27:58Z</dcterms:modified>
  <cp:category/>
</cp:coreProperties>
</file>