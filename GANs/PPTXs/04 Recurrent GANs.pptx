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  <p:sldId id="278" r:id="rId9"/>
    <p:sldId id="279" r:id="rId10"/>
    <p:sldId id="280" r:id="rId11"/>
    <p:sldId id="261" r:id="rId12"/>
    <p:sldId id="262" r:id="rId13"/>
    <p:sldId id="263" r:id="rId14"/>
    <p:sldId id="264" r:id="rId15"/>
    <p:sldId id="268" r:id="rId16"/>
    <p:sldId id="269" r:id="rId17"/>
    <p:sldId id="274" r:id="rId18"/>
    <p:sldId id="275" r:id="rId19"/>
    <p:sldId id="276" r:id="rId20"/>
    <p:sldId id="277" r:id="rId21"/>
    <p:sldId id="270" r:id="rId22"/>
    <p:sldId id="271" r:id="rId23"/>
    <p:sldId id="272" r:id="rId24"/>
    <p:sldId id="273" r:id="rId25"/>
    <p:sldId id="258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56"/>
  </p:normalViewPr>
  <p:slideViewPr>
    <p:cSldViewPr snapToGrid="0" snapToObjects="1">
      <p:cViewPr varScale="1">
        <p:scale>
          <a:sx n="109" d="100"/>
          <a:sy n="109" d="100"/>
        </p:scale>
        <p:origin x="208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9C424-96B6-904C-B5C7-C33728CD2936}" type="datetimeFigureOut">
              <a:rPr lang="es-MX" smtClean="0"/>
              <a:t>10/11/21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1239-E323-C641-A2EE-39DA404616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19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DCD28-5174-BA4A-B6B8-84D3AEA11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EE12D8-E857-9646-BE6B-177324898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04974-B7EE-7742-AD15-242447F20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E819-E9DD-A44C-9E8C-7FED2C5958EC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B8F3E-9065-C349-ADB8-1F5FD404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FA87A2-9AD1-4144-9C45-9D83D6D5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763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8FD5C-4AD4-0348-95B3-FA224BE8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8309B-EBB1-334D-AB5E-E6E6CB620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52EE18-2E07-A747-B331-9BF3C2F3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39D5-5F22-B540-A475-092D1F9C4F5F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7D3B7B-AE75-3D4B-860D-0AED4918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C33828-7798-1548-8A3D-E79975FB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41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A900D-B32E-6D45-A510-D56C0CD6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60E622-D55F-6240-AE34-F00A0EEA1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88534C-3F67-C74B-81C1-8EF0651F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74DD3-A24B-1D4F-BF09-9AB944A52F32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5D71CF-12FB-4142-B40C-7F9318AB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BD3F9D-F8B6-024E-AE1D-26EA7161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844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7F107-F0FD-C84B-B9CC-98D556DE7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B0A65A-DF0B-AF42-84F1-AD25CED71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1E5E3-F0CB-9F40-85C8-6EEC9E223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CAD4B9-0A67-9842-898F-738FADC4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60D5B-EACC-1D4F-8B6F-7717535A88B5}" type="datetime1">
              <a:rPr lang="es-MX" smtClean="0"/>
              <a:t>10/11/21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108715-FE19-074B-B997-77C70A7C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CE81CD-0A45-4041-B3F7-8F238C56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970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19652-AAAC-644B-9423-221F0B42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78E7DE-1520-0643-93B0-48E28232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19C0EF-1807-F641-9C15-CE6BFF3BB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E10A15-6042-414C-8D22-E0874D276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3EB286-0B0F-BA4D-9AC2-8E84A7C74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70EF3E-2733-D44C-B0D4-F844DA66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777E1-87DB-5647-B293-9BDB628840C6}" type="datetime1">
              <a:rPr lang="es-MX" smtClean="0"/>
              <a:t>10/11/21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FD7A91-12F2-004A-8C03-8CDE347B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72384B-F237-264C-A2E3-C007DB9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60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48B49-1B46-F542-84E9-60468AD5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BF750E-A0AB-6741-ACFD-D1111DD0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0BE9-08A7-464F-9BA6-E49FB4C0F67A}" type="datetime1">
              <a:rPr lang="es-MX" smtClean="0"/>
              <a:t>10/11/21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785FC8-A94C-7B4C-8289-F8653100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63D2E6-A720-9D49-9139-7CFC6E6E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699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4C6F08-0B6B-4C48-B5A8-12184ACC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1480-81B8-D841-8D43-86B61D8D07F4}" type="datetime1">
              <a:rPr lang="es-MX" smtClean="0"/>
              <a:t>10/11/21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BBEB94-68AA-314F-A498-80556BA6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714A10-89CD-3F4C-8651-2E6D5A3E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660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AABE9-927F-3B44-91AE-2ADD3EEC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ED951-49FD-6441-8D20-C441585E0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3A480D-4E79-B544-AD5E-55E10EDC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4ACBF-51BE-4944-8313-C4E78F67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EE64-7092-F74C-88BE-1A4BEE8A4519}" type="datetime1">
              <a:rPr lang="es-MX" smtClean="0"/>
              <a:t>10/11/21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C866F1-291A-3646-A45B-96447699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AD9BAC-0D57-9348-9026-F411BC95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170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7DA74-AD6B-FE49-B6E4-D32905C0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6007D7-C196-1A45-858B-1B9566C9B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6C4C0F-7ABA-884B-BC14-737DF1071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77B4C-065E-8847-981E-FE267715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FDB6-66EF-2148-94A5-604A6FC9D28A}" type="datetime1">
              <a:rPr lang="es-MX" smtClean="0"/>
              <a:t>10/11/21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1E987-FCC4-8140-A29B-B622085D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2878BE-2582-1646-9C45-DA0F1EE8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116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EC976-453F-F74C-9297-12E8E2CD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027C30-00A9-F74B-8199-17AEC8954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27449-021E-014F-8032-AA12BA1E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9889-7394-B649-B75C-D815FCC5BAA9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369B8-8922-FA46-A9AB-7EBC38D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6676-433B-D44E-BD51-53972E6B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652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3936FC-A1B9-3B49-8D84-E5FD19260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6606F6-751D-6443-9ED2-50F0ECAEB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135489-71B5-2F47-81C9-52CCD88A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B5120-266B-8A46-958F-3454D4D76A38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24D10D-DF87-DF4E-AFC7-B89D824B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5BB291-C211-964C-83EC-718B4EF9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373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E693DA-6002-F442-8079-9C10AE75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F7108-759D-4746-91CB-97516E6F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6F1FC1-D4CC-5A45-B753-970DAAD06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15A80-E829-F248-9428-364F1656A87A}" type="datetime1">
              <a:rPr lang="es-MX" smtClean="0"/>
              <a:t>10/11/21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B97A44-718C-BB4C-AE81-4A65E227B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5AC8F8-574E-2941-A550-1283FBE25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3896E-18FD-2846-A1F4-73E6984BCD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708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icu-crd.mit.edu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genta.tensorflow.org/assets/sketch_rnn_demo/index.html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575E5-9F9D-2142-9024-FA017C2AA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Recurrent GANs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4756E8-53AF-9642-8A52-3A920D160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Víctor Uc Cetina</a:t>
            </a:r>
          </a:p>
        </p:txBody>
      </p:sp>
    </p:spTree>
    <p:extLst>
      <p:ext uri="{BB962C8B-B14F-4D97-AF65-F5344CB8AC3E}">
        <p14:creationId xmlns:p14="http://schemas.microsoft.com/office/powerpoint/2010/main" val="21392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E17202-63B0-154C-94FD-A72A6FCA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332"/>
            <a:ext cx="12192000" cy="48411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10152B-DD2B-4644-AC59-B2CCC7145839}"/>
              </a:ext>
            </a:extLst>
          </p:cNvPr>
          <p:cNvSpPr txBox="1"/>
          <p:nvPr/>
        </p:nvSpPr>
        <p:spPr>
          <a:xfrm>
            <a:off x="8695944" y="623011"/>
            <a:ext cx="27040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dirty="0"/>
              <a:t>Arxiv, 2017</a:t>
            </a:r>
            <a:endParaRPr lang="es-MX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73B5CD-B4A2-A448-9414-57187965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067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A063B-6CB0-C248-A8D9-F17575C6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Main points of the paper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3F66C5-2107-9D4D-B70F-46AAC6B00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Use of GANs to generate real-valued time series, for medical purposes: RGANs and RCGANs.</a:t>
            </a:r>
          </a:p>
          <a:p>
            <a:r>
              <a:rPr lang="es-MX" dirty="0"/>
              <a:t>It uses recurrent neural networks for both encoder and decoder (specifically LSTMs).</a:t>
            </a:r>
          </a:p>
          <a:p>
            <a:r>
              <a:rPr lang="es-MX" dirty="0"/>
              <a:t>Generation of time series from ICU patients, using the open-access eICU dataset.</a:t>
            </a:r>
          </a:p>
          <a:p>
            <a:r>
              <a:rPr lang="es-MX" dirty="0"/>
              <a:t>Also, generation of some non-medical time-series, like sine waves and smooth functions sampled from Gaussian Processes, and MNIST digits (imagined as a time series).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DD8BAE-8326-644F-99E9-1594A648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262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9D25E-B2DA-2142-A2B9-F424856F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Motivation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4650DF-416D-994F-9594-E9A68AF5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Sharing medical data is hard, because it comes from real people, and is naturally highly sensitive (not to mention legally protected). </a:t>
            </a:r>
          </a:p>
          <a:p>
            <a:r>
              <a:rPr lang="es-MX" dirty="0"/>
              <a:t>One workaround for this difficultly would be to create sufficiently realistic synthetic data. </a:t>
            </a:r>
          </a:p>
          <a:p>
            <a:r>
              <a:rPr lang="es-MX" dirty="0"/>
              <a:t>This synthetic data could then be used to reproducibly develop and train machine learning models, enabling better science, and ultimately better models for medicine.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C1810C-48AC-8049-8C89-46928B71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209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469C3-D2B4-F045-B81B-9118F3FA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91440"/>
            <a:ext cx="7190232" cy="1262507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Recurrent GAN Architecture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12E866-F71E-7B40-8993-AA2BB8638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027906"/>
            <a:ext cx="11539728" cy="569161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491456-E31C-974E-A5EA-6AF632DA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744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DECEF-853C-5D4C-80B1-B2A91D05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32048" cy="2560955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Experiments with sines functions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E1E8A6-2A19-A64D-AEE1-1FE32D56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28504"/>
            <a:ext cx="7313056" cy="6665488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46D3E-0C3F-094C-BC4D-5739DC1B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940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59212-CEA7-D44D-808A-CC2F5B53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Experiments with serialized MNIST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8511A8-076B-8E40-B7A1-98C60B94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67" y="1435608"/>
            <a:ext cx="8589396" cy="530352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67C1E-0A0C-454B-ACFC-0211AFCA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6030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72089-ADE9-284D-B4E7-7C9A1D84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Realistic ICU data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F427B-C8D2-F64E-8AF8-A4243D71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Philips eICU </a:t>
            </a:r>
            <a:r>
              <a:rPr lang="es-MX" dirty="0">
                <a:solidFill>
                  <a:schemeClr val="accent1"/>
                </a:solidFill>
              </a:rPr>
              <a:t>	</a:t>
            </a: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https://eicu-crd.mit.edu/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200,000 patients from 208 care units across the US, with a total of 224,026,866 entries divided in 33 tables.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Four most frequently recorded, regularly-sampled variables measured by bedside monitors: </a:t>
            </a:r>
          </a:p>
          <a:p>
            <a:pPr marL="457200" lvl="1" indent="0">
              <a:buNone/>
            </a:pPr>
            <a:r>
              <a:rPr lang="es-MX" dirty="0"/>
              <a:t>oxygen saturation measured by pulse oximeter (SpO2), </a:t>
            </a:r>
          </a:p>
          <a:p>
            <a:pPr marL="457200" lvl="1" indent="0">
              <a:buNone/>
            </a:pPr>
            <a:r>
              <a:rPr lang="es-MX" dirty="0"/>
              <a:t>heart rate (HR), </a:t>
            </a:r>
          </a:p>
          <a:p>
            <a:pPr marL="457200" lvl="1" indent="0">
              <a:buNone/>
            </a:pPr>
            <a:r>
              <a:rPr lang="es-MX" dirty="0"/>
              <a:t>respiratory rate (RR) and </a:t>
            </a:r>
          </a:p>
          <a:p>
            <a:pPr marL="457200" lvl="1" indent="0">
              <a:buNone/>
            </a:pPr>
            <a:r>
              <a:rPr lang="es-MX" dirty="0"/>
              <a:t>mean arterial pressure (MAP)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D5A2C-029E-6F4D-ADDF-B479FAB8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376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507FA-300F-2644-A54B-FF3E55BA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Realistic ICU data - performance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609973-7B73-F544-8860-9799E30A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9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E94BF0-C31F-6748-8076-3A5187F3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542938"/>
            <a:ext cx="10186416" cy="49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5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5BD96-C412-E64E-A803-CB34E5B0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677"/>
            <a:ext cx="10515600" cy="1325563"/>
          </a:xfrm>
        </p:spPr>
        <p:txBody>
          <a:bodyPr/>
          <a:lstStyle/>
          <a:p>
            <a:pPr algn="ctr"/>
            <a:r>
              <a:rPr lang="es-MX" b="1" dirty="0">
                <a:solidFill>
                  <a:srgbClr val="C00000"/>
                </a:solidFill>
              </a:rPr>
              <a:t>Recurrent GANs for time series and sequence generation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762FCB-C199-344C-ACF4-9EEE86D4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113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87180-713A-834B-8504-CB5BFE5B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GANs for polyphonic music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52D43-835D-8541-B483-D8811408F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Generation of polyphonic music as real-valued continuous sequential data using a LSTM in both the generator and discriminator.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O. Mogren, “C-RNN-GAN: Continuous recurrent neural networks with adversarial training,” Arxiv, 2016.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279E0-F473-564C-A3C7-506FBC33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051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610F5-84F8-554D-84C6-5774FA89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31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1"/>
                </a:solidFill>
              </a:rPr>
              <a:t>GANs for synthetic music by representing 88 distinct pitches with discrete tokens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EAA2C-DF75-224F-8A6B-03D12801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This GAN, called SeqGAN, contained a LSTM in the generator with a CNN in the discriminator and outperformed alternative approaches for generating sequences of data.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L. Yu, W. Zhang, J. Wang, and Y. Yu, “SeqGAN: Sequence generative adversarial nets with policy gradient,” 31st AAAI Conference on Artificial Intelligence, AAAI 2017.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9B99E6-1077-A748-A90D-4654F04BE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3840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A56D-217B-0842-88CB-4EF811FC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GANs for raw waveform audio (WaveGAN)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DE67AC-503B-7F4F-8F0F-6EE97CC6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WaveGAN was created by altering the architecture of the DCGAN.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It was used to generate realistic drum beats, bird song and speech-like babble similar to those produced by unconditional autoregressive models.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 Donahue, J. McAuley, and M. Puckette, “Adversarial Audio Synthesis,” Arxiv, 2018.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494319-DB1D-3743-ACC7-8E737C17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98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424E1-A55D-DA43-A1BB-6BD4849C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GANs for electroencephalogram (EEG) data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49CFB0-EF29-3545-8500-C7AAD6D87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00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GANs were used to generate single-channel EEG data for motor movement in both the left and right hand.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K. G. Hartmann, R. T. Schirrmeister, and T. Ball, “EEG-GAN: Generative adversarial networks for electroencephalograhic (EEG) brain signals,” Arxiv, 2018.</a:t>
            </a:r>
          </a:p>
          <a:p>
            <a:pPr marL="0" indent="0">
              <a:buNone/>
            </a:pPr>
            <a:endParaRPr lang="es-MX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F. Zhu, F. Ye, Y. Fu, Q. Liu, and B. Shen, “Electrocardiogram generation with a bidirectional LSTM-CNN generative adversarial network,” Scientific Reports, vol. 9, no. 1, pp. 1–11, 2019.</a:t>
            </a:r>
          </a:p>
          <a:p>
            <a:pPr marL="0" indent="0">
              <a:buNone/>
            </a:pPr>
            <a:endParaRPr lang="es-MX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A. M. Delaney, E. Brophy, T. E. Ward. Synthesis of realistic ECG using generative adversarial networks, 2019.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DBC987-C7CD-0548-A0C6-A10679A7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592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F2B19-131C-4A4E-9D63-B763BF58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2" y="2331085"/>
            <a:ext cx="10515600" cy="1325563"/>
          </a:xfrm>
        </p:spPr>
        <p:txBody>
          <a:bodyPr/>
          <a:lstStyle/>
          <a:p>
            <a:pPr algn="ctr"/>
            <a:r>
              <a:rPr lang="es-MX" b="1" dirty="0">
                <a:solidFill>
                  <a:srgbClr val="C00000"/>
                </a:solidFill>
              </a:rPr>
              <a:t>Related recurrent approaches </a:t>
            </a:r>
            <a:br>
              <a:rPr lang="es-MX" b="1" dirty="0">
                <a:solidFill>
                  <a:srgbClr val="C00000"/>
                </a:solidFill>
              </a:rPr>
            </a:br>
            <a:r>
              <a:rPr lang="es-MX" b="1" dirty="0">
                <a:solidFill>
                  <a:srgbClr val="C00000"/>
                </a:solidFill>
              </a:rPr>
              <a:t>for image/drawing generation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50AE87-8C0C-1142-9057-4D3D4DD2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7154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F8718-A4F4-A949-A130-6E79361E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81661"/>
            <a:ext cx="1392936" cy="1920875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2015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476347-6548-9141-8BEA-5F429615D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0"/>
            <a:ext cx="9741877" cy="685800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F4707-4F8A-644D-AE02-44532AC3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414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FE1EC-D942-E140-8093-57886645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Draw architecture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76C10A-F5D8-4644-8046-F9B4D6FB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17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524609-1040-F142-A1E7-955E07A9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1397000"/>
            <a:ext cx="75946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50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C355E-5D1A-E149-AC1C-8BA74351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Draw filters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E76DC8-3ACF-D74E-A016-ADD9557C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18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4736C2-E9D8-204E-92CE-2E306531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22" y="1218854"/>
            <a:ext cx="6758834" cy="513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58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E7D18-5D9B-154B-8474-15C927F8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365125"/>
            <a:ext cx="2889504" cy="2615819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Draw example 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60D7CF-45A2-4540-8A4F-5FBD4BBF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19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C7C20C-4024-D24E-B61F-B3A90FB4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563" y="0"/>
            <a:ext cx="7842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55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E7D18-5D9B-154B-8474-15C927F8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43" y="721741"/>
            <a:ext cx="3008376" cy="1975739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Draw example 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60D7CF-45A2-4540-8A4F-5FBD4BBF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20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F23E2C-6BAE-6945-99FA-24951EC4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19" y="0"/>
            <a:ext cx="7134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93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B55AB-D92B-734B-927C-9A8C3195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612392" cy="1152779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2017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F0DCC5-068F-1F44-A9CF-144C1F2F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67332"/>
            <a:ext cx="7443216" cy="19740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D9B184-4883-7F43-A6F3-744F638FB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29" y="1995098"/>
            <a:ext cx="9137142" cy="425010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177C602-BBF1-6445-80D2-B1EC0613D6A2}"/>
              </a:ext>
            </a:extLst>
          </p:cNvPr>
          <p:cNvSpPr txBox="1"/>
          <p:nvPr/>
        </p:nvSpPr>
        <p:spPr>
          <a:xfrm>
            <a:off x="1252728" y="6245201"/>
            <a:ext cx="9400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C00000"/>
                </a:solidFill>
              </a:rPr>
              <a:t>Online demo:    </a:t>
            </a:r>
            <a:r>
              <a:rPr lang="es-MX" b="1" dirty="0">
                <a:hlinkClick r:id="rId4"/>
              </a:rPr>
              <a:t> </a:t>
            </a:r>
            <a:r>
              <a:rPr lang="es-MX" dirty="0">
                <a:hlinkClick r:id="rId4"/>
              </a:rPr>
              <a:t>https://magenta.tensorflow.org/assets/sketch_rnn_demo/index.html</a:t>
            </a:r>
            <a:r>
              <a:rPr lang="es-MX" dirty="0"/>
              <a:t> 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10C82D-8CDF-EE4D-95A5-0DAAF6B1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0992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9E36F-DFA0-9243-BC0C-E0093A04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Sketch-RNN architecture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E76A6F-CF9A-2B4A-B72C-946409AB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690688"/>
            <a:ext cx="11671300" cy="450850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535B87-C232-794B-8FC4-A6D36DCC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7726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2908F-1E9F-4C42-9393-2883B0DC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Sketch example 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08665F-DE3B-1F4C-B5D3-9B6D7087D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1572768"/>
            <a:ext cx="8900330" cy="4527283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299B84-B3C9-1248-8D17-C1545F55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7354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2908F-1E9F-4C42-9393-2883B0DC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Sketch example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680B3C-12AA-2142-9E27-9EC8D5FD7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690688"/>
            <a:ext cx="8649295" cy="4289488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E310EC-CFF0-984B-9742-27241C44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3730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F36C2-148D-0344-933D-0310B8B7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1773301"/>
            <a:ext cx="10515600" cy="3475355"/>
          </a:xfrm>
        </p:spPr>
        <p:txBody>
          <a:bodyPr>
            <a:normAutofit/>
          </a:bodyPr>
          <a:lstStyle/>
          <a:p>
            <a:pPr algn="ctr"/>
            <a:r>
              <a:rPr lang="es-MX" dirty="0"/>
              <a:t>Thank you!</a:t>
            </a:r>
            <a:br>
              <a:rPr lang="es-MX" dirty="0"/>
            </a:br>
            <a:br>
              <a:rPr lang="es-MX" dirty="0"/>
            </a:br>
            <a:r>
              <a:rPr lang="es-MX" sz="4000" dirty="0"/>
              <a:t>Víctor Uc Cetina</a:t>
            </a:r>
            <a:br>
              <a:rPr lang="es-MX" dirty="0"/>
            </a:br>
            <a:r>
              <a:rPr lang="es-MX" sz="3600" dirty="0"/>
              <a:t>victoruccetina@gmail.com</a:t>
            </a:r>
            <a:endParaRPr lang="es-MX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90373A-EF28-7844-8D1A-161F33B9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3896E-18FD-2846-A1F4-73E6984BCD98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38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662</Words>
  <Application>Microsoft Macintosh PowerPoint</Application>
  <PresentationFormat>Panorámica</PresentationFormat>
  <Paragraphs>87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Recurrent GANs</vt:lpstr>
      <vt:lpstr>Presentación de PowerPoint</vt:lpstr>
      <vt:lpstr>Main points of the paper</vt:lpstr>
      <vt:lpstr>Motivation</vt:lpstr>
      <vt:lpstr>Recurrent GAN Architecture</vt:lpstr>
      <vt:lpstr>Experiments with sines functions</vt:lpstr>
      <vt:lpstr>Experiments with serialized MNIST</vt:lpstr>
      <vt:lpstr>Realistic ICU data</vt:lpstr>
      <vt:lpstr>Realistic ICU data - performance</vt:lpstr>
      <vt:lpstr>Recurrent GANs for time series and sequence generation</vt:lpstr>
      <vt:lpstr>GANs for polyphonic music</vt:lpstr>
      <vt:lpstr>GANs for synthetic music by representing 88 distinct pitches with discrete tokens </vt:lpstr>
      <vt:lpstr>GANs for raw waveform audio (WaveGAN) </vt:lpstr>
      <vt:lpstr>GANs for electroencephalogram (EEG) data</vt:lpstr>
      <vt:lpstr>Related recurrent approaches  for image/drawing generation</vt:lpstr>
      <vt:lpstr>2015</vt:lpstr>
      <vt:lpstr>Draw architecture</vt:lpstr>
      <vt:lpstr>Draw filters</vt:lpstr>
      <vt:lpstr>Draw example 1</vt:lpstr>
      <vt:lpstr>Draw example 2</vt:lpstr>
      <vt:lpstr>2017</vt:lpstr>
      <vt:lpstr>Sketch-RNN architecture</vt:lpstr>
      <vt:lpstr>Sketch example 1</vt:lpstr>
      <vt:lpstr>Sketch example 2</vt:lpstr>
      <vt:lpstr>Thank you!  Víctor Uc Cetina victoruccetina@gmail.com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GANs</dc:title>
  <dc:creator>Microsoft Office User</dc:creator>
  <cp:lastModifiedBy>Microsoft Office User</cp:lastModifiedBy>
  <cp:revision>15</cp:revision>
  <dcterms:created xsi:type="dcterms:W3CDTF">2021-11-10T13:10:02Z</dcterms:created>
  <dcterms:modified xsi:type="dcterms:W3CDTF">2021-11-10T20:36:12Z</dcterms:modified>
</cp:coreProperties>
</file>