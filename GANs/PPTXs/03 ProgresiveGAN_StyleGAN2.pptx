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4" r:id="rId3"/>
    <p:sldId id="259" r:id="rId4"/>
    <p:sldId id="260" r:id="rId5"/>
    <p:sldId id="261" r:id="rId6"/>
    <p:sldId id="273" r:id="rId7"/>
    <p:sldId id="263" r:id="rId8"/>
    <p:sldId id="265" r:id="rId9"/>
    <p:sldId id="262" r:id="rId10"/>
    <p:sldId id="267" r:id="rId11"/>
    <p:sldId id="274" r:id="rId12"/>
    <p:sldId id="268" r:id="rId13"/>
    <p:sldId id="269" r:id="rId14"/>
    <p:sldId id="266" r:id="rId15"/>
    <p:sldId id="258" r:id="rId16"/>
    <p:sldId id="270" r:id="rId17"/>
    <p:sldId id="271" r:id="rId18"/>
    <p:sldId id="257" r:id="rId19"/>
    <p:sldId id="272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11"/>
    <p:restoredTop sz="94648"/>
  </p:normalViewPr>
  <p:slideViewPr>
    <p:cSldViewPr snapToGrid="0" snapToObjects="1">
      <p:cViewPr varScale="1">
        <p:scale>
          <a:sx n="109" d="100"/>
          <a:sy n="109" d="100"/>
        </p:scale>
        <p:origin x="208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0527D-E6D1-744E-8085-05CF60B227DA}" type="datetimeFigureOut">
              <a:rPr lang="es-MX" smtClean="0"/>
              <a:t>08/10/21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7344F-EE23-0C41-9902-1904A162FB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847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EC5D9-A51F-2346-A9EB-9283C5A05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D7D750-A8C8-2F4D-8459-85BC26078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62E6E-DB1B-3C44-A071-6B6E2D23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8BCE7-0AC6-B045-8D98-D07327BC4921}" type="datetime1">
              <a:rPr lang="es-MX" smtClean="0"/>
              <a:t>08/10/21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5B8C21-0A09-1644-BF44-49D4C087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E06C1B-682C-DD41-81EE-B21BAA01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84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644D7-48BD-704D-9D50-4175281CB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CFE9A8-42EB-4146-A089-7917DDA63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5F23B-DDF4-5441-916A-00896BAFA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D14A-612E-8D4C-93E5-332C4966458D}" type="datetime1">
              <a:rPr lang="es-MX" smtClean="0"/>
              <a:t>08/10/21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2AAE7F-9641-8F47-86DC-6E226457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4E3E2-3B51-744A-BD48-2D807431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133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AE312A-5FD0-9346-8B99-CCD91DF4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9460BB-6B16-064D-A028-201ED39D6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3CE3B9-1D23-2946-8B91-C4331FE0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58C10-2F2F-8841-87C2-D69E6EB0E959}" type="datetime1">
              <a:rPr lang="es-MX" smtClean="0"/>
              <a:t>08/10/21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33AF50-2E24-2948-8134-95077999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924AA-1272-E74D-9589-DF432F09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814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F4F57-1E26-4A4D-9966-CDF4AB33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27C757-9B66-9B4B-97B8-861E5F656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A91C69-5D6A-D141-B68C-D00E2529E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88C317-7F85-9E42-82E1-2B14779B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E6EA-44FF-104E-A277-3C02CE242139}" type="datetime1">
              <a:rPr lang="es-MX" smtClean="0"/>
              <a:t>08/10/21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CA07E0-AABD-5942-9517-0F54B0BB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FF2225-E36C-E948-A608-8E32C93F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6736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30408-6DC2-3643-8B2C-57EE8B5C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B4C3E3-F1A2-074D-85B3-9C7C63647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88D831-A863-A246-B1D7-83154E63A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DD41EC-760E-0B4C-88E3-6FCB8B503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E907C4-0CAC-CF43-917D-8E410B94B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0463DF-EF1A-7045-A71E-A7F1077E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38F7-5DEC-3245-9C82-B86B5D4044A9}" type="datetime1">
              <a:rPr lang="es-MX" smtClean="0"/>
              <a:t>08/10/21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F1770A-DABD-B84B-AA06-8A8D8EA3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D2B188-F061-6640-920B-5CCCE521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989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68B02-1460-C545-9BEE-F6A4B55B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078943-7F00-8D4E-B180-F4CE9ED1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2869-BE61-F74E-AAE4-02D07340E6A3}" type="datetime1">
              <a:rPr lang="es-MX" smtClean="0"/>
              <a:t>08/10/21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BA498B-A431-2449-9F8A-65767AF0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184823-0FCA-C44E-AC3A-D0128C37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307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F75B61-ED73-E642-B39A-9AF82778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7CE4-0517-4544-9FC3-7E91B8E212E4}" type="datetime1">
              <a:rPr lang="es-MX" smtClean="0"/>
              <a:t>08/10/21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5EC54D-6C48-3F42-B4B4-0DE4B5FAB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188201-AD4E-CE40-943F-62E92DB1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514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E5636-1F4B-9747-A7B1-287C9CC7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4162B8-4C92-7F45-8DF3-35B29A4CF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542138-115A-4F41-9219-3074300A5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E0AD79-8F45-CC4D-9206-35067BCE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0D38-3366-B94D-B84F-2EEA7AE27FD1}" type="datetime1">
              <a:rPr lang="es-MX" smtClean="0"/>
              <a:t>08/10/21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3F21F9-BE66-7442-8E3E-DF865D14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50E2A1-7A53-4E47-9D75-93912860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454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4ADC5-076C-A54D-803E-8665F154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80AD96-58B8-EB4B-B8FA-CE40E09B3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708DDC-7A50-4F4F-A3F2-B517B3ED4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1AD211-2A32-1540-8102-7A3F8FDB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B4BE-5B22-EF40-B5D8-1F5EE7A0718A}" type="datetime1">
              <a:rPr lang="es-MX" smtClean="0"/>
              <a:t>08/10/21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177768-FC67-2E48-A9B1-471EBDD05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0EA9B4-82C7-B84C-9143-3CF90C0D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085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9EE5F-737E-194B-AA41-4D1FFD3C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5DA734-469C-034E-881A-B9A07A03F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33173B-7155-ED41-9B31-D9F5C449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7351-E0B6-264A-B170-D46CE8D02241}" type="datetime1">
              <a:rPr lang="es-MX" smtClean="0"/>
              <a:t>08/10/21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DE9CA4-7B84-A245-BCC4-51563BE0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B6E321-C887-3D48-9A6A-C5DF3B1C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470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F1E350-F240-B444-8504-51762CFC3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FAE238-9E0D-3D4E-A8D4-E9CCBEF3D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D4343-4DA4-0F40-84BC-08373BE1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9DBAD-6BCA-3741-BE82-8FA9BC79B72A}" type="datetime1">
              <a:rPr lang="es-MX" smtClean="0"/>
              <a:t>08/10/21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3AC141-4653-624E-B04E-90080474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D3FE66-019F-CB40-A3F1-2C7FD4C2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64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A8A020E-2CEC-204C-A123-DFB8DE69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3AB5FD-C468-5744-9B4B-8BEDB5B03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D30FA5-A6AF-B44E-8B3A-75641C51A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3E245-6880-8640-A617-BFC7DEF06686}" type="datetime1">
              <a:rPr lang="es-MX" smtClean="0"/>
              <a:t>08/10/21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F44C83-A4D1-7B4F-A642-DCA5E42F8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98919-045C-114F-ADD1-86428CA5E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51DCC-2813-E348-87F8-A0B488A2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467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youtube.com/watch?v=G06dEcZ-QT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9237B-B6AF-E04D-AED4-2EB227437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Progressive Growing GANs &amp;</a:t>
            </a:r>
            <a:br>
              <a:rPr lang="es-MX" dirty="0">
                <a:solidFill>
                  <a:schemeClr val="accent1"/>
                </a:solidFill>
              </a:rPr>
            </a:br>
            <a:r>
              <a:rPr lang="es-MX" dirty="0">
                <a:solidFill>
                  <a:schemeClr val="accent1"/>
                </a:solidFill>
              </a:rPr>
              <a:t>StyleGAN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3B685D-A67F-F440-885F-D2A282ABE9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Víctor Uc Cetina</a:t>
            </a:r>
          </a:p>
        </p:txBody>
      </p:sp>
    </p:spTree>
    <p:extLst>
      <p:ext uri="{BB962C8B-B14F-4D97-AF65-F5344CB8AC3E}">
        <p14:creationId xmlns:p14="http://schemas.microsoft.com/office/powerpoint/2010/main" val="192768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188F661-B7F2-C548-BBB0-6A32CEBF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97" y="2086999"/>
            <a:ext cx="10100005" cy="3782745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7CB3535-BD20-0F49-A4D4-E40974DA8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Progressive growing GANs (2018)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7B070E-44A1-3E4B-9F9A-B6636F8E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24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BAA0A-E20F-5C48-8532-31CBD518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Progressive growing GANs (2018)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6571C5-B633-1B41-A2E4-AE2064D62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dirty="0"/>
              <a:t>The key idea is to grow both the generator and discriminator progressively: </a:t>
            </a:r>
          </a:p>
          <a:p>
            <a:pPr marL="457200" lvl="1" indent="0">
              <a:buNone/>
            </a:pPr>
            <a:r>
              <a:rPr lang="es-MX" sz="2800" dirty="0">
                <a:solidFill>
                  <a:schemeClr val="accent1"/>
                </a:solidFill>
              </a:rPr>
              <a:t>Starting from a low resolution, new layers are added to model increasingly fine details as training progresses. </a:t>
            </a:r>
          </a:p>
          <a:p>
            <a:endParaRPr lang="es-MX" dirty="0"/>
          </a:p>
          <a:p>
            <a:r>
              <a:rPr lang="es-MX" dirty="0"/>
              <a:t>Faster training and more stable:</a:t>
            </a:r>
          </a:p>
          <a:p>
            <a:pPr marL="457200" lvl="1" indent="0">
              <a:buNone/>
            </a:pPr>
            <a:r>
              <a:rPr lang="es-MX" sz="2800" dirty="0">
                <a:solidFill>
                  <a:schemeClr val="accent1"/>
                </a:solidFill>
              </a:rPr>
              <a:t>Unprecedented high quality images, e.g., CELEBA images at 1024 x 1024. </a:t>
            </a:r>
          </a:p>
          <a:p>
            <a:endParaRPr lang="es-MX" dirty="0"/>
          </a:p>
          <a:p>
            <a:r>
              <a:rPr lang="es-MX" dirty="0"/>
              <a:t>A new way to increase the variation in generated images:</a:t>
            </a:r>
          </a:p>
          <a:p>
            <a:pPr marL="457200" lvl="1" indent="0">
              <a:buNone/>
            </a:pPr>
            <a:r>
              <a:rPr lang="es-MX" sz="2600" dirty="0">
                <a:solidFill>
                  <a:schemeClr val="accent1"/>
                </a:solidFill>
              </a:rPr>
              <a:t>A record inception score of 8:80 in unsupervised CIFAR10.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D91746-6814-254F-B731-2F06284D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024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7979E7C-614C-514E-9129-A23C783A9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8885"/>
            <a:ext cx="12192000" cy="5206614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D3EEE16-6EE8-C346-A4EE-423A8C28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64008"/>
            <a:ext cx="9409176" cy="1154877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Progressive growing GANs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C3107FA-1D3D-8A48-86AE-FA308398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519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5D3EEE16-6EE8-C346-A4EE-423A8C28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64008"/>
            <a:ext cx="9409176" cy="1154877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Progressive growing GANs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9272C4-C786-8E42-8466-06C58B9A7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4" y="927100"/>
            <a:ext cx="11887200" cy="59309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C6D8C63-6C38-8F41-AB39-AD5459E04A55}"/>
              </a:ext>
            </a:extLst>
          </p:cNvPr>
          <p:cNvSpPr txBox="1"/>
          <p:nvPr/>
        </p:nvSpPr>
        <p:spPr>
          <a:xfrm>
            <a:off x="7655169" y="225947"/>
            <a:ext cx="4262042" cy="830997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400" dirty="0"/>
              <a:t>Increasing variation using minibatch standard deviation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1FF1EF-92F2-BC4D-ACB9-6AFDEFEA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360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B80A5-ABA0-0246-B46C-BFE3FB0C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Progressive growing GANs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23E295-DE9B-CD4A-9A19-81F75CCDE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9245"/>
            <a:ext cx="8129954" cy="659667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Video: </a:t>
            </a:r>
            <a:r>
              <a:rPr lang="es-MX" dirty="0">
                <a:hlinkClick r:id="rId2"/>
              </a:rPr>
              <a:t>http://youtube.com/watch?v=G06dEcZ-QTg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E06C62-8EA6-DA44-9D87-50E9037E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6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255541-7327-1440-8C07-5E72B0642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7" y="1690688"/>
            <a:ext cx="10761785" cy="37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49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DD2BDF-CA28-A947-8658-B2A2CF1F2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" y="5757545"/>
            <a:ext cx="8086344" cy="972439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The timings were measured on a single-GPU setup using NVIDIA Tesla P100.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0D48760-1A87-2D4A-8829-2C425457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64008"/>
            <a:ext cx="9409176" cy="1154877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Progressive growing GANs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F8502B-4D51-004B-9977-756BE032C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1540"/>
            <a:ext cx="12192000" cy="4074919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21684C-0F8B-8D46-9D0C-A52A7B31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3218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StyleGAN (2019)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9CA0FB-AEA5-0342-AA47-EC71DFD52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59" y="2311673"/>
            <a:ext cx="10067682" cy="1900664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923568BC-C8DE-4D41-8E5D-D1D6E258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0685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StyleGAN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0DF173-74BC-FD4F-AF65-FD046C7F9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Contribution:</a:t>
            </a:r>
          </a:p>
          <a:p>
            <a:pPr marL="0" indent="0">
              <a:buNone/>
            </a:pPr>
            <a:r>
              <a:rPr lang="es-MX" dirty="0">
                <a:solidFill>
                  <a:schemeClr val="accent1"/>
                </a:solidFill>
              </a:rPr>
              <a:t>An alternative generator architecture for generative adversarial networks based on style transfer.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Improvements: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solidFill>
                  <a:schemeClr val="accent1"/>
                </a:solidFill>
              </a:rPr>
              <a:t>An automatically learned, unsupervised separation of high-level attributes (e.g., pose and identity when trained on human faces).</a:t>
            </a:r>
          </a:p>
          <a:p>
            <a:pPr marL="514350" indent="-514350">
              <a:buFont typeface="+mj-lt"/>
              <a:buAutoNum type="arabicPeriod"/>
            </a:pPr>
            <a:endParaRPr lang="es-MX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solidFill>
                  <a:schemeClr val="accent1"/>
                </a:solidFill>
              </a:rPr>
              <a:t>Stochastic variation in the generated images (e.g., freckles, hair), and it enables intuitive, scale-specific control of the synthesis.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BE787A-EA3A-3E4C-8A4D-CCF92AD0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850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83" y="-656492"/>
            <a:ext cx="3053861" cy="4654062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StyleGAN</a:t>
            </a:r>
            <a:br>
              <a:rPr lang="es-MX" dirty="0">
                <a:solidFill>
                  <a:srgbClr val="C00000"/>
                </a:solidFill>
              </a:rPr>
            </a:br>
            <a:br>
              <a:rPr lang="es-MX" dirty="0">
                <a:solidFill>
                  <a:srgbClr val="C00000"/>
                </a:solidFill>
              </a:rPr>
            </a:br>
            <a:r>
              <a:rPr lang="es-MX" dirty="0">
                <a:solidFill>
                  <a:schemeClr val="accent1"/>
                </a:solidFill>
              </a:rPr>
              <a:t>Generator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29D86F-8A65-074A-8A44-9DDF18F0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74" y="0"/>
            <a:ext cx="8276897" cy="6858000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213863A7-1E9E-AB4A-B6A3-403C65565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10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3533C43-BF69-7249-8FB7-642636503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" y="5534574"/>
            <a:ext cx="5990492" cy="1186901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264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857B1-4EF9-0041-BDA3-DF82FDBA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956"/>
            <a:ext cx="5052646" cy="1325563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 transfer (2017)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04A8E6-A23B-B14C-96F5-15866D52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11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8518E6-F0DB-7847-805E-B3200799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70" y="4973904"/>
            <a:ext cx="9874626" cy="18840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BC0F166-866F-B047-A9F6-6007FF2B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646" y="0"/>
            <a:ext cx="6995054" cy="48291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AE108E9-D97C-AB43-A9AC-E2310253A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2" y="2410736"/>
            <a:ext cx="4302370" cy="852432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947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83" y="-656492"/>
            <a:ext cx="3053861" cy="4654062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StyleGAN</a:t>
            </a:r>
            <a:br>
              <a:rPr lang="es-MX" dirty="0">
                <a:solidFill>
                  <a:srgbClr val="C00000"/>
                </a:solidFill>
              </a:rPr>
            </a:br>
            <a:br>
              <a:rPr lang="es-MX" dirty="0">
                <a:solidFill>
                  <a:srgbClr val="C00000"/>
                </a:solidFill>
              </a:rPr>
            </a:br>
            <a:r>
              <a:rPr lang="es-MX" dirty="0">
                <a:solidFill>
                  <a:schemeClr val="accent1"/>
                </a:solidFill>
              </a:rPr>
              <a:t>Mappings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B20DE3-289F-1B41-8707-E04221EFA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851" y="253632"/>
            <a:ext cx="8545888" cy="6393352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080FAF-ABCE-CF4B-8077-CA63CD5C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999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76A66-8EDE-8E48-B3C8-FAB37833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StyleGAN – </a:t>
            </a:r>
            <a:r>
              <a:rPr lang="es-MX" dirty="0">
                <a:solidFill>
                  <a:schemeClr val="accent1"/>
                </a:solidFill>
              </a:rPr>
              <a:t>Authors’ Conclusions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568955-ECBA-6344-A1C3-85423CFC6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/>
              <a:t>"Based on both our results and parallel work by Chen et al., it is becoming clear that the </a:t>
            </a:r>
            <a:r>
              <a:rPr lang="es-MX" b="1" dirty="0">
                <a:solidFill>
                  <a:schemeClr val="accent1"/>
                </a:solidFill>
              </a:rPr>
              <a:t>traditional GAN generator architecture is in every way inferior to a style-based design</a:t>
            </a:r>
            <a:r>
              <a:rPr lang="es-MX" dirty="0"/>
              <a:t>. This is true in terms of established quality metrics, and we further believe that our investigations to </a:t>
            </a:r>
            <a:r>
              <a:rPr lang="es-MX" b="1" dirty="0">
                <a:solidFill>
                  <a:schemeClr val="accent2"/>
                </a:solidFill>
              </a:rPr>
              <a:t>the separation of high-level attributes and stochastic effects</a:t>
            </a:r>
            <a:r>
              <a:rPr lang="es-MX" dirty="0"/>
              <a:t>, as well as </a:t>
            </a:r>
            <a:r>
              <a:rPr lang="es-MX" b="1" dirty="0">
                <a:solidFill>
                  <a:schemeClr val="accent6"/>
                </a:solidFill>
              </a:rPr>
              <a:t>the linearity of the intermediate latent space will prove fruitful in improving the understanding and controllability of GAN synthesis</a:t>
            </a:r>
            <a:r>
              <a:rPr lang="es-MX" dirty="0"/>
              <a:t>."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FF769A-C325-C246-968F-4DAB0E29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683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StyleGAN 2 (2020)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7ACA79-0BAE-324F-97F4-F66E9F347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38" y="2377831"/>
            <a:ext cx="9003323" cy="271067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5A9261-F9FF-334C-B336-3BF11F1B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6036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StyleGAN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0DF173-74BC-FD4F-AF65-FD046C7F9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Updates: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solidFill>
                  <a:schemeClr val="accent1"/>
                </a:solidFill>
              </a:rPr>
              <a:t>Redesign of the generator normalization. 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solidFill>
                  <a:schemeClr val="accent1"/>
                </a:solidFill>
              </a:rPr>
              <a:t>Revisiting progressive growing.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solidFill>
                  <a:schemeClr val="accent1"/>
                </a:solidFill>
              </a:rPr>
              <a:t>Regularization of the generator to encourage good conditioning in the mapping from latent codes to images.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Benefits: 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solidFill>
                  <a:schemeClr val="accent1"/>
                </a:solidFill>
              </a:rPr>
              <a:t>Improved image quality.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solidFill>
                  <a:schemeClr val="accent1"/>
                </a:solidFill>
              </a:rPr>
              <a:t>The generator becomes significantly easier to invert.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3FDA92-5DD2-5C46-8B63-50C25C21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061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StyleGAN 2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991174-472F-5148-9A23-895BF4E1A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2260"/>
            <a:ext cx="12192000" cy="309010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7BB7D5E-875B-7242-BB0A-23E4C4AAE2C4}"/>
              </a:ext>
            </a:extLst>
          </p:cNvPr>
          <p:cNvSpPr/>
          <p:nvPr/>
        </p:nvSpPr>
        <p:spPr>
          <a:xfrm>
            <a:off x="269537" y="2089594"/>
            <a:ext cx="56857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>
                <a:solidFill>
                  <a:schemeClr val="accent1"/>
                </a:solidFill>
              </a:rPr>
              <a:t>Removing normalization artifacts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C23D5F-6A81-0544-BC8D-AF81AFCD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9541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7C8E6-2F1A-514C-944F-55FA28C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StyleGAN 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7BB7D5E-875B-7242-BB0A-23E4C4AAE2C4}"/>
              </a:ext>
            </a:extLst>
          </p:cNvPr>
          <p:cNvSpPr/>
          <p:nvPr/>
        </p:nvSpPr>
        <p:spPr>
          <a:xfrm>
            <a:off x="6096000" y="622726"/>
            <a:ext cx="41419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4400" dirty="0">
                <a:solidFill>
                  <a:schemeClr val="accent1"/>
                </a:solidFill>
              </a:rPr>
              <a:t>New architecture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C62681-25CA-6B49-BA28-25E843C1C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767"/>
            <a:ext cx="12192000" cy="5208233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C0314D-D3B9-7C40-913C-0F892ED7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1425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1301324-852F-D940-BB73-41638666A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53" y="0"/>
            <a:ext cx="10899547" cy="6858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25978A-9921-8544-9145-90678C14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1709" y="5197597"/>
            <a:ext cx="4636477" cy="1492005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s-MX" sz="3600" dirty="0">
                <a:solidFill>
                  <a:schemeClr val="accent1"/>
                </a:solidFill>
              </a:rPr>
              <a:t>Equivalent to </a:t>
            </a:r>
            <a:r>
              <a:rPr lang="es-MX" sz="3600" b="1" dirty="0">
                <a:solidFill>
                  <a:schemeClr val="accent1"/>
                </a:solidFill>
              </a:rPr>
              <a:t>51 years </a:t>
            </a:r>
            <a:r>
              <a:rPr lang="es-MX" sz="3600" dirty="0">
                <a:solidFill>
                  <a:schemeClr val="accent1"/>
                </a:solidFill>
              </a:rPr>
              <a:t>using one GPU!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71636F-A957-C14D-A52A-FA9605DF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70" y="2651124"/>
            <a:ext cx="3346939" cy="2378075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Training during the whole project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D73E19-5FF9-DD4D-BDE4-D9BFFD90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2808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B0E0DC-21A4-4044-9B31-23FD76970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568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4000" dirty="0"/>
              <a:t>Thank you!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7A1986-E344-984E-B4AA-EA6DA616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1DCC-2813-E348-87F8-A0B488A254F8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2848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407</Words>
  <Application>Microsoft Macintosh PowerPoint</Application>
  <PresentationFormat>Panorámica</PresentationFormat>
  <Paragraphs>68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Progressive Growing GANs &amp; StyleGAN 2</vt:lpstr>
      <vt:lpstr>Progressive growing GANs (2018)</vt:lpstr>
      <vt:lpstr>Progressive growing GANs (2018)</vt:lpstr>
      <vt:lpstr>Progressive growing GANs</vt:lpstr>
      <vt:lpstr>Progressive growing GANs</vt:lpstr>
      <vt:lpstr>Progressive growing GANs</vt:lpstr>
      <vt:lpstr>Progressive growing GANs</vt:lpstr>
      <vt:lpstr>StyleGAN (2019)</vt:lpstr>
      <vt:lpstr>StyleGAN</vt:lpstr>
      <vt:lpstr>StyleGAN  Generator</vt:lpstr>
      <vt:lpstr>Style transfer (2017)</vt:lpstr>
      <vt:lpstr>StyleGAN  Mappings</vt:lpstr>
      <vt:lpstr>StyleGAN – Authors’ Conclusions</vt:lpstr>
      <vt:lpstr>StyleGAN 2 (2020)</vt:lpstr>
      <vt:lpstr>StyleGAN 2</vt:lpstr>
      <vt:lpstr>StyleGAN 2</vt:lpstr>
      <vt:lpstr>StyleGAN 2</vt:lpstr>
      <vt:lpstr>Training during the whole project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StyleGAN 2</dc:title>
  <dc:creator>Microsoft Office User</dc:creator>
  <cp:lastModifiedBy>Microsoft Office User</cp:lastModifiedBy>
  <cp:revision>14</cp:revision>
  <dcterms:created xsi:type="dcterms:W3CDTF">2021-10-08T01:58:13Z</dcterms:created>
  <dcterms:modified xsi:type="dcterms:W3CDTF">2021-10-08T16:01:12Z</dcterms:modified>
</cp:coreProperties>
</file>