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90" r:id="rId3"/>
    <p:sldId id="291" r:id="rId4"/>
    <p:sldId id="297" r:id="rId5"/>
    <p:sldId id="293" r:id="rId6"/>
    <p:sldId id="294" r:id="rId7"/>
    <p:sldId id="295" r:id="rId8"/>
    <p:sldId id="292" r:id="rId9"/>
    <p:sldId id="296" r:id="rId10"/>
    <p:sldId id="289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7324"/>
  </p:normalViewPr>
  <p:slideViewPr>
    <p:cSldViewPr snapToGrid="0" snapToObjects="1">
      <p:cViewPr varScale="1">
        <p:scale>
          <a:sx n="99" d="100"/>
          <a:sy n="99" d="100"/>
        </p:scale>
        <p:origin x="17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6E677-70B7-A74D-9AA7-7BB633672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57FBA7-EA04-B646-8FEA-FD6CD601A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82F621-1441-3D4F-93BB-06711115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256A1C-7E22-FB4D-A621-93A4E49E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BDF368-4114-0A4B-BCCB-6EA9D209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166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69779-6329-F948-AC4F-150B85C6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81399A-FAC7-F648-B440-5602C9D0E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77896-116B-F140-B6A5-FF7C2CFA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23EA96-59F9-9840-BA91-C838059D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20778-0403-DD4D-B6D0-1ADF3BEA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557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D3E9A-E11C-D143-BA73-9CD59558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149206-5B35-4D4F-98BE-FDFC912B3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D05563-C11F-8C47-838E-0BF00866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11AA1-C234-6B47-AA15-CCE82233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69C15-F4C6-674A-AE8E-4E5CCD65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4462-5515-6A4B-83F7-91AFB78C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AA26F-3534-8C4D-AEC6-D7E2045AD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7FABEA-071A-4146-95E0-CB3FCC32E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E0EDAC-5452-7D4F-9869-2E8CCBA76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476C07-88AD-0742-BAD1-B90DDBA4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F75194-22AE-7A48-B167-4FA344A4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600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B956F-E08A-704C-B457-E0E9BCFC0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7EC065-B1FA-1D4A-A427-C158A1E1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BEF223-C623-4E4F-945D-1C3D3303C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AC0132-E355-DA43-B980-DE2B39FDD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9A0BC0D-844D-F643-A923-AF71212D0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0EF694-D3FB-214C-80A2-6369E011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97DFEC-5363-5F40-B330-7B7B25A3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8386D1-6851-CA45-96FC-55D31775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705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1AA40-FD86-8848-B4EF-1B00B34E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8A2BAF-E43C-1842-86B9-A01022B8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F857AD-1CDF-D345-AFAC-18193340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05BFE5-8BCA-3048-AB7C-C582B32B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85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0F6618-6C4A-7040-BE95-7331BBD5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B0C06C-9FE3-B94C-AB4D-126128F3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7FDF70-F97D-3F4D-9272-6F2D97DA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884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7130D-CB3D-004D-B746-CA3002E1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D2865A-96B0-8E46-BFCD-D49D0FBFA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BAE7DC-46DB-264F-A4F1-AD683D2CA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D1C483-2854-A24B-83F4-D5236097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D6CF42-4BC9-C84F-BC3A-20C4777A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946B5-753D-2D4C-ACC4-197C8569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66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1DFD6-9F04-C249-8B97-08192A86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B06E79-A69E-A643-87F5-76226D1DC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EED66A-1FEA-8F47-83F3-1FF34C48C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47233D-077D-904C-A4DE-D9B09BF5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26E0F5-EB6F-7843-B300-65594212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2BAA26-C1B1-6F4C-B455-A45A68F6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48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4A191-1561-3A42-B6F5-D3E670F2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64C077-D2BF-8C43-8B88-A3578DC37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5C36F2-1D60-A145-8D02-EFFF446D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A16A7C-25DF-F94C-B25D-2197C494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376B8B-33F2-7E40-AC7A-3CFC2F98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138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6BCA45-8B4C-1C42-B31D-4584FAFD7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D30901-5C18-2A47-8495-5F9093E3B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1FE416-49AD-4741-8C15-60E9FD29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4D81DA-A507-544D-9792-758A816F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06677B-DF81-0548-92C1-4CDAF121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161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C07FFB-ADF2-D046-8621-79420D9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E78032-A16A-9644-B4C9-C903BFC73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D26666-94C2-A744-BEC9-B40A43EB9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2FEB-A7D7-9E45-9888-EB8C43377EDF}" type="datetimeFigureOut">
              <a:rPr lang="es-MX" smtClean="0"/>
              <a:t>23/08/23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8C243B-7D9A-0D46-9814-837A44162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F3AAA4-9B7A-0747-BF03-79C0DB800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6BDF0-0E24-6F4E-BE7B-7679715790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10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owardsdatascience.com/anomaly-detection-in-manufacturing-part-2-building-a-variational-autoencoder-248abce0734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7B48C-BBFC-2B40-A4E7-8F105EA9F3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4800" dirty="0">
                <a:solidFill>
                  <a:schemeClr val="accent1"/>
                </a:solidFill>
              </a:rPr>
              <a:t>Variational Autoencoders </a:t>
            </a:r>
            <a:br>
              <a:rPr lang="es-MX" sz="4800" dirty="0">
                <a:solidFill>
                  <a:schemeClr val="accent1"/>
                </a:solidFill>
              </a:rPr>
            </a:br>
            <a:r>
              <a:rPr lang="es-MX" sz="4800" dirty="0">
                <a:solidFill>
                  <a:schemeClr val="accent1"/>
                </a:solidFill>
              </a:rPr>
              <a:t>vs </a:t>
            </a:r>
            <a:br>
              <a:rPr lang="es-MX" sz="4800" dirty="0">
                <a:solidFill>
                  <a:schemeClr val="accent1"/>
                </a:solidFill>
              </a:rPr>
            </a:br>
            <a:r>
              <a:rPr lang="es-MX" sz="4800" dirty="0">
                <a:solidFill>
                  <a:schemeClr val="accent1"/>
                </a:solidFill>
              </a:rPr>
              <a:t>Generative Adversarial Networks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354E86-426C-5749-87FB-669F63981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33002"/>
          </a:xfrm>
        </p:spPr>
        <p:txBody>
          <a:bodyPr>
            <a:normAutofit/>
          </a:bodyPr>
          <a:lstStyle/>
          <a:p>
            <a:endParaRPr lang="es-MX" dirty="0"/>
          </a:p>
          <a:p>
            <a:endParaRPr lang="es-MX" sz="2600" dirty="0"/>
          </a:p>
          <a:p>
            <a:r>
              <a:rPr lang="es-MX" sz="2600" dirty="0"/>
              <a:t>Dr. Víctor Uc Cetina</a:t>
            </a:r>
          </a:p>
          <a:p>
            <a:r>
              <a:rPr lang="es-MX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victoruccetina@gmail.com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150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0298F-97F0-8B4F-9563-51ECEAD2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7" y="-13977"/>
            <a:ext cx="3499795" cy="1325563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	Content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220A4-07D4-4049-BE86-086C93DC6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50" y="1311586"/>
            <a:ext cx="7051668" cy="1183604"/>
          </a:xfrm>
        </p:spPr>
        <p:txBody>
          <a:bodyPr/>
          <a:lstStyle/>
          <a:p>
            <a:r>
              <a:rPr lang="es-MX" dirty="0"/>
              <a:t>Variational autoencoders (VAE’s)</a:t>
            </a:r>
          </a:p>
          <a:p>
            <a:r>
              <a:rPr lang="es-MX" dirty="0"/>
              <a:t>Generative adversarial networks (GAN’s)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50061D-59C9-8B42-B9EA-472F8346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94779F-B40D-F14E-821E-8B451F86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2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76DDEB-0036-1349-A662-3FAB284BD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72" y="2734484"/>
            <a:ext cx="5739423" cy="32819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AFAB207-0F69-454A-A108-A4143F95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812" y="648804"/>
            <a:ext cx="2679700" cy="33401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0DDF64C-6874-8F41-B898-F4D3824E0BBA}"/>
              </a:ext>
            </a:extLst>
          </p:cNvPr>
          <p:cNvSpPr txBox="1"/>
          <p:nvPr/>
        </p:nvSpPr>
        <p:spPr>
          <a:xfrm>
            <a:off x="9150361" y="4144641"/>
            <a:ext cx="1814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>
                <a:solidFill>
                  <a:srgbClr val="7030A0"/>
                </a:solidFill>
              </a:rPr>
              <a:t>Autoencoder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D204D66-3EBB-274B-81A0-85227A76D126}"/>
              </a:ext>
            </a:extLst>
          </p:cNvPr>
          <p:cNvSpPr txBox="1"/>
          <p:nvPr/>
        </p:nvSpPr>
        <p:spPr>
          <a:xfrm>
            <a:off x="7093058" y="5561864"/>
            <a:ext cx="1863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>
                <a:solidFill>
                  <a:srgbClr val="7030A0"/>
                </a:solidFill>
              </a:rPr>
              <a:t>mnist fashion</a:t>
            </a:r>
          </a:p>
        </p:txBody>
      </p:sp>
    </p:spTree>
    <p:extLst>
      <p:ext uri="{BB962C8B-B14F-4D97-AF65-F5344CB8AC3E}">
        <p14:creationId xmlns:p14="http://schemas.microsoft.com/office/powerpoint/2010/main" val="259008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F2E82-F3DF-3948-A572-F6F48F1A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21" y="47873"/>
            <a:ext cx="6236677" cy="848292"/>
          </a:xfrm>
        </p:spPr>
        <p:txBody>
          <a:bodyPr/>
          <a:lstStyle/>
          <a:p>
            <a:r>
              <a:rPr lang="es-MX" dirty="0"/>
              <a:t>Variational Autoencoder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ADAA0B-A094-9D42-BB4A-D94A6DF9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02E4A5-A94F-3940-B07F-6ECD876C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3</a:t>
            </a:fld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CB4AEA0-7081-7A45-A155-F762D48D9853}"/>
                  </a:ext>
                </a:extLst>
              </p:cNvPr>
              <p:cNvSpPr txBox="1"/>
              <p:nvPr/>
            </p:nvSpPr>
            <p:spPr>
              <a:xfrm>
                <a:off x="6745075" y="1267618"/>
                <a:ext cx="5294526" cy="100822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CB4AEA0-7081-7A45-A155-F762D48D9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75" y="1267618"/>
                <a:ext cx="5294526" cy="1008225"/>
              </a:xfrm>
              <a:prstGeom prst="rect">
                <a:avLst/>
              </a:prstGeom>
              <a:blipFill>
                <a:blip r:embed="rId3"/>
                <a:stretch>
                  <a:fillRect l="-718" t="-121250" r="-1675" b="-18125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20075C5-0D52-7F41-ABFB-CFE2431E6080}"/>
                  </a:ext>
                </a:extLst>
              </p:cNvPr>
              <p:cNvSpPr txBox="1"/>
              <p:nvPr/>
            </p:nvSpPr>
            <p:spPr>
              <a:xfrm>
                <a:off x="6743023" y="3755414"/>
                <a:ext cx="5296578" cy="100822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1+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20075C5-0D52-7F41-ABFB-CFE2431E6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23" y="3755414"/>
                <a:ext cx="5296578" cy="1008225"/>
              </a:xfrm>
              <a:prstGeom prst="rect">
                <a:avLst/>
              </a:prstGeom>
              <a:blipFill>
                <a:blip r:embed="rId4"/>
                <a:stretch>
                  <a:fillRect l="-718" t="-121250" r="-1675" b="-18125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B76B89C-65C9-B840-9CFD-19DFD96B8329}"/>
                  </a:ext>
                </a:extLst>
              </p:cNvPr>
              <p:cNvSpPr txBox="1"/>
              <p:nvPr/>
            </p:nvSpPr>
            <p:spPr>
              <a:xfrm>
                <a:off x="8317523" y="2819627"/>
                <a:ext cx="1497205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B76B89C-65C9-B840-9CFD-19DFD96B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23" y="2819627"/>
                <a:ext cx="1497205" cy="369332"/>
              </a:xfrm>
              <a:prstGeom prst="rect">
                <a:avLst/>
              </a:prstGeom>
              <a:blipFill>
                <a:blip r:embed="rId5"/>
                <a:stretch>
                  <a:fillRect l="-4202" t="-3333" r="-6723" b="-3666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Marcador de contenido 18">
            <a:extLst>
              <a:ext uri="{FF2B5EF4-FFF2-40B4-BE49-F238E27FC236}">
                <a16:creationId xmlns:a16="http://schemas.microsoft.com/office/drawing/2014/main" id="{76238FC8-B6C4-E147-BE1B-74DECF390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11802" y="1446498"/>
            <a:ext cx="6046496" cy="3918130"/>
          </a:xfrm>
        </p:spPr>
      </p:pic>
    </p:spTree>
    <p:extLst>
      <p:ext uri="{BB962C8B-B14F-4D97-AF65-F5344CB8AC3E}">
        <p14:creationId xmlns:p14="http://schemas.microsoft.com/office/powerpoint/2010/main" val="187586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AF9D1-3275-754C-A62B-B037F457C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0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Anomaly detection using VAE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13D54C-A48B-BD4F-8120-685AB5920295}"/>
              </a:ext>
            </a:extLst>
          </p:cNvPr>
          <p:cNvSpPr txBox="1"/>
          <p:nvPr/>
        </p:nvSpPr>
        <p:spPr>
          <a:xfrm>
            <a:off x="1430397" y="6176413"/>
            <a:ext cx="1064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Anomaly Detection in Manufacturing, Part 2: Building a Variational Autoencoder</a:t>
            </a:r>
          </a:p>
          <a:p>
            <a:r>
              <a:rPr lang="es-MX" sz="1400" dirty="0">
                <a:solidFill>
                  <a:schemeClr val="accent1"/>
                </a:solidFill>
                <a:hlinkClick r:id="rId2"/>
              </a:rPr>
              <a:t>https://towardsdatascience.com/anomaly-detection-in-manufacturing-part-2-building-a-variational-autoencoder-248abce07349</a:t>
            </a:r>
            <a:endParaRPr lang="es-MX" sz="1400" dirty="0">
              <a:solidFill>
                <a:schemeClr val="accent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2C870F-1F3D-E44B-B106-9DC2CA697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55" y="1089210"/>
            <a:ext cx="8750710" cy="489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3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C435760-E60D-4347-8F38-A1AA4F30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9113" y="3300084"/>
            <a:ext cx="6202973" cy="2512480"/>
          </a:xfrm>
          <a:ln w="31750">
            <a:solidFill>
              <a:schemeClr val="accent1"/>
            </a:solidFill>
          </a:ln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4016E2-8609-2549-91AC-DF3A0E50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4DCF6D-1C1D-2A47-9583-1EF8CA44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5</a:t>
            </a:fld>
            <a:endParaRPr lang="es-MX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11C351A-6DDD-6F40-97B5-27BF5D8F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599" y="360552"/>
            <a:ext cx="3265612" cy="848292"/>
          </a:xfrm>
        </p:spPr>
        <p:txBody>
          <a:bodyPr>
            <a:normAutofit fontScale="90000"/>
          </a:bodyPr>
          <a:lstStyle/>
          <a:p>
            <a:r>
              <a:rPr lang="es-MX" dirty="0"/>
              <a:t>Variational</a:t>
            </a:r>
            <a:br>
              <a:rPr lang="es-MX" dirty="0"/>
            </a:br>
            <a:r>
              <a:rPr lang="es-MX" dirty="0"/>
              <a:t>Autoencoder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F7C55E8-3975-C644-8DE4-A8AEC9FC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82" y="4258490"/>
            <a:ext cx="3377206" cy="228347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5892F1C-4E67-5241-BC8A-B66C0808D324}"/>
              </a:ext>
            </a:extLst>
          </p:cNvPr>
          <p:cNvSpPr txBox="1"/>
          <p:nvPr/>
        </p:nvSpPr>
        <p:spPr>
          <a:xfrm>
            <a:off x="648779" y="3552664"/>
            <a:ext cx="4116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Activation Function:  </a:t>
            </a:r>
            <a:r>
              <a:rPr lang="es-MX" sz="2800" dirty="0">
                <a:solidFill>
                  <a:schemeClr val="accent1"/>
                </a:solidFill>
              </a:rPr>
              <a:t>SeLu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BDD143-B3DF-B64A-808A-11B3A02F8D6D}"/>
              </a:ext>
            </a:extLst>
          </p:cNvPr>
          <p:cNvSpPr txBox="1"/>
          <p:nvPr/>
        </p:nvSpPr>
        <p:spPr>
          <a:xfrm>
            <a:off x="8442077" y="2243361"/>
            <a:ext cx="238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rgbClr val="7030A0"/>
                </a:solidFill>
              </a:rPr>
              <a:t>Reconstruction</a:t>
            </a:r>
            <a:endParaRPr lang="es-MX" dirty="0">
              <a:solidFill>
                <a:srgbClr val="7030A0"/>
              </a:solidFill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8F0A52E-9F28-E34D-AFF7-1521F3A1D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98" y="194738"/>
            <a:ext cx="7033846" cy="292274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A73AAB88-4F08-D348-8029-9230CAF562E5}"/>
              </a:ext>
            </a:extLst>
          </p:cNvPr>
          <p:cNvSpPr/>
          <p:nvPr/>
        </p:nvSpPr>
        <p:spPr>
          <a:xfrm>
            <a:off x="2532185" y="457200"/>
            <a:ext cx="2555630" cy="2567354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548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4016E2-8609-2549-91AC-DF3A0E50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4DCF6D-1C1D-2A47-9583-1EF8CA44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6</a:t>
            </a:fld>
            <a:endParaRPr lang="es-MX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11C351A-6DDD-6F40-97B5-27BF5D8F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742" y="172991"/>
            <a:ext cx="6236677" cy="848292"/>
          </a:xfrm>
        </p:spPr>
        <p:txBody>
          <a:bodyPr/>
          <a:lstStyle/>
          <a:p>
            <a:r>
              <a:rPr lang="es-MX" dirty="0"/>
              <a:t>Variational Autoencoder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C2A4C29-6C0A-354B-8E26-C84905F37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73488"/>
            <a:ext cx="5660781" cy="4114800"/>
          </a:xfrm>
          <a:prstGeom prst="rect">
            <a:avLst/>
          </a:prstGeom>
          <a:ln w="31750">
            <a:solidFill>
              <a:schemeClr val="accent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2E88187-D6DB-7F4C-95A2-D37D3E786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118" y="1133689"/>
            <a:ext cx="8911248" cy="8273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719A81-F0C8-3A4E-821E-BE1873D07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92" y="2450123"/>
            <a:ext cx="5218327" cy="3083169"/>
          </a:xfrm>
          <a:prstGeom prst="rect">
            <a:avLst/>
          </a:prstGeom>
          <a:ln w="317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699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4016E2-8609-2549-91AC-DF3A0E50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4DCF6D-1C1D-2A47-9583-1EF8CA44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7</a:t>
            </a:fld>
            <a:endParaRPr lang="es-MX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11C351A-6DDD-6F40-97B5-27BF5D8F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20" y="446086"/>
            <a:ext cx="3148381" cy="848292"/>
          </a:xfrm>
        </p:spPr>
        <p:txBody>
          <a:bodyPr>
            <a:normAutofit fontScale="90000"/>
          </a:bodyPr>
          <a:lstStyle/>
          <a:p>
            <a:r>
              <a:rPr lang="es-MX" dirty="0"/>
              <a:t>Variational</a:t>
            </a:r>
            <a:br>
              <a:rPr lang="es-MX" dirty="0"/>
            </a:br>
            <a:r>
              <a:rPr lang="es-MX" dirty="0"/>
              <a:t>Autoencoder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E4D624-977B-8E40-A08B-298DB1E51359}"/>
              </a:ext>
            </a:extLst>
          </p:cNvPr>
          <p:cNvSpPr txBox="1"/>
          <p:nvPr/>
        </p:nvSpPr>
        <p:spPr>
          <a:xfrm>
            <a:off x="1048918" y="2803406"/>
            <a:ext cx="23671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dirty="0">
                <a:solidFill>
                  <a:srgbClr val="7030A0"/>
                </a:solidFill>
              </a:rPr>
              <a:t>Semantic</a:t>
            </a:r>
          </a:p>
          <a:p>
            <a:pPr algn="ctr"/>
            <a:r>
              <a:rPr lang="es-MX" sz="3200" dirty="0">
                <a:solidFill>
                  <a:srgbClr val="7030A0"/>
                </a:solidFill>
              </a:rPr>
              <a:t>Interpolation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4F990-AA17-3A40-ACEE-F329A2E7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679373"/>
            <a:ext cx="7513757" cy="5325284"/>
          </a:xfrm>
          <a:prstGeom prst="rect">
            <a:avLst/>
          </a:prstGeom>
          <a:ln w="317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9706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18A15-77C4-DC43-8E49-BD7CA5C0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Generative Adversarial Network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5E3ED7-9F45-8E44-8D4B-060487C7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5D6F84-87AA-3347-8F06-EF9E0473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8</a:t>
            </a:fld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FCCC3D-4FA4-E84C-92C0-276E2BD1130E}"/>
              </a:ext>
            </a:extLst>
          </p:cNvPr>
          <p:cNvSpPr txBox="1"/>
          <p:nvPr/>
        </p:nvSpPr>
        <p:spPr>
          <a:xfrm>
            <a:off x="7238999" y="1875692"/>
            <a:ext cx="3979985" cy="384517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r>
              <a:rPr lang="es-MX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Two training phases:</a:t>
            </a:r>
          </a:p>
          <a:p>
            <a:endParaRPr lang="es-MX" sz="2400" dirty="0">
              <a:solidFill>
                <a:srgbClr val="7030A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2400" dirty="0">
                <a:solidFill>
                  <a:srgbClr val="7030A0"/>
                </a:solidFill>
              </a:rPr>
              <a:t>We train the </a:t>
            </a:r>
            <a:r>
              <a:rPr lang="es-MX" sz="2400" b="1" dirty="0">
                <a:solidFill>
                  <a:srgbClr val="7030A0"/>
                </a:solidFill>
              </a:rPr>
              <a:t>discriminator</a:t>
            </a:r>
            <a:r>
              <a:rPr lang="es-MX" sz="2400" dirty="0">
                <a:solidFill>
                  <a:srgbClr val="7030A0"/>
                </a:solidFill>
              </a:rPr>
              <a:t> with a batch of fake and real images.</a:t>
            </a:r>
          </a:p>
          <a:p>
            <a:pPr marL="342900" indent="-342900">
              <a:buFont typeface="+mj-lt"/>
              <a:buAutoNum type="arabicPeriod"/>
            </a:pPr>
            <a:endParaRPr lang="es-MX" sz="2400" dirty="0">
              <a:solidFill>
                <a:srgbClr val="7030A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s-MX" sz="2400" dirty="0">
              <a:solidFill>
                <a:srgbClr val="7030A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2400" dirty="0">
                <a:solidFill>
                  <a:srgbClr val="7030A0"/>
                </a:solidFill>
              </a:rPr>
              <a:t>We train the </a:t>
            </a:r>
            <a:r>
              <a:rPr lang="es-MX" sz="2400" b="1" dirty="0">
                <a:solidFill>
                  <a:srgbClr val="7030A0"/>
                </a:solidFill>
              </a:rPr>
              <a:t>generator</a:t>
            </a:r>
            <a:r>
              <a:rPr lang="es-MX" sz="2400" dirty="0">
                <a:solidFill>
                  <a:srgbClr val="7030A0"/>
                </a:solidFill>
              </a:rPr>
              <a:t> with fake images generated by itself, but labeled as real ones, in order to get an error from the discriminator.</a:t>
            </a:r>
          </a:p>
          <a:p>
            <a:endParaRPr lang="es-MX" dirty="0">
              <a:solidFill>
                <a:srgbClr val="7030A0"/>
              </a:solidFill>
            </a:endParaRP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45456F9D-F58C-9942-8CAB-49C81228D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180" y="2157868"/>
            <a:ext cx="5916676" cy="2558563"/>
          </a:xfrm>
        </p:spPr>
      </p:pic>
    </p:spTree>
    <p:extLst>
      <p:ext uri="{BB962C8B-B14F-4D97-AF65-F5344CB8AC3E}">
        <p14:creationId xmlns:p14="http://schemas.microsoft.com/office/powerpoint/2010/main" val="262886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5A402-3B89-334F-A9B3-89B0D7E52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08" y="55869"/>
            <a:ext cx="10515600" cy="1325563"/>
          </a:xfrm>
        </p:spPr>
        <p:txBody>
          <a:bodyPr/>
          <a:lstStyle/>
          <a:p>
            <a:r>
              <a:rPr lang="es-MX" dirty="0"/>
              <a:t>Generative Adversarial Network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2B95481-01DE-A24F-92A1-4ADE60973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7685" y="2182507"/>
            <a:ext cx="7602438" cy="3991280"/>
          </a:xfrm>
          <a:ln w="31750">
            <a:solidFill>
              <a:schemeClr val="accent1"/>
            </a:solidFill>
          </a:ln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D2FCC4-6976-B340-8484-7B159B54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FCB1A2-267C-C643-BF2D-CF8C9D32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9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AA1AD83-4341-9F40-B0DB-9D11BBDD0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199845"/>
            <a:ext cx="9474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0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53DB93-0C8D-9445-B4DD-47A83792F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s-MX" sz="4000" dirty="0"/>
          </a:p>
          <a:p>
            <a:pPr marL="0" indent="0" algn="ctr">
              <a:buNone/>
            </a:pPr>
            <a:r>
              <a:rPr lang="es-MX" sz="4000" dirty="0">
                <a:solidFill>
                  <a:schemeClr val="accent1"/>
                </a:solidFill>
              </a:rPr>
              <a:t>Thank you!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2787C219-8804-2D4E-BC2F-511FA256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Temas Selectos en Redes Neuronales Profundas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3ED52F-7030-364C-8765-C0D6FBAB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0AD7C-85E9-DD43-8EDE-AD467915F81F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161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196</Words>
  <Application>Microsoft Macintosh PowerPoint</Application>
  <PresentationFormat>Panorámica</PresentationFormat>
  <Paragraphs>50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Tema de Office</vt:lpstr>
      <vt:lpstr>Variational Autoencoders  vs  Generative Adversarial Networks</vt:lpstr>
      <vt:lpstr> Content</vt:lpstr>
      <vt:lpstr>Variational Autoencoder</vt:lpstr>
      <vt:lpstr>Anomaly detection using VAE</vt:lpstr>
      <vt:lpstr>Variational Autoencoder</vt:lpstr>
      <vt:lpstr>Variational Autoencoder</vt:lpstr>
      <vt:lpstr>Variational Autoencoder</vt:lpstr>
      <vt:lpstr>Generative Adversarial Network</vt:lpstr>
      <vt:lpstr>Generative Adversarial Network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Autoencoders  vs  Generating Adversarial Networks</dc:title>
  <dc:creator>Microsoft Office User</dc:creator>
  <cp:lastModifiedBy>Microsoft Office User</cp:lastModifiedBy>
  <cp:revision>6</cp:revision>
  <dcterms:created xsi:type="dcterms:W3CDTF">2021-09-08T15:48:27Z</dcterms:created>
  <dcterms:modified xsi:type="dcterms:W3CDTF">2023-08-23T13:57:13Z</dcterms:modified>
</cp:coreProperties>
</file>