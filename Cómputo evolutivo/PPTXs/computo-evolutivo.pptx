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Una familia de algoritmos inspirados en la evolución,
y el algoritmo genético simple con un ejemplo numérico.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Holland 1975  ·  Goldberg 1989  ·  AIMA, búsqueda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campo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Qué es el cómputo evolutivo y de dónde sale la analogía con Darwin.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familia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Algoritmos genéticos, estrategias evolutivas, EP y programación genética.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AG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Cromosoma binario, ruleta, cruce de un punto, mutación de bits.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Ejemplo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Maximizar x² en 0…31, población de 4, una generación completa.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es el cómputo evolutivo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Optimizar manteniendo una población de candidatos, no un solo punto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1155680" cy="4572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Es una familia de algoritmos de búsqueda y optimización inspirados en la evolución biológica.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No hace falta el gradiente: solo evaluar qué tan bueno es cada candidato (aptitud).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Se trabaja con una población. La variación (cruce y mutación) crea vecinos; la selección sesga hacia los mejores.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Sirve cuando el espacio es discreto, ruidoso, multimodal o de caja negra.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No garantiza el óptimo global. Es una heurística poblacional, no una demostración.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De Darwin al algoritmo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Cuatro ingredientes que casi todos los métodos evolutivos comparten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Población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Varios candidatos a la vez. La diversidad es memoria de alternativas.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Aptitud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 número f(x) que dice qué tan bueno es cada individuo en el problema.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Variación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Cruce: recombina padres. Mutación: cambia poco, a ciegas, para no estancarse.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Selección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Los más aptos se reproducen más. Eso sesga la siguiente generación.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familia evolutiva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Mismo ciclo; cambia la representación y el operador principal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Algoritmos genéticos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Holland, Goldberg. Cromosomas (a menudo binarios) y cruce como operador estrella.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Estrategias evolutivas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Rechenberg, Schwefel. Vectores reales; la mutación (a veces autoadaptativa) manda.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Programación evolutiva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Fogel. Históricamente máquinas de estados; énfasis en mutación, no en cruce.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Programación genética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Koza. Los individuos son árboles de programas o expresiones.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ciclo evolutivo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Se repite hasta un criterio de paro (generaciones, aptitud, presupuesto)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5564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B93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194560"/>
            <a:ext cx="1728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2C59"/>
                </a:solidFill>
                <a:latin typeface="Calibri"/>
              </a:rPr>
              <a:t>Inicializar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97480"/>
            <a:ext cx="1728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Población al azar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14015" y="2331720"/>
            <a:ext cx="274320" cy="256032"/>
          </a:xfrm>
          <a:prstGeom prst="rightArrow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24911" y="155448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1" y="175564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B93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3" y="2194560"/>
            <a:ext cx="1728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2C59"/>
                </a:solidFill>
                <a:latin typeface="Calibri"/>
              </a:rPr>
              <a:t>Evaluar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3" y="2697480"/>
            <a:ext cx="1728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Calcular f(x)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36006" y="2331720"/>
            <a:ext cx="274320" cy="256032"/>
          </a:xfrm>
          <a:prstGeom prst="rightArrow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46902" y="155448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2" y="175564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B93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4" y="2194560"/>
            <a:ext cx="1728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2C59"/>
                </a:solidFill>
                <a:latin typeface="Calibri"/>
              </a:rPr>
              <a:t>Seleccionar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4" y="2697480"/>
            <a:ext cx="1728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Elegir padres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57997" y="2331720"/>
            <a:ext cx="274320" cy="256032"/>
          </a:xfrm>
          <a:prstGeom prst="rightArrow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68893" y="155448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8893" y="175564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B93A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5" y="2194560"/>
            <a:ext cx="1728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2C59"/>
                </a:solidFill>
                <a:latin typeface="Calibri"/>
              </a:rPr>
              <a:t>Variar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5" y="2697480"/>
            <a:ext cx="1728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Cruce y mutación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079988" y="2331720"/>
            <a:ext cx="274320" cy="256032"/>
          </a:xfrm>
          <a:prstGeom prst="rightArrow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90884" y="155448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4" y="175564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B93A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36" y="2194560"/>
            <a:ext cx="1728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2C59"/>
                </a:solidFill>
                <a:latin typeface="Calibri"/>
              </a:rPr>
              <a:t>Reemplazar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36" y="2697480"/>
            <a:ext cx="1728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Nueva generación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840480"/>
            <a:ext cx="11155680" cy="2240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0690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 población es el estado del algoritmo. Un individuo solo sería búsqueda local con ruido.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Selección sin variación: se pierde diversidad y se congela. Variación sin selección: es un paseo aleatorio.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AG simple usa reemplazo generacional: la descendencia sustituye por completo a los padres.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Cuándo tiene sentido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No sustituye a un método exacto cuando el problema es suave y pequeño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Buen encaje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Solo puedes evaluar candidatos (caja negra).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No hay gradiente, o la función es ruidosa.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Espacio combinatorio: rutas, conjuntos, bits.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Varios óptimos locales; un punto de búsqueda se queda atorado.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Te interesa un buen compromiso, no la prueba de optimalidad.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Con cuidado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el problema es convexo y derivable, usa gradiente o Newton.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es pequeño y exacto, usa búsqueda sistemática o PL.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Cada evaluación cara: la población se vuelve un lujo.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Sin una buena representación, el cruce produce basura.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Enjambre (PSO, ACO) es familia vecina, no el mismo algoritmo.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algoritmo genético simple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versión canónica de Holland / Goldberg: binario, ruleta, un punto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Representación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536192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Cadenas binarias de longitud fija ℓ. Cada bit es un 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76272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40864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Aptitud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340864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f(x) ≥ 0. En maximización, más es mejor. Si hay que minimizar, se transforma.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80944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45536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Selección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45536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Proporcional a la aptitud (ruleta). El esperado de copias es n · f_i / Σf.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85616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50208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Cruce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950208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De un punto, con probabilidad p_c (típicamente 0.6–0.9).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90288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Mutación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754880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Cada bit se voltea con probabilidad p_m (típicamente ≈ 1/ℓ).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9496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59552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Reemplazo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559552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Generacional: los n hijos sustituyen a los n padres.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Genotipo y fenotipo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AG opera sobre bits; el problema vive en x y en f(x)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Un individuo del ejemplo (5 bits → entero 0…31)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D6D7E"/>
                </a:solidFill>
                <a:latin typeface="Calibri"/>
              </a:rPr>
              <a:t>Genotipo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029968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0299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5263" y="2029968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5263" y="20299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7" y="2029968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7" y="20299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96512" y="2029968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6512" y="20299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17135" y="2029968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5" y="20299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029968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cadena de bits  ·  el AG cruza y muta 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6974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D6D7E"/>
                </a:solidFill>
                <a:latin typeface="Calibri"/>
              </a:rPr>
              <a:t>Fenotipo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697480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24    (binario 11000)     f(x) = x² = 576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947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5935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23367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Codificación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782312"/>
            <a:ext cx="320954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Hay que poder ir y volver: bits ↔ solución. Aquí es binario natural. En otros problemas se usa permutación, real, árbol…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7947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395935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23367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Aptitud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782312"/>
            <a:ext cx="320954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Es la interfaz con el mundo. Si f no distingue buenos de malos, la selección no empuja a ningún lado.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7947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395935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423367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Longitud 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782312"/>
            <a:ext cx="320954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Más bits = espacio 2^ℓ. El cruce mezcla bloques; la mutación explora el resto.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Selección proporcional (ruleta)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probabilidad de ser padre es el área de la rebanada: p_i = f_i / Σf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2331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En el ejemplo, Σf = 1170 y n = 4. Copias esperadas = n · p_i.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Se gira la ruleta n veces (o se usan n sorteos). Un individuo muy apto puede salir más de una vez.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Uno mediocre puede no salir: en Goldberg, 01000 (f = 64) queda fuera; 11000 (f = 576) entra dos veces.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Problema clásico: si un superindividuo aparece pronto, se come la población (convergencia prematura).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D6D7E"/>
                </a:solidFill>
                <a:latin typeface="Calibri"/>
              </a:rPr>
              <a:t>Ruleta de la generación 0  (ancho ∝ aptitud)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161137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161137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01101  169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14295" y="4206240"/>
            <a:ext cx="5492027" cy="10515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4295" y="4206240"/>
            <a:ext cx="5492027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11000  576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6322" y="4206240"/>
            <a:ext cx="610225" cy="1051560"/>
          </a:xfrm>
          <a:prstGeom prst="rect">
            <a:avLst/>
          </a:prstGeom>
          <a:solidFill>
            <a:srgbClr val="8A9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6322" y="4206240"/>
            <a:ext cx="610225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6547" y="4206240"/>
            <a:ext cx="3442051" cy="105156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547" y="4206240"/>
            <a:ext cx="3442051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A1F40"/>
                </a:solidFill>
                <a:latin typeface="Calibri"/>
              </a:rPr>
              <a:t>10011  361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Cruce de un punto y mutación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cruce mezcla bloques; la mutación evita que un bit se fije para siempre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Cruce de un punto  (p_c)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Se elige un corte. Un hijo toma el prefijo de A y el sufijo de B; el otro, al revés.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D6D7E"/>
                </a:solidFill>
                <a:latin typeface="Calibri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97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92223" y="2697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92223" y="2697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7" y="2697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7" y="2697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3472" y="2697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2697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26664" y="2624328"/>
            <a:ext cx="45720" cy="566928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54095" y="2697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5" y="2697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461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D6D7E"/>
                </a:solidFill>
                <a:latin typeface="Calibri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3200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200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92223" y="3200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2223" y="3200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12847" y="3200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12847" y="3200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3472" y="3200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472" y="3200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6664" y="3127248"/>
            <a:ext cx="45720" cy="566928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54095" y="3200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54095" y="3200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8862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B93A"/>
                </a:solidFill>
                <a:latin typeface="Calibri"/>
              </a:rPr>
              <a:t>A′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3840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3840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92223" y="3840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92223" y="3840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2847" y="3840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12847" y="3840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33472" y="3840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33472" y="3840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54095" y="384048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54095" y="3840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3891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8B93A"/>
                </a:solidFill>
                <a:latin typeface="Calibri"/>
              </a:rPr>
              <a:t>B′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0" y="4343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4343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92223" y="4343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92223" y="4343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2847" y="4343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12847" y="4343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33472" y="4343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33472" y="4343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54095" y="43434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54095" y="43434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498348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Corte después del bit 4: 0110|1  ×  1100|0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1371600"/>
            <a:ext cx="544068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Mutación de bits  (p_m)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2057400"/>
            <a:ext cx="4892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Cada bit se voltea con probabilidad p_m, independiente.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p_m pequeña (p. ej. 0.001 o 1/ℓ): explora sin destrozar lo bueno.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p_m grande: la búsqueda se vuelve ruido.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En 20 bits con p_m = 0.001, la mutación casi no actúa en una generación.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443484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antes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438912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438912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1583" y="438912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01583" y="438912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22207" y="438912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2207" y="438912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42832" y="438912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42832" y="438912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63455" y="438912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63455" y="438912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502920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después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0" y="498348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80960" y="4983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01583" y="498348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01583" y="4983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22207" y="498348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22207" y="4983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42832" y="498348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42832" y="4983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63455" y="498348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63455" y="498348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Pseudocódigo del AG simple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Población de tamaño n, cruce p_c, mutación p_m, reemplazo generacional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4663440"/>
          </a:xfrm>
          <a:prstGeom prst="roundRect">
            <a:avLst>
              <a:gd name="adj" fmla="val 8000"/>
            </a:avLst>
          </a:prstGeom>
          <a:solidFill>
            <a:srgbClr val="0A1F40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AG_SIMPLE(n, p_c, p_m):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P ← n cromosomas binarios al azar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mientras no se cumpla el criterio de paro: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evaluar f(x) para cada x ∈ 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P′ ← ∅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mientras |P′| &lt; n: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    a ← RULETA(P)          b ← RULETA(P)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    a′, b′ ← CRUCE_1PUNTO(a, b)  con probabilidad p_c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    MUTAR(a′, p_m)          MUTAR(b′, p_m)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    agregar a′, b′ a P′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P ← P′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devolver el mejor individuo visto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maximizar x²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Goldberg 1989 — el AG simple en una generación, con números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4924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Maximizar f(x) = x², con x entero en {0, 1, …, 31}.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Codificación: 5 bits, binario natural. 00000 → 0, 11111 → 31.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Óptimo: x = 31, f = 961. El AG no lo “sabe”: solo evalúa cadenas.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Población n = 4 (didáctica; en la práctica n es decenas o cientos).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p_c = 1 en las parejas que mostramos; p_m ≈ 0 en esta generación.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34924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Por qué este ejemplo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Cabe en una diapositiva: 4 individuos, una generación.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Se ve la ruleta: el peor muere, el mejor se copia dos veces.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cruce construye 11011 = 27, mejor que cualquier padre.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promedio de f sube de 293 a 439. Eso es evolución en miniatura.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Los números son los de Goldberg, tabla clásica de libro de texto.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Generación 0: aptitud y ruleta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Σf = 1170   ·   promedio = 293   ·   máximo = 576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10312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Cromosoma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371600"/>
            <a:ext cx="118872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371600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371600"/>
            <a:ext cx="137160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371600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f(x)=x²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1371600"/>
            <a:ext cx="137160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371600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p_i = f/Σf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371600"/>
            <a:ext cx="182880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37160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n·p_i esperado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371600"/>
            <a:ext cx="210312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371600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Copias (ruleta)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810512"/>
            <a:ext cx="21031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1810512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01101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1810512"/>
            <a:ext cx="11887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1810512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1810512"/>
            <a:ext cx="137160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1810512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169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1810512"/>
            <a:ext cx="137160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1810512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1810512"/>
            <a:ext cx="182880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810512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0.58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1810512"/>
            <a:ext cx="21031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1810512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249424"/>
            <a:ext cx="210312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249424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Calibri"/>
              </a:rPr>
              <a:t>11000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2249424"/>
            <a:ext cx="118872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40" y="2249424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2249424"/>
            <a:ext cx="137160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2249424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576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2249424"/>
            <a:ext cx="137160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2249424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0.49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2249424"/>
            <a:ext cx="182880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249424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1.97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2249424"/>
            <a:ext cx="210312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2249424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688336"/>
            <a:ext cx="21031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2688336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01000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2688336"/>
            <a:ext cx="11887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2688336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688336"/>
            <a:ext cx="137160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60" y="2688336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64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66360" y="2688336"/>
            <a:ext cx="137160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66360" y="2688336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60" y="2688336"/>
            <a:ext cx="182880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2688336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60" y="2688336"/>
            <a:ext cx="21031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2688336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12724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312724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10011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6040" y="3127248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06040" y="3127248"/>
            <a:ext cx="1188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94760" y="3127248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94760" y="3127248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361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66360" y="3127248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6360" y="3127248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0.31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60" y="312724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3127248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1.23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66760" y="312724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6760" y="312724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3794760"/>
            <a:ext cx="11155680" cy="2286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Piscina de apareamiento (después de la ruleta)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" y="4434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01101 ,   11000 ,   11000 ,   10011
El peor (01000) desaparece. El mejor (11000) se copia dos veces.
La selección no inventa bits nuevos: solo cambia las frecuencias.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Cruce: dos parejas, un corte cada una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Los padres salen de la ruleta; el corte se elige al azar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Pareja 1  ·  corte tras el bit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D6D7E"/>
                </a:solidFill>
                <a:latin typeface="Calibri"/>
              </a:rPr>
              <a:t>Padres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231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7863" y="24231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3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7" y="24231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8487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9112" y="24231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9112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2304" y="2350008"/>
            <a:ext cx="45720" cy="566928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59735" y="24231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9735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42316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x = 13   f = 169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718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97863" y="29718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97863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18487" y="29718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18487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9112" y="29718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39112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32304" y="2898648"/>
            <a:ext cx="45720" cy="566928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59735" y="29718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9735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97180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x = 24   f = 576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118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D6D7E"/>
                </a:solidFill>
                <a:latin typeface="Calibri"/>
              </a:rPr>
              <a:t>Hijos  0110|1  ×  1100|0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0233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7863" y="40233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7863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18487" y="40233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18487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39112" y="40233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39112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59735" y="402336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59735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02336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x = 12   f = 144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5720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97863" y="45720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97863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18487" y="45720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18487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39112" y="45720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39112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59735" y="457200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59735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457200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x = 25   f = 625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6CA8"/>
                </a:solidFill>
                <a:latin typeface="Calibri"/>
              </a:rPr>
              <a:t>Un hijo (25) ya supera al mejor padre (24).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1371600"/>
            <a:ext cx="5440680" cy="4663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Pareja 2  ·  corte tras el bit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D6D7E"/>
                </a:solidFill>
                <a:latin typeface="Calibri"/>
              </a:rPr>
              <a:t>Padres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242316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12863" y="242316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12863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06055" y="2350008"/>
            <a:ext cx="45720" cy="566928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33487" y="242316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33487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54112" y="242316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54112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74735" y="2423160"/>
            <a:ext cx="384048" cy="42062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74735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6840" y="242316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x = 24   f = 576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29718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12863" y="29718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12863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06055" y="2898648"/>
            <a:ext cx="45720" cy="566928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33487" y="29718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33487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54112" y="29718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54112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74735" y="29718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74735" y="29718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06840" y="297180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x = 19   f = 361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36118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D6D7E"/>
                </a:solidFill>
                <a:latin typeface="Calibri"/>
              </a:rPr>
              <a:t>Hijos  11|000  ×  10|011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402336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92240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912863" y="402336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12863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33487" y="402336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33487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54112" y="402336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54112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74735" y="4023360"/>
            <a:ext cx="384048" cy="42062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74735" y="40233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06840" y="402336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2C59"/>
                </a:solidFill>
                <a:latin typeface="Calibri"/>
              </a:rPr>
              <a:t>x = 27   f = 729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92240" y="45720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92240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12863" y="45720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12863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33487" y="45720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33487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54112" y="45720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54112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174735" y="4572000"/>
            <a:ext cx="384048" cy="42062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74735" y="457200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06840" y="4572000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x = 16   f = 256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92240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6CA8"/>
                </a:solidFill>
                <a:latin typeface="Calibri"/>
              </a:rPr>
              <a:t>11011 no estaba en la población: el cruce lo inventó.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Generación 1: subió el promedio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mutación no actúa (p_m ≈ 0.001 sobre 20 bits). El cambio lo hizo el cruce.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37744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Cromosoma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371600"/>
            <a:ext cx="201168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371600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371600"/>
            <a:ext cx="21945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371600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f(x)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371600"/>
            <a:ext cx="219456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1371600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vs. gen.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371600"/>
            <a:ext cx="237744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810512"/>
            <a:ext cx="237744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810512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01100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1810512"/>
            <a:ext cx="201168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810512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1810512"/>
            <a:ext cx="21945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810512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810512"/>
            <a:ext cx="219456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1810512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nuevo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810512"/>
            <a:ext cx="237744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1810512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hijo pareja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249424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249424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11001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24942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2249424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249424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249424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625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2249424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2249424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nuevo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2249424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249424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mejor que 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688336"/>
            <a:ext cx="237744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2688336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C59"/>
                </a:solidFill>
                <a:latin typeface="Calibri"/>
              </a:rPr>
              <a:t>11011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2688336"/>
            <a:ext cx="201168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2688336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27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2688336"/>
            <a:ext cx="219456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2688336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729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600" y="2688336"/>
            <a:ext cx="219456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2688336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nuevo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2688336"/>
            <a:ext cx="2377440" cy="438912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2688336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C59"/>
                </a:solidFill>
                <a:latin typeface="Calibri"/>
              </a:rPr>
              <a:t>el mejor hasta ahora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12724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127248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10000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312724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3127248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127248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92040" y="3127248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256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86600" y="3127248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86600" y="3127248"/>
            <a:ext cx="2194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nuevo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81160" y="312724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81160" y="3127248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hijo pareja 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38404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088" y="400507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Promedio 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" y="427939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293  →  439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" y="4828032"/>
            <a:ext cx="320954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La población, en conjunto, es mejor.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97680" y="38404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98848" y="400507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Máximo 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98848" y="427939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576  →  729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98848" y="4828032"/>
            <a:ext cx="320954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Apareció x = 27, que nadie tenía.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92440" y="38404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3608" y="400507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Óptimo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93608" y="427939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961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93608" y="4828032"/>
            <a:ext cx="3209544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Todavía lejos: faltan generaciones y un poco de mutación.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Cómputo evolutivo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AG simple es un molde; el arte está en la representación y en 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Población + sesgo + ruido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8600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Selección sesga hacia lo bueno. Cruce y mutación inyectan novedad. Hace falta los 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cruce construye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8600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En el ejemplo, 11 y 011 se juntan en 11011. Mezclar bloques útiles es la apuesta del 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Parámetros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70916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n, p_c, p_m. Ruleta cruda se desbalancea: en la práctica se usa torneo o ranking.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Límites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70916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No prueba optimalidad. Una mala codificación hace que el cruce rompa soluciones. Evalúa, mide, ajusta.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