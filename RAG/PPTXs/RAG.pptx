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Aptos"/>
              </a:rP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772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Aptos"/>
              </a:rPr>
              <a:t>Embeddings,</a:t>
            </a:r>
            <a:br/>
            <a:r>
              <a:t>bases vectoriales y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 dirty="0" err="1">
                <a:solidFill>
                  <a:srgbClr val="DBEAFE"/>
                </a:solidFill>
                <a:latin typeface="Aptos"/>
              </a:rPr>
              <a:t>Cómo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convertir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significado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en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vectores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,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buscar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por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similitud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endParaRPr lang="es-419" sz="2100" b="0" dirty="0">
              <a:solidFill>
                <a:srgbClr val="DBEAFE"/>
              </a:solidFill>
              <a:latin typeface="Aptos"/>
            </a:endParaRPr>
          </a:p>
          <a:p>
            <a:r>
              <a:rPr sz="2100" b="0" dirty="0">
                <a:solidFill>
                  <a:srgbClr val="DBEAFE"/>
                </a:solidFill>
                <a:latin typeface="Aptos"/>
              </a:rPr>
              <a:t>y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construir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sistemas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que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responden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con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contexto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6364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Aptos"/>
              </a:rPr>
              <a:t>Lecture deck |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El problema: los LLMs no lo saben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generación sola puede sonar correcta aunque esté desactualizada o inventada.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83280" cy="356616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Solo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 → modelo → respuesta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Riesgo: depende de sus pesos, fecha de entrenamiento y memoria paramétrica.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3566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Con búsqueda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 → buscar documentos → modelo → respuesta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El modelo recibe evidencia fresca y específica.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83280" cy="35661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Retrieval-Augmented Generation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Generar con contexto recuperado, no solo con conocimiento interno.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2233C"/>
                </a:solidFill>
                <a:latin typeface="Aptos"/>
              </a:rPr>
              <a:t>RAG no reemplaza al LLM: le da una libreta abierta en el momento de responder.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De palabras a significado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Embeddings: una representación numérica que conserva relaciones semánticas.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00400" cy="1143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716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8803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"perro", "gato", "automóvil"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1783080"/>
            <a:ext cx="73152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234440"/>
            <a:ext cx="278892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1371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Modelo de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764792"/>
            <a:ext cx="246888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Convierte texto en un vector.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178308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58200" y="1234440"/>
            <a:ext cx="2926080" cy="114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23444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8" y="13716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764792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[0.12, -0.48, 0.77, ...]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Cada dimensión no suele tener una interpretación humana directa.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La geometría importa: textos con significado parecido quedan cerca.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El mismo mecanismo funciona con frases, párrafos, imágenes o audio.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926080"/>
            <a:ext cx="4343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29400" y="2926080"/>
            <a:ext cx="73152" cy="2194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06324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Analogía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456432"/>
            <a:ext cx="4023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Un embedding es como una coordenada en un mapa: no describe la ciudad con palabras, pero permite medir qué tan cerca está de otras ciudades.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Un espacio vectorial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Ejemplo 2D simplificado: en la práctica hay cientos o miles de dimensiones.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417320"/>
            <a:ext cx="566928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468880" y="24688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2395728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perro</a:t>
            </a:r>
          </a:p>
        </p:txBody>
      </p:sp>
      <p:sp>
        <p:nvSpPr>
          <p:cNvPr id="9" name="Oval 8"/>
          <p:cNvSpPr/>
          <p:nvPr/>
        </p:nvSpPr>
        <p:spPr>
          <a:xfrm>
            <a:off x="2865729" y="2763316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7169" y="2690164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gato</a:t>
            </a:r>
          </a:p>
        </p:txBody>
      </p:sp>
      <p:sp>
        <p:nvSpPr>
          <p:cNvPr id="11" name="Oval 10"/>
          <p:cNvSpPr/>
          <p:nvPr/>
        </p:nvSpPr>
        <p:spPr>
          <a:xfrm>
            <a:off x="3432657" y="225856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4097" y="2185416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mascota</a:t>
            </a:r>
          </a:p>
        </p:txBody>
      </p:sp>
      <p:sp>
        <p:nvSpPr>
          <p:cNvPr id="13" name="Oval 12"/>
          <p:cNvSpPr/>
          <p:nvPr/>
        </p:nvSpPr>
        <p:spPr>
          <a:xfrm>
            <a:off x="5190134" y="4277563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1574" y="4204411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auto</a:t>
            </a:r>
          </a:p>
        </p:txBody>
      </p:sp>
      <p:sp>
        <p:nvSpPr>
          <p:cNvPr id="15" name="Oval 14"/>
          <p:cNvSpPr/>
          <p:nvPr/>
        </p:nvSpPr>
        <p:spPr>
          <a:xfrm>
            <a:off x="5586984" y="3856939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78424" y="3783787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camión</a:t>
            </a:r>
          </a:p>
        </p:txBody>
      </p:sp>
      <p:sp>
        <p:nvSpPr>
          <p:cNvPr id="17" name="Oval 16"/>
          <p:cNvSpPr/>
          <p:nvPr/>
        </p:nvSpPr>
        <p:spPr>
          <a:xfrm>
            <a:off x="4623206" y="444581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14646" y="4372660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motor</a:t>
            </a:r>
          </a:p>
        </p:txBody>
      </p:sp>
      <p:sp>
        <p:nvSpPr>
          <p:cNvPr id="19" name="Oval 18"/>
          <p:cNvSpPr/>
          <p:nvPr/>
        </p:nvSpPr>
        <p:spPr>
          <a:xfrm>
            <a:off x="2185416" y="45720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76856" y="4498848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sandía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760720"/>
            <a:ext cx="5669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33C"/>
                </a:solidFill>
                <a:latin typeface="Aptos"/>
              </a:rPr>
              <a:t>Cerca = similar en uso y significado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3840480" cy="3931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1463040"/>
            <a:ext cx="73152" cy="3931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6368" y="16002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Lectura del diagrama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993392"/>
            <a:ext cx="3520440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El modelo aprendió patrones de coocurrencia y contexto.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No sabe que un perro es un perro como un humano; ubica textos por regularidades estadísticas útiles.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 búsqueda semántica aprovecha esas distancias.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Similitud: producto punto y coseno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consulta recupera los documentos cuyos vectores apuntan en una dirección parecida.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3756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30175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q = embedding("¿cómo instalo git?")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33375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7432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8803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Documento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73552"/>
            <a:ext cx="30175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d = embedding("instalación de git paso a paso")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1993392"/>
            <a:ext cx="1143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164592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3560" y="1645920"/>
            <a:ext cx="73152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8" y="1783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2233C"/>
                </a:solidFill>
                <a:latin typeface="Aptos"/>
              </a:rPr>
              <a:t>cos(q, 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176272"/>
            <a:ext cx="502920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cos(q,d) = (q · d) / (||q|| ||d||)</a:t>
            </a:r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Cercano a 1: muy similar</a:t>
            </a:r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Cercano a 0: poco relacionado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Coseno ignora la longitud y se enfoca en la dirección.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En muchos sistemas también se usa producto punto o distancia euclidiana, según el modelo y el índice.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Embeddings no son mágicos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Capturan patrones útiles, pero heredan límites del modelo y de los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98348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Granularidad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Una frase, un párrafo y un documento completo pueden producir vectores con distinto nivel de detalle.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4983480" cy="1600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463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85623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Un embedding general puede fallar con jerga médica, legal, técnica o interna.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498348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731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6118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Idioma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0507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Modelos multilingües ayudan, pero los datos y la mezcla de idiomas importan.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4983480" cy="16002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474720"/>
            <a:ext cx="731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36118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Ambigüedad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400507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"Python" puede ser lenguaje, serpiente o curso. El contexto resuelve parte del problema.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Preparar documentos: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Antes de indexar, se divide el conocimiento en fragmentos recuperables.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468880" cy="10515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Documento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21488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Manual completo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PDF / web / notas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856231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1143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143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280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673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2423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816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429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3429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3566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959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1856231"/>
            <a:ext cx="7772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43800" y="1325880"/>
            <a:ext cx="338328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43800" y="132588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8" y="146304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1856232"/>
            <a:ext cx="3063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Un vector por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Chunks muy grandes: recuperan demasiado ruido.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Chunks muy pequeños: pierden contexto necesario.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Overlap ayuda cuando la respuesta cruza fronteras entre fragmentos.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¿Qué guarda una base vectorial?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Una colección une vectores, texto original y metadatos.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288036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64792"/>
            <a:ext cx="25603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[0.031, -0.22, ...]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Sirve para búsqueda aproximada por similitud.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288036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123444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8807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1764792"/>
            <a:ext cx="25603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Texto del chunk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Título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URL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Página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Fecha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Permisos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234440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78040" y="1234440"/>
            <a:ext cx="73152" cy="4389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1371600"/>
            <a:ext cx="34289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Índice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1764792"/>
            <a:ext cx="3428999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Estructura especializada para evitar comparar contra todos los vectores uno por uno.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Ejemplos: HNSW, IVF, PQ.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Búsqueda k-NN y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base devuelve los k vecinos más cercanos a la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4688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1. Embed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Pregunta → 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78308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13258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77639" y="1325880"/>
            <a:ext cx="73152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78807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2. Buscar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185623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nearest_neighbors(q, k)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178308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1325880"/>
            <a:ext cx="361188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132588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3. Resultados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85623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chunks + scores + metadatos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063240"/>
            <a:ext cx="4800600" cy="2148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06324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32004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Exacto: k-NN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2"/>
            <a:ext cx="44805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Compara contra todos los vectores.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Simple de entender, caro a gran escala.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63240"/>
            <a:ext cx="480060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06324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32004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Aproximado: ANN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593592"/>
            <a:ext cx="44805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Usa un índice para encontrar vecinos casi óptimos mucho más rápido.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 calidad se ajusta con parámetros del índice.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Filtros + búsqueda semántica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En producción, la similitud rara vez trabaja sola.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26080" cy="4023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630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56232"/>
            <a:ext cx="260604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¿Cuál es la política de reembolsos para clientes enterprise?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329184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325880"/>
            <a:ext cx="2926080" cy="4023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325880"/>
            <a:ext cx="73152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14630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856232"/>
            <a:ext cx="260604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producto = SaaS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plan = enterprise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idioma = es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fecha &gt;= 2025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permisos del usuario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329184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1325880"/>
            <a:ext cx="2514600" cy="4023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1325880"/>
            <a:ext cx="73152" cy="4023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1463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Top-k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856232"/>
            <a:ext cx="219456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Documentos relevantes y autorizados.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RAG: flujo de alto nivel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Retrieval-Augmented Generation = recuperar evidencia + generar una respuesta.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2024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74519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74519"/>
            <a:ext cx="73152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580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Retriever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busca chunks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59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874519"/>
            <a:ext cx="192024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74519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top-k evidencia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1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874519"/>
            <a:ext cx="1920240" cy="12344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74519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redacta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3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874519"/>
            <a:ext cx="192024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73152" cy="123444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30968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con citas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160520"/>
            <a:ext cx="10012680" cy="109728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" y="416052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1288" y="429768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Contrato del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90872"/>
            <a:ext cx="9692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Responde usando solo el contexto proporcionado. Si la evidencia no alcanza, di qué falta en lugar de inventar.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Arquitectura RAG: indexación vs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Dos rutas separadas comparten el mismo modelo de embedding.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2233C"/>
                </a:solidFill>
                <a:latin typeface="Aptos"/>
              </a:rPr>
              <a:t>Ruta offline: preparar conocimiento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60020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Docs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160020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440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0" y="1600200"/>
            <a:ext cx="160020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73152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468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Vectores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43800" y="160020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43800" y="1600200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44968" y="1737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Vector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2130552"/>
            <a:ext cx="2423160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índice + metadatos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2233C"/>
                </a:solidFill>
                <a:latin typeface="Aptos"/>
              </a:rPr>
              <a:t>Ruta online: responder preguntas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0332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370332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Pregunta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63240" y="3703320"/>
            <a:ext cx="160020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63240" y="3703320"/>
            <a:ext cx="73152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440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Embed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03520" y="3703320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3703320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Buscar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43800" y="3703320"/>
            <a:ext cx="160020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370332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4496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Prompt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3544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84080" y="370332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84080" y="3703320"/>
            <a:ext cx="73152" cy="7315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8524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Ejemplo: mini corpus de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Pregunta: “¿cómo sabe RAG qué fragmentos mandar al LLM?”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389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20040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A. Embeddings convierten texto en vectores.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B. Un índice ANN recupera vecinos cercanos.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C. El prompt debe incluir instrucciones y evidencia.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D. La temperatura controla aleatoriedad.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283464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23444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3716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64792"/>
            <a:ext cx="251460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embedding(pregunta)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A)=0.82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B)=0.79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C)=0.55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D)=0.12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Top-k = A,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234440"/>
            <a:ext cx="379476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23444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0688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Respuesta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764792"/>
            <a:ext cx="34747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RAG calcula un embedding de la pregunta y busca los chunks con vectores más similares. En este caso enviaría A y B al LLM, porque explican embeddings e índices de vecinos cercanos.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Del retrieval al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El contexto recuperado debe entrar con estructura y límites claros.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257800" cy="4434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Plantilla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937760" cy="3776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Sistema: responde con base en el contexto.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Si falta evidencia, dilo.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Contexto: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[1] Embeddings convierten texto en vectores...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[2] El índice ANN recupera vecinos cercanos...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Pregunta: ¿cómo sabe RAG qué fragmentos mandar al LLM?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4572000" cy="4434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73152" cy="4434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4630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Buenas prácticas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56232"/>
            <a:ext cx="4251960" cy="3776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Separar instrucciones, contexto y pregunta.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Incluir IDs para citas.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Limitar cantidad de chunks para no saturar la ventana.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Pedir abstención cuando no haya evidencia.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Patrones de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El RAG básico se puede mejorar por etapas.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280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Naive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67335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Embed query → top-k → prompt. Bueno para empezar.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1488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Hybrid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54203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Combina BM25 por palabras clave con vectores por significado.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8036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88036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01752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Reranking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1071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Un segundo modelo reordena candidatos antes del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49039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749039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86199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Multi-query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79391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Reescribe la pregunta en varias consultas para recuperar mejor.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1772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461772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475488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Agentic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4807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El sistema decide buscar, refinar, llamar herramientas o responder.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Evaluar un sistema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No basta con “se ve bien”: separa recuperación y generación.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4297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Recall@k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Precision@k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MRR / nDCG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Cobertura por tema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Latencia de búsqueda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46120" cy="4297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Factualidad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Uso de citas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Completitud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Claridad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Abstención correcta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246120" cy="4297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Costo por pregunta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Tiempo total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Errores por permisos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Robustez ante preguntas ambiguas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Fallas comunes y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Cuando RAG responde mal, ubica dónde se rompió la cadena.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No recupera evidencia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53619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123444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3716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chunking, filtros, embedding, índice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5740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05740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19456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Recupera ruido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235915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205740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5740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19456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top-k alto, chunks grandes, falta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88036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288036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301752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Ignora el contexto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7840" y="318211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88036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88036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301752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prompt débil, contexto muy largo, instrucciones en conflicto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70332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370332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384048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Alucina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77840" y="400507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370332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38404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no hay regla de abstención, falta cita, temperatura alta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2628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452628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" y="46634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Filtra información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482803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09360" y="452628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0528" y="466344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metadatos/permisos mal aplicados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Diseño 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RAG introduce decisiones de producto, seguridad y mantenimiento.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Control de acceso: el retrieval debe respetar permisos antes de construir el prompt.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Trazabilidad: guarda pregunta, chunks, scores, prompt y respuesta para depurar.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Actualización: reindexa documentos cuando cambia el corpus o el modelo de embedding.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Privacidad: evita enviar datos sensibles a proveedores externos sin autorización.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Experiencia: muestra citas, fecha de fuente y nivel de confianza cuando sea útil.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Actividad en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Diseña un RAG para responder preguntas sobre el material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43434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4343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1.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2926080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¿Qué documentos entran?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Diapositivas, READMEs, código, lecturas, notas.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46120" cy="4343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2. Recuperación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56232"/>
            <a:ext cx="2926080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¿Cómo partirías chunks?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¿Qué metadatos usarías?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¿Cuánto top-k?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246120" cy="4343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4343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3. Respuesta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56232"/>
            <a:ext cx="2926080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¿Cuándo debe citar?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¿Cuándo debe decir “no sé”?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¿Cómo evaluarías?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idea completa en cinco frases.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 embedding transforma contenido en una coordenada semántica.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Una base vectorial permite recuperar vecinos cercanos con sus metadatos.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RAG usa retrieval para darle evidencia externa a un LLM.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La calidad depende de chunking, embeddings, filtros, ranking, prompt y evaluación.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 buen RAG responde mejor cuando tiene evidencia y se abstiene cuando no la tiene.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1741</Words>
  <Application>Microsoft Macintosh PowerPoint</Application>
  <PresentationFormat>Panorámica</PresentationFormat>
  <Paragraphs>292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2</cp:revision>
  <dcterms:created xsi:type="dcterms:W3CDTF">2013-01-27T09:14:16Z</dcterms:created>
  <dcterms:modified xsi:type="dcterms:W3CDTF">2026-08-21T15:21:33Z</dcterms:modified>
  <cp:category/>
</cp:coreProperties>
</file>