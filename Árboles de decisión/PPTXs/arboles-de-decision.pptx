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93A"/>
                </a:solidFill>
                <a:latin typeface="Calibri"/>
              </a:rPr>
              <a:t>CURSO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0DC"/>
                </a:solidFill>
                <a:latin typeface="Calibri"/>
              </a:rPr>
              <a:t>Clasificar con preguntas: un árbol que se lee,
y otro que se aprende con ganancia de información.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B93A"/>
                </a:solidFill>
                <a:latin typeface="Calibri"/>
              </a:rPr>
              <a:t>Quinlan, ID3  ·  AIMA, aprendizaje a partir de ejemplos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La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Un clasificador que pregunta por atributos y termina en una clase.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Leer un árbol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Restaurante: ¿esperamos mesa? Un caso nuevo baja por las ramas.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Aprenderlo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Entropía, ganancia de información e ID3, con el ejemplo del tenis.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Límites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Sobreajuste, poda, y cuándo el árbol deja de ser una buena idea.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Aprendizaje supervisado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De una tabla de ejemplos a una función que etiqueta casos nuevos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08760"/>
            <a:ext cx="11155680" cy="457200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Tenemos ejemplos (x, y): atributos x y una clase y ya conocida (Sí / No, spam / no spam).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El objetivo es un clasificador h(x) que acierte también fuera de la tabla.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Un árbol de decisión es un h(x) muy legible: cada nodo interno pregunta por un atributo.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Las hojas son la clase. Clasificar es bajar por el árbol según las respuestas.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Hoy: cómo se lee uno, y cómo ID3 elige las preguntas (Quinlan; AIMA).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Qué es un árbol de decisión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 diagrama de flujo: test → rama → hoja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Nodo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Una pregunta sobre un atributo. Cielo = {soleado, nublado, lluvia}.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Rama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Un valor (o un umbral, si el atributo es numérico). Una sola salida por valor.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Hoja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6344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Una clase. Si llegas aquí, esa es la predicción. Idealmente, ejemplos puros.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Camino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La conjunción de tests. El árbol entero es una disyunción de esas reglas.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Ejemplo: ¿esperamos mesa?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Árbol al estilo AIMA (versión pequeña). Las hojas ya deciden.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325880"/>
            <a:ext cx="2377440" cy="502920"/>
          </a:xfrm>
          <a:prstGeom prst="roundRect">
            <a:avLst>
              <a:gd name="adj" fmla="val 12000"/>
            </a:avLst>
          </a:prstGeom>
          <a:solidFill>
            <a:srgbClr val="0F2C59"/>
          </a:solidFill>
          <a:ln w="15875"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32588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¿Clientes?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1965960"/>
            <a:ext cx="8668512" cy="27432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2472" y="1828800"/>
            <a:ext cx="27432" cy="13716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17320" y="1965960"/>
            <a:ext cx="27432" cy="18288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2472" y="1965960"/>
            <a:ext cx="27432" cy="18288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85832" y="1965960"/>
            <a:ext cx="27432" cy="18288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993392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ninguno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99339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algunos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99339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lleno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28600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A83B3B"/>
          </a:solidFill>
          <a:ln w="15875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286000"/>
            <a:ext cx="1645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228600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1B7A4E"/>
          </a:solidFill>
          <a:ln w="15875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228600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228600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0F2C59"/>
          </a:solidFill>
          <a:ln w="15875"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22860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¿Hambre?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2944368"/>
            <a:ext cx="3291840" cy="27432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85832" y="2743200"/>
            <a:ext cx="27432" cy="201168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18120" y="2944368"/>
            <a:ext cx="27432" cy="18288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109960" y="2944368"/>
            <a:ext cx="27432" cy="18288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2971800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2971800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sí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8040" y="3246120"/>
            <a:ext cx="1371600" cy="438912"/>
          </a:xfrm>
          <a:prstGeom prst="roundRect">
            <a:avLst>
              <a:gd name="adj" fmla="val 12000"/>
            </a:avLst>
          </a:prstGeom>
          <a:solidFill>
            <a:srgbClr val="A83B3B"/>
          </a:solidFill>
          <a:ln w="15875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3246120"/>
            <a:ext cx="13716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84080" y="3246120"/>
            <a:ext cx="1828800" cy="438912"/>
          </a:xfrm>
          <a:prstGeom prst="roundRect">
            <a:avLst>
              <a:gd name="adj" fmla="val 12000"/>
            </a:avLst>
          </a:prstGeom>
          <a:solidFill>
            <a:srgbClr val="0F2C59"/>
          </a:solidFill>
          <a:ln w="15875"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3246120"/>
            <a:ext cx="1828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¿Viernes?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20" y="3913632"/>
            <a:ext cx="2743200" cy="27432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680192" y="3685032"/>
            <a:ext cx="27432" cy="2286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32520" y="3913632"/>
            <a:ext cx="27432" cy="18288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75720" y="3913632"/>
            <a:ext cx="27432" cy="18288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2440" y="3931920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3931920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sí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83879" y="4187952"/>
            <a:ext cx="1280160" cy="411480"/>
          </a:xfrm>
          <a:prstGeom prst="roundRect">
            <a:avLst>
              <a:gd name="adj" fmla="val 12000"/>
            </a:avLst>
          </a:prstGeom>
          <a:solidFill>
            <a:srgbClr val="A83B3B"/>
          </a:solidFill>
          <a:ln w="15875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79" y="4187952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744200" y="4187952"/>
            <a:ext cx="1280160" cy="411480"/>
          </a:xfrm>
          <a:prstGeom prst="roundRect">
            <a:avLst>
              <a:gd name="adj" fmla="val 12000"/>
            </a:avLst>
          </a:prstGeom>
          <a:solidFill>
            <a:srgbClr val="1B7A4E"/>
          </a:solidFill>
          <a:ln w="15875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44200" y="4187952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4800600"/>
            <a:ext cx="6949440" cy="141732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937760"/>
            <a:ext cx="6492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Lectura: si no hay nadie, nos vamos. Si hay algunos, nos quedamos. Si está lleno, solo esperamos si tenemos hambre y es viernes.
Cada camino es una regla SI … ENTONCES clase.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Un caso nuevo baja por las ramas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No se reentrena: solo se sigue el camino que marcan los atributos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349240" cy="46634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Caso: restaurante el viernes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Clientes = lleno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Hambre = sí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Viernes = sí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Camino: Clientes → Hambre → Viernes → Sí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Predicción: esperamos mesa.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71600"/>
            <a:ext cx="5349240" cy="46634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Otro caso, mismo árbol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0312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Clientes = lleno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Hambre = no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El árbol ni pregunta el viernes.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Camino: Clientes → Hambre → No</a:t>
            </a:r>
          </a:p>
          <a:p>
            <a:pPr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Predicción: nos vamos. Un atributo irrelevante no se usa.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¿Cómo se elige la pregunta?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ID3 es voraz: en cada nodo, el atributo que más limpia las clases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1155680" cy="461772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No se prueban todos los árboles posibles (son demasiados). Se construye de arriba abajo.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En la raíz se pregunta: ¿qué atributo separa mejor Sí de No en toda la tabla?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Cada valor del atributo crea un subconjunto. Si un subconjunto es puro, se pone una hoja.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Si no, se repite el mismo criterio en ese subconjunto, con los atributos que quedan.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«Mejor» se mide con ganancia de información: cuánta entropía se reduce al partir.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Entropía: qué tan mezclada está la clase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H = 0 es puro. En dos clases, H = 1 es un empate 50 /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623560" cy="46634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Definición (binaria)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03120"/>
            <a:ext cx="50749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H(S) = − p⊕ log₂ p⊕ − p⊖ log₂ p⊖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5074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p⊕ = fracción de ejemplos positivos (Sí).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Si todos son Sí (o todos No), H = 0: no hace falta preguntar más.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Si hay 9 Sí y 5 No (tenis): H(S) ≈ 0.940.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371600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371600"/>
            <a:ext cx="128016" cy="1417320"/>
          </a:xfrm>
          <a:prstGeom prst="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5544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9 Sí, 0 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90195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7A4E"/>
                </a:solidFill>
                <a:latin typeface="Calibri"/>
              </a:rPr>
              <a:t>H =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26771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Calibri"/>
              </a:rPr>
              <a:t>Hoja: Sí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944368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944368"/>
            <a:ext cx="128016" cy="141732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12724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9 Sí, 5 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4747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6CA8"/>
                </a:solidFill>
                <a:latin typeface="Calibri"/>
              </a:rPr>
              <a:t>H ≈ 0.94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84048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Calibri"/>
              </a:rPr>
              <a:t>Todavía hay duda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517136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4517136"/>
            <a:ext cx="128016" cy="1417320"/>
          </a:xfrm>
          <a:prstGeom prst="rect">
            <a:avLst/>
          </a:prstGeom>
          <a:solidFill>
            <a:srgbClr val="A8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70001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7 Sí, 7 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504748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83B3B"/>
                </a:solidFill>
                <a:latin typeface="Calibri"/>
              </a:rPr>
              <a:t>H =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41324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Calibri"/>
              </a:rPr>
              <a:t>Máxima mezcla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Ganancia de información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Cuánta entropía se ahorra al partir S según el atributo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196596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10515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Gain(S, A) = H(S) − Σ_v  (|Sv| / |S|)  H(Sv)
Sv = ejemplos en los que A toma el valor v. El residual es un promedio ponderado.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11880"/>
            <a:ext cx="3611880" cy="242316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776472"/>
            <a:ext cx="32095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050792"/>
            <a:ext cx="32095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Alto Gain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599432"/>
            <a:ext cx="3209544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Las ramas quedan casi puras. Ese atributo es un buen test en este nodo.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611880"/>
            <a:ext cx="3611880" cy="242316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3776472"/>
            <a:ext cx="32095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4050792"/>
            <a:ext cx="32095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Gain ≈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4599432"/>
            <a:ext cx="3209544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Partir no cambia la mezcla. El atributo no informa sobre la clase (aquí).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611880"/>
            <a:ext cx="3611880" cy="242316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776472"/>
            <a:ext cx="320954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4050792"/>
            <a:ext cx="32095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ID3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4599432"/>
            <a:ext cx="3209544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En cada nodo se elige arg max Gain(S, A) entre los atributos que quedan.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Ejemplo ID3: ¿jugamos tenis?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14 días. Clase Jugar. Quinlan / Mitchell — números de libro de texto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640080" cy="329184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1298448"/>
            <a:ext cx="1965960" cy="329184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1298448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Cielo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298448"/>
            <a:ext cx="1554480" cy="329184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1298448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Temp.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298448"/>
            <a:ext cx="1737360" cy="329184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298448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Humedad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298448"/>
            <a:ext cx="1554480" cy="329184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298448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Viento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1298448"/>
            <a:ext cx="1371600" cy="329184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1298448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Jugar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1627632"/>
            <a:ext cx="6400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1627632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1627632"/>
            <a:ext cx="196596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1627632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Soleado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1627632"/>
            <a:ext cx="15544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1627632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Alta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627632"/>
            <a:ext cx="173736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1627632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Alta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627632"/>
            <a:ext cx="15544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627632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Débil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1627632"/>
            <a:ext cx="1371600" cy="329184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0" y="1627632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A83B3B"/>
                </a:solidFill>
                <a:latin typeface="Calibri"/>
              </a:rPr>
              <a:t>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1956816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1956816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1956816"/>
            <a:ext cx="1965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1956816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Soleado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1956816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0" y="1956816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Alta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1956816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1956816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Alta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1956816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1956816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Fuerte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1956816"/>
            <a:ext cx="1371600" cy="329184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0" y="1956816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A83B3B"/>
                </a:solidFill>
                <a:latin typeface="Calibri"/>
              </a:rPr>
              <a:t>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2286000"/>
            <a:ext cx="6400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2286000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43000" y="2286000"/>
            <a:ext cx="196596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3000" y="2286000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Nublado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08960" y="2286000"/>
            <a:ext cx="15544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0" y="2286000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Alta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440" y="2286000"/>
            <a:ext cx="173736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63440" y="2286000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Alta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2286000"/>
            <a:ext cx="15544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2286000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Débil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55280" y="2286000"/>
            <a:ext cx="1371600" cy="329184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55280" y="2286000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B7A4E"/>
                </a:solidFill>
                <a:latin typeface="Calibri"/>
              </a:rPr>
              <a:t>Sí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2615184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2615184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2615184"/>
            <a:ext cx="1965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43000" y="2615184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Lluvia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108960" y="2615184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08960" y="2615184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Media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63440" y="2615184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63440" y="2615184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Alta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2615184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0" y="2615184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Débil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55280" y="2615184"/>
            <a:ext cx="1371600" cy="329184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55280" y="2615184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B7A4E"/>
                </a:solidFill>
                <a:latin typeface="Calibri"/>
              </a:rPr>
              <a:t>Sí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02920" y="2944368"/>
            <a:ext cx="6400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2944368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43000" y="2944368"/>
            <a:ext cx="196596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43000" y="2944368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Lluvia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108960" y="2944368"/>
            <a:ext cx="15544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108960" y="2944368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Baja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63440" y="2944368"/>
            <a:ext cx="173736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63440" y="2944368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Normal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00800" y="2944368"/>
            <a:ext cx="15544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0" y="2944368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Débil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55280" y="2944368"/>
            <a:ext cx="1371600" cy="329184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955280" y="2944368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B7A4E"/>
                </a:solidFill>
                <a:latin typeface="Calibri"/>
              </a:rPr>
              <a:t>Sí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" y="3273552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2920" y="3273552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43000" y="3273552"/>
            <a:ext cx="1965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43000" y="3273552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Lluvia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108960" y="3273552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08960" y="3273552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Baja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63440" y="3273552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63440" y="3273552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Normal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00800" y="3273552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00800" y="3273552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Fuerte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955280" y="3273552"/>
            <a:ext cx="1371600" cy="329184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955280" y="3273552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A83B3B"/>
                </a:solidFill>
                <a:latin typeface="Calibri"/>
              </a:rPr>
              <a:t>No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2920" y="3602736"/>
            <a:ext cx="6400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2920" y="3602736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143000" y="3602736"/>
            <a:ext cx="196596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43000" y="3602736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Nublado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08960" y="3602736"/>
            <a:ext cx="15544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108960" y="3602736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Baja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63440" y="3602736"/>
            <a:ext cx="173736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663440" y="3602736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Normal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3602736"/>
            <a:ext cx="15544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00800" y="3602736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Fuerte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55280" y="3602736"/>
            <a:ext cx="1371600" cy="329184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955280" y="3602736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B7A4E"/>
                </a:solidFill>
                <a:latin typeface="Calibri"/>
              </a:rPr>
              <a:t>Sí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3931920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02920" y="3931920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8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43000" y="3931920"/>
            <a:ext cx="1965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43000" y="3931920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Soleado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108960" y="3931920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108960" y="3931920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Media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63440" y="3931920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663440" y="3931920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Alta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0800" y="3931920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00800" y="3931920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Débil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955280" y="3931920"/>
            <a:ext cx="1371600" cy="329184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955280" y="3931920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A83B3B"/>
                </a:solidFill>
                <a:latin typeface="Calibri"/>
              </a:rPr>
              <a:t>No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02920" y="4261104"/>
            <a:ext cx="6400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02920" y="4261104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143000" y="4261104"/>
            <a:ext cx="196596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43000" y="4261104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Soleado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108960" y="4261104"/>
            <a:ext cx="15544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108960" y="4261104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Baja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663440" y="4261104"/>
            <a:ext cx="173736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663440" y="4261104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Normal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0" y="4261104"/>
            <a:ext cx="15544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400800" y="4261104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Débil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955280" y="4261104"/>
            <a:ext cx="1371600" cy="329184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955280" y="4261104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B7A4E"/>
                </a:solidFill>
                <a:latin typeface="Calibri"/>
              </a:rPr>
              <a:t>Sí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02920" y="4590288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02920" y="4590288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10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143000" y="4590288"/>
            <a:ext cx="1965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43000" y="4590288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Lluvia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108960" y="4590288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108960" y="4590288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Media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663440" y="4590288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663440" y="4590288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Normal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400800" y="4590288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400800" y="4590288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Débil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955280" y="4590288"/>
            <a:ext cx="1371600" cy="329184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955280" y="4590288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B7A4E"/>
                </a:solidFill>
                <a:latin typeface="Calibri"/>
              </a:rPr>
              <a:t>Sí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02920" y="4919472"/>
            <a:ext cx="6400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02920" y="4919472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11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143000" y="4919472"/>
            <a:ext cx="196596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143000" y="4919472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Soleado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108960" y="4919472"/>
            <a:ext cx="15544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108960" y="4919472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Media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63440" y="4919472"/>
            <a:ext cx="173736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663440" y="4919472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Normal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400800" y="4919472"/>
            <a:ext cx="15544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400800" y="4919472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Fuerte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955280" y="4919472"/>
            <a:ext cx="1371600" cy="329184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955280" y="4919472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B7A4E"/>
                </a:solidFill>
                <a:latin typeface="Calibri"/>
              </a:rPr>
              <a:t>Sí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02920" y="5248656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02920" y="5248656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12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143000" y="5248656"/>
            <a:ext cx="1965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143000" y="5248656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Nublado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108960" y="5248656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108960" y="5248656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Media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63440" y="5248656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663440" y="5248656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Alta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400800" y="5248656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400800" y="5248656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Fuerte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955280" y="5248656"/>
            <a:ext cx="1371600" cy="329184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955280" y="5248656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B7A4E"/>
                </a:solidFill>
                <a:latin typeface="Calibri"/>
              </a:rPr>
              <a:t>Sí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02920" y="5577840"/>
            <a:ext cx="6400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02920" y="5577840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13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143000" y="5577840"/>
            <a:ext cx="196596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143000" y="5577840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Nublado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108960" y="5577840"/>
            <a:ext cx="15544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108960" y="5577840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Alta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63440" y="5577840"/>
            <a:ext cx="173736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663440" y="5577840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Normal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400800" y="5577840"/>
            <a:ext cx="1554480" cy="329184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400800" y="5577840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Débil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7955280" y="5577840"/>
            <a:ext cx="1371600" cy="329184"/>
          </a:xfrm>
          <a:prstGeom prst="rect">
            <a:avLst/>
          </a:prstGeom>
          <a:solidFill>
            <a:srgbClr val="E4F4EA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7955280" y="5577840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B7A4E"/>
                </a:solidFill>
                <a:latin typeface="Calibri"/>
              </a:rPr>
              <a:t>Sí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502920" y="5907024"/>
            <a:ext cx="640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502920" y="5907024"/>
            <a:ext cx="640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14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143000" y="5907024"/>
            <a:ext cx="19659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143000" y="5907024"/>
            <a:ext cx="1965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Lluvia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108960" y="5907024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3108960" y="5907024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Media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663440" y="5907024"/>
            <a:ext cx="1737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4663440" y="5907024"/>
            <a:ext cx="17373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Alta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400800" y="5907024"/>
            <a:ext cx="1554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400800" y="5907024"/>
            <a:ext cx="1554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Fuerte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955280" y="5907024"/>
            <a:ext cx="1371600" cy="329184"/>
          </a:xfrm>
          <a:prstGeom prst="rect">
            <a:avLst/>
          </a:prstGeom>
          <a:solidFill>
            <a:srgbClr val="F8E6E6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7955280" y="5907024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A83B3B"/>
                </a:solidFill>
                <a:latin typeface="Calibri"/>
              </a:rPr>
              <a:t>No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9509760" y="1298448"/>
            <a:ext cx="2194560" cy="475488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9646920" y="1554480"/>
            <a:ext cx="1920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2C59"/>
                </a:solidFill>
                <a:latin typeface="Calibri"/>
              </a:rPr>
              <a:t>S
14 ejemplos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9646920" y="2468880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B6CA8"/>
                </a:solidFill>
                <a:latin typeface="Calibri"/>
              </a:rPr>
              <a:t>9 Sí
5 No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646920" y="338328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F2C59"/>
                </a:solidFill>
                <a:latin typeface="Calibri"/>
              </a:rPr>
              <a:t>H(S) ≈ 0.940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646920" y="4480560"/>
            <a:ext cx="1920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D6D7E"/>
                </a:solidFill>
                <a:latin typeface="Calibri"/>
              </a:rPr>
              <a:t>¿Qué atributo parte mejor esta mezcla?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Gain(Cielo): el cálculo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Tres ramas. Nublado ya es puro (4 Sí). Eso vale mucho.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2194560" cy="45720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Cielo =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371600"/>
            <a:ext cx="1828800" cy="45720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37160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Ejemplos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1371600"/>
            <a:ext cx="2011680" cy="45720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3716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Sí / 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1371600"/>
            <a:ext cx="2194560" cy="45720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3716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H(Sv)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371600"/>
            <a:ext cx="2194560" cy="45720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13716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|Sv|/|S| · 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828800"/>
            <a:ext cx="219456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8288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Soleado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1828800"/>
            <a:ext cx="182880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182880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1828800"/>
            <a:ext cx="201168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18288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2 /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1828800"/>
            <a:ext cx="219456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8288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0.971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20" y="1828800"/>
            <a:ext cx="219456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2520" y="18288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0.347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28600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2860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Nublado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228600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80" y="228600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228600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22860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4 / 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228600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2860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228600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20" y="22860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2743200"/>
            <a:ext cx="219456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27432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Lluvia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97480" y="2743200"/>
            <a:ext cx="182880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97480" y="2743200"/>
            <a:ext cx="1828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26280" y="2743200"/>
            <a:ext cx="201168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6280" y="2743200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3 / 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37960" y="2743200"/>
            <a:ext cx="219456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27432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0.971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32520" y="2743200"/>
            <a:ext cx="2194560" cy="45720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32520" y="274320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2C3E50"/>
                </a:solidFill>
                <a:latin typeface="Calibri"/>
              </a:rPr>
              <a:t>0.347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3383280"/>
            <a:ext cx="11155680" cy="265176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36118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C59"/>
                </a:solidFill>
                <a:latin typeface="Calibri"/>
              </a:rPr>
              <a:t>Gain(S, Cielo) = 0.940 − (0.347 + 0 + 0.347) ≈ 0.247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41605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Nublado no aporta residual: en esos 4 días siempre se juega. Una hoja Sí.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Soleado y lluvia siguen mezclados: ahí hará falta otra pregunta.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Hay que comparar este 0.247 con Gain de Temperatura, Humedad y Viento.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Cielo gana la raíz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ID3 elige el mayor Gain. Los demás informan menos en S entero.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3108960" cy="50292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Atributo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1371600"/>
            <a:ext cx="2377440" cy="50292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3716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Gain(S, 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371600"/>
            <a:ext cx="4937760" cy="502920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371600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Qué pasa al partir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874520"/>
            <a:ext cx="3108960" cy="502920"/>
          </a:xfrm>
          <a:prstGeom prst="rect">
            <a:avLst/>
          </a:prstGeom>
          <a:solidFill>
            <a:srgbClr val="FEF6DC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74520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F2C59"/>
                </a:solidFill>
                <a:latin typeface="Calibri"/>
              </a:rPr>
              <a:t>Cielo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1874520"/>
            <a:ext cx="2377440" cy="502920"/>
          </a:xfrm>
          <a:prstGeom prst="rect">
            <a:avLst/>
          </a:prstGeom>
          <a:solidFill>
            <a:srgbClr val="FEF6DC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187452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F2C59"/>
                </a:solidFill>
                <a:latin typeface="Calibri"/>
              </a:rPr>
              <a:t>0.247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874520"/>
            <a:ext cx="4937760" cy="502920"/>
          </a:xfrm>
          <a:prstGeom prst="rect">
            <a:avLst/>
          </a:prstGeom>
          <a:solidFill>
            <a:srgbClr val="FEF6DC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1874520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F2C59"/>
                </a:solidFill>
                <a:latin typeface="Calibri"/>
              </a:rPr>
              <a:t>Una rama pura (nublado). El mejor test.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377440"/>
            <a:ext cx="3108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377440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Humedad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11880" y="237744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237744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0.152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2377440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2377440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Ayuda, pero menos que Cielo.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880360"/>
            <a:ext cx="310896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880360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Viento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11880" y="2880360"/>
            <a:ext cx="237744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288036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0.048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2880360"/>
            <a:ext cx="493776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2880360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Casi no mueve la mezcla.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383280"/>
            <a:ext cx="3108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383280"/>
            <a:ext cx="3108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Temperatura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11880" y="338328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80" y="338328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0.029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3383280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3383280"/>
            <a:ext cx="4937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Casi irrelevante en la raíz.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160520"/>
            <a:ext cx="11155680" cy="1874519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38912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2C3E50"/>
                </a:solidFill>
                <a:latin typeface="Calibri"/>
              </a:rPr>
              <a:t>Raíz = Cielo. Recursión: en Soleado se vuelve a calcular Gain (ya sin Cielo) y gana Humedad. En Lluvia gana Viento. En Nublado no se recursiona: es hoja Sí.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El árbol que sale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14 ejemplos bastan para un árbol que clasifica bien el conjunto de entrenamiento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298448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0F2C59"/>
          </a:solidFill>
          <a:ln w="15875"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298448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Cielo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1938528"/>
            <a:ext cx="9006840" cy="27432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2472" y="1801368"/>
            <a:ext cx="27432" cy="13716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4480" y="1938528"/>
            <a:ext cx="27432" cy="18288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62472" y="1938528"/>
            <a:ext cx="27432" cy="18288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61320" y="1938528"/>
            <a:ext cx="27432" cy="18288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965960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soleado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965960"/>
            <a:ext cx="1737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nublado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1965960"/>
            <a:ext cx="16459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lluvia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267712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F2C59"/>
          </a:solidFill>
          <a:ln w="15875"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267712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Humedad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2267712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B7A4E"/>
          </a:solidFill>
          <a:ln w="15875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267712"/>
            <a:ext cx="2011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2267712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F2C59"/>
          </a:solidFill>
          <a:ln w="15875"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2267712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Viento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944368"/>
            <a:ext cx="2377440" cy="27432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00200" y="2724912"/>
            <a:ext cx="27432" cy="219456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2944368"/>
            <a:ext cx="27432" cy="18288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80360" y="2944368"/>
            <a:ext cx="27432" cy="18288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" y="2962656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alta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2962656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normal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" y="3218688"/>
            <a:ext cx="1097280" cy="411480"/>
          </a:xfrm>
          <a:prstGeom prst="roundRect">
            <a:avLst>
              <a:gd name="adj" fmla="val 12000"/>
            </a:avLst>
          </a:prstGeom>
          <a:solidFill>
            <a:srgbClr val="A83B3B"/>
          </a:solidFill>
          <a:ln w="15875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" y="3218688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0" y="3218688"/>
            <a:ext cx="1097280" cy="411480"/>
          </a:xfrm>
          <a:prstGeom prst="roundRect">
            <a:avLst>
              <a:gd name="adj" fmla="val 12000"/>
            </a:avLst>
          </a:prstGeom>
          <a:solidFill>
            <a:srgbClr val="1B7A4E"/>
          </a:solidFill>
          <a:ln w="15875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8880" y="3218688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2944368"/>
            <a:ext cx="2468880" cy="27432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625328" y="2724912"/>
            <a:ext cx="27432" cy="219456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06840" y="2944368"/>
            <a:ext cx="27432" cy="18288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75720" y="2944368"/>
            <a:ext cx="27432" cy="18288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2962656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fuerte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2962656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D7E"/>
                </a:solidFill>
                <a:latin typeface="Calibri"/>
              </a:rPr>
              <a:t>débil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41080" y="3218688"/>
            <a:ext cx="1051560" cy="411480"/>
          </a:xfrm>
          <a:prstGeom prst="roundRect">
            <a:avLst>
              <a:gd name="adj" fmla="val 12000"/>
            </a:avLst>
          </a:prstGeom>
          <a:solidFill>
            <a:srgbClr val="A83B3B"/>
          </a:solidFill>
          <a:ln w="15875">
            <a:solidFill>
              <a:srgbClr val="A8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1080" y="3218688"/>
            <a:ext cx="1051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35640" y="3218688"/>
            <a:ext cx="1051560" cy="411480"/>
          </a:xfrm>
          <a:prstGeom prst="roundRect">
            <a:avLst>
              <a:gd name="adj" fmla="val 12000"/>
            </a:avLst>
          </a:prstGeom>
          <a:solidFill>
            <a:srgbClr val="1B7A4E"/>
          </a:solidFill>
          <a:ln w="15875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5640" y="3218688"/>
            <a:ext cx="1051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Sí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3886200"/>
            <a:ext cx="11155680" cy="219456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11480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Soleado + humedad alta → No (días 1, 2, 8).  Soleado + humedad normal → Sí (9, 11).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Nublado → Sí siempre (3, 7, 12, 13).  Lluvia + viento fuerte → No (6, 14).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Un día nublado, frío y con viento fuerte se clasifica Sí sin mirar lo demás.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ID3 (esquema)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Recursión sobre subconjuntos. Voraz: no se retracta de un test ya puesto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53312"/>
            <a:ext cx="11155680" cy="4709160"/>
          </a:xfrm>
          <a:prstGeom prst="roundRect">
            <a:avLst>
              <a:gd name="adj" fmla="val 12000"/>
            </a:avLst>
          </a:prstGeom>
          <a:solidFill>
            <a:srgbClr val="0A1F40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00200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ID3(ejemplos, atributos, default):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si ejemplos está vacío:            devolver hoja(default)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si todos tienen la misma clase:    devolver hoja(esa clase)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si atributos está vacío:           devolver hoja(mayoría)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A ← atributo con mayor Gain(ejemplos, ·)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árbol ← nodo(A)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para cada valor v de A: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    Sv ← { x ∈ ejemplos | A(x) = v }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    hijo ← ID3(Sv, atributos − {A}, mayoría(ejemplos))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    conectar rama A = v hacia hijo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    devolver árbol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Sobreajuste y poda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 árbol que memoriza el ruido acierta el entrenamiento y falla en lo nuevo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461772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El 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ID3 sigue partiendo hasta hojas puras.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Con pocos ejemplos, un atributo irrelevante puede «ganar» por casualidad.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El árbol se hace profundo: reglas que solo valen para un día.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Error de entrenamiento ↓, error real ↑. Eso es sobreajuste.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461772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Qué se hace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Parar antes: no partir nodos con pocos ejemplos.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Poda posterior: quitar ramas si no ayudan en un conjunto de validación (C4.5).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CART usa Gini en vez de entropía y poda por complejidad.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Atributo continuo: se prueba un umbral x ≤ θ, no cada valor.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Cuándo usar un árbol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Legible y rápido de evaluar; no es el mejor en todo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461772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Buen encaje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Quieres explicar la decisión (medicina, crédito, reglas de negocio).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Atributos discretos, o numéricos con umbrales claros.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Interacciones del tipo «si A y no B».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Pocos datos relativos a un modelo opaco enorme.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461772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4592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Con cuidado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XOR / paridad: un árbol necesita muchas ramas; no es compacto.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Relaciones lineales suaves: un umbral parte mal un plano.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Clases desbalanceadas: Gain se sesga; hay que vigilar la métrica.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Bosques (random forest) ganan precisión y pierden la historia única.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Árboles de decisión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Ideas para llevar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 árbol es un conjunto de reglas; ID3 elige las preguntas por Gain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Leer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Nodo = test, rama = valor, hoja = clase. Un caso nuevo solo sigue un camino.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Entropía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Mide mezcla. H = 0 es puro. Gain = H antes − H ponderada después de partir.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ID3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Voraz y recursivo. En tenis, Cielo en la raíz; luego Humedad o Viento.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Después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Poda contra el sobreajuste. Gini / umbrales / bosques son la misma familia.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