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</a:rPr>
              <a:t>De un clasificador lineal a una red con capa oculta:
XOR, paso hacia adelante y retropropagación.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B93A"/>
                </a:solidFill>
                <a:latin typeface="Calibri"/>
              </a:rPr>
              <a:t>Rosenblatt 1958  ·  Rumelhart et al. 1986  ·  AIMA, redes neuronales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El perceptrón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Una neurona: suma ponderada, sesgo y activación. Solo corta el plano.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Por qué XOR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Un hiperplano no basta. Hace falta una capa oculta.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El MLP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Arquitectura 2–2–1, paso hacia adelante y funciones 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Aprender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Pérdida, descenso por gradiente y la idea de backprop.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Un clasificador lineal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perceptrón (y la regresión logística) parten el espacio con un hiperplano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11155680" cy="4572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Entrada x = (x1, …, xn). La neurona calcula z = w · x + b  y luego  ŷ = f(z).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Si f es un umbral (o un sigmoide y un corte en 0.5), la decisión es un lado del plano w · x + b = 0.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AND y OR son linealmente separables: un solo perceptrón basta.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XOR no: (0,1) y (1,0) son 1; (0,0) y (1,1) son 0. Ninguna recta los separa.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La salida: componer neuronas. Eso es un perceptrón multicapa (MLP).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Una neurona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Pesos, sesgo, suma y una no linealidad 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ŷ = f( w1 x1 + w2 x2 + … + wn xn + b )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1783080"/>
            <a:ext cx="777240" cy="777240"/>
          </a:xfrm>
          <a:prstGeom prst="ellipse">
            <a:avLst/>
          </a:prstGeom>
          <a:solidFill>
            <a:srgbClr val="1B6CA8"/>
          </a:solidFill>
          <a:ln w="19050">
            <a:solidFill>
              <a:srgbClr val="E8B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x1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2130552"/>
            <a:ext cx="1554480" cy="36576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1856231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w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2606040"/>
            <a:ext cx="777240" cy="777240"/>
          </a:xfrm>
          <a:prstGeom prst="ellipse">
            <a:avLst/>
          </a:prstGeom>
          <a:solidFill>
            <a:srgbClr val="1B6CA8"/>
          </a:solidFill>
          <a:ln w="19050">
            <a:solidFill>
              <a:srgbClr val="E8B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6060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x2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2953512"/>
            <a:ext cx="1554480" cy="36576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267919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w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3429000"/>
            <a:ext cx="777240" cy="777240"/>
          </a:xfrm>
          <a:prstGeom prst="ellipse">
            <a:avLst/>
          </a:prstGeom>
          <a:solidFill>
            <a:srgbClr val="1B6CA8"/>
          </a:solidFill>
          <a:ln w="19050">
            <a:solidFill>
              <a:srgbClr val="E8B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2900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x3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3776472"/>
            <a:ext cx="1554480" cy="36576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35021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w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251960"/>
            <a:ext cx="777240" cy="777240"/>
          </a:xfrm>
          <a:prstGeom prst="ellipse">
            <a:avLst/>
          </a:prstGeom>
          <a:solidFill>
            <a:srgbClr val="1B6CA8"/>
          </a:solidFill>
          <a:ln w="19050">
            <a:solidFill>
              <a:srgbClr val="E8B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519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xn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4599432"/>
            <a:ext cx="1554480" cy="36576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3080" y="432511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w</a:t>
            </a:r>
          </a:p>
        </p:txBody>
      </p:sp>
      <p:sp>
        <p:nvSpPr>
          <p:cNvPr id="27" name="Oval 26"/>
          <p:cNvSpPr/>
          <p:nvPr/>
        </p:nvSpPr>
        <p:spPr>
          <a:xfrm>
            <a:off x="3520440" y="2880360"/>
            <a:ext cx="777240" cy="777240"/>
          </a:xfrm>
          <a:prstGeom prst="ellipse">
            <a:avLst/>
          </a:prstGeom>
          <a:solidFill>
            <a:srgbClr val="0F2C59"/>
          </a:solidFill>
          <a:ln w="19050">
            <a:solidFill>
              <a:srgbClr val="E8B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28803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227832"/>
            <a:ext cx="1051560" cy="36576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40680" y="2880360"/>
            <a:ext cx="1234440" cy="777240"/>
          </a:xfrm>
          <a:prstGeom prst="roundRect">
            <a:avLst>
              <a:gd name="adj" fmla="val 10000"/>
            </a:avLst>
          </a:prstGeom>
          <a:solidFill>
            <a:srgbClr val="E8B93A"/>
          </a:solidFill>
          <a:ln w="15875">
            <a:solidFill>
              <a:srgbClr val="E8B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2880360"/>
            <a:ext cx="1234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2C59"/>
                </a:solidFill>
                <a:latin typeface="Calibri"/>
              </a:rPr>
              <a:t>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971800"/>
            <a:ext cx="548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F2C59"/>
                </a:solidFill>
                <a:latin typeface="Calibri"/>
              </a:rPr>
              <a:t>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1417320"/>
            <a:ext cx="425196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164592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Piezas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2148840"/>
            <a:ext cx="3794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xi : entradas (0/1, o reales).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wi : peso. Se aprende.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b : sesgo (un umbral aprendible).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z : pre-activación, lineal.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f : umbral, sigmoide, tanh, ReLU…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Sin f no lineal, apilar capas sigue siendo un solo plano.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XOR: un plano no alcanza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Las clases positivas no son un conjunto convexo en el plano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1463040" cy="475488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x1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1371600"/>
            <a:ext cx="1463040" cy="475488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1371600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x2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371600"/>
            <a:ext cx="1645920" cy="475488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371600"/>
            <a:ext cx="1645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371600"/>
            <a:ext cx="1828800" cy="475488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1371600"/>
            <a:ext cx="1828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XOR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847088"/>
            <a:ext cx="1463040" cy="475488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847088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1847088"/>
            <a:ext cx="1463040" cy="475488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1847088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1847088"/>
            <a:ext cx="1645920" cy="475488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1847088"/>
            <a:ext cx="1645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1847088"/>
            <a:ext cx="1828800" cy="475488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1847088"/>
            <a:ext cx="1828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322576"/>
            <a:ext cx="1463040" cy="475488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322576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2322576"/>
            <a:ext cx="1463040" cy="475488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2322576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2322576"/>
            <a:ext cx="1645920" cy="475488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2322576"/>
            <a:ext cx="1645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2322576"/>
            <a:ext cx="1828800" cy="475488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2322576"/>
            <a:ext cx="1828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798064"/>
            <a:ext cx="1463040" cy="475488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798064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5960" y="2798064"/>
            <a:ext cx="1463040" cy="475488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65960" y="2798064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2798064"/>
            <a:ext cx="1645920" cy="475488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2798064"/>
            <a:ext cx="1645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2798064"/>
            <a:ext cx="1828800" cy="475488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2798064"/>
            <a:ext cx="1828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273552"/>
            <a:ext cx="1463040" cy="475488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273552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65960" y="3273552"/>
            <a:ext cx="1463040" cy="475488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65960" y="3273552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29000" y="3273552"/>
            <a:ext cx="1645920" cy="475488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29000" y="3273552"/>
            <a:ext cx="1645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74920" y="3273552"/>
            <a:ext cx="1828800" cy="475488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74920" y="3273552"/>
            <a:ext cx="1828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0" y="1371600"/>
            <a:ext cx="438912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43800" y="1600200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Lectura geométrica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2103120"/>
            <a:ext cx="3977639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AND: los 1 están en una esquina. Una recta los aísla.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XOR: los 1 están en las dos esquinas opuestas.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Cualquier recta deja un 1 del lado de los 0, o al revés.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Hace falta combinar dos cortes: «al menos uno, pero no los dos».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Perceptrón multicapa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Capas: cada una es un conjunto de neuronas que ven la anterior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3258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6D7E"/>
                </a:solidFill>
                <a:latin typeface="Calibri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3258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6D7E"/>
                </a:solidFill>
                <a:latin typeface="Calibri"/>
              </a:rPr>
              <a:t>oculta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13258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6D7E"/>
                </a:solidFill>
                <a:latin typeface="Calibri"/>
              </a:rPr>
              <a:t>salida</a:t>
            </a:r>
          </a:p>
        </p:txBody>
      </p:sp>
      <p:sp>
        <p:nvSpPr>
          <p:cNvPr id="13" name="Oval 12"/>
          <p:cNvSpPr/>
          <p:nvPr/>
        </p:nvSpPr>
        <p:spPr>
          <a:xfrm>
            <a:off x="1691640" y="1965960"/>
            <a:ext cx="777240" cy="777240"/>
          </a:xfrm>
          <a:prstGeom prst="ellipse">
            <a:avLst/>
          </a:prstGeom>
          <a:solidFill>
            <a:srgbClr val="1B6CA8"/>
          </a:solidFill>
          <a:ln w="19050">
            <a:solidFill>
              <a:srgbClr val="E8B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19659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x1</a:t>
            </a:r>
          </a:p>
        </p:txBody>
      </p:sp>
      <p:sp>
        <p:nvSpPr>
          <p:cNvPr id="15" name="Oval 14"/>
          <p:cNvSpPr/>
          <p:nvPr/>
        </p:nvSpPr>
        <p:spPr>
          <a:xfrm>
            <a:off x="1691640" y="3794760"/>
            <a:ext cx="777240" cy="777240"/>
          </a:xfrm>
          <a:prstGeom prst="ellipse">
            <a:avLst/>
          </a:prstGeom>
          <a:solidFill>
            <a:srgbClr val="1B6CA8"/>
          </a:solidFill>
          <a:ln w="19050">
            <a:solidFill>
              <a:srgbClr val="E8B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37947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x2</a:t>
            </a:r>
          </a:p>
        </p:txBody>
      </p:sp>
      <p:sp>
        <p:nvSpPr>
          <p:cNvPr id="17" name="Oval 16"/>
          <p:cNvSpPr/>
          <p:nvPr/>
        </p:nvSpPr>
        <p:spPr>
          <a:xfrm>
            <a:off x="5623560" y="1965960"/>
            <a:ext cx="777240" cy="777240"/>
          </a:xfrm>
          <a:prstGeom prst="ellipse">
            <a:avLst/>
          </a:prstGeom>
          <a:solidFill>
            <a:srgbClr val="0F2C59"/>
          </a:solidFill>
          <a:ln w="19050">
            <a:solidFill>
              <a:srgbClr val="E8B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19659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19" name="Oval 18"/>
          <p:cNvSpPr/>
          <p:nvPr/>
        </p:nvSpPr>
        <p:spPr>
          <a:xfrm>
            <a:off x="5623560" y="3794760"/>
            <a:ext cx="777240" cy="777240"/>
          </a:xfrm>
          <a:prstGeom prst="ellipse">
            <a:avLst/>
          </a:prstGeom>
          <a:solidFill>
            <a:srgbClr val="0F2C59"/>
          </a:solidFill>
          <a:ln w="19050">
            <a:solidFill>
              <a:srgbClr val="E8B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37947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21" name="Oval 20"/>
          <p:cNvSpPr/>
          <p:nvPr/>
        </p:nvSpPr>
        <p:spPr>
          <a:xfrm>
            <a:off x="9646920" y="2880360"/>
            <a:ext cx="777240" cy="777240"/>
          </a:xfrm>
          <a:prstGeom prst="ellipse">
            <a:avLst/>
          </a:prstGeom>
          <a:solidFill>
            <a:srgbClr val="E8B93A"/>
          </a:solidFill>
          <a:ln w="19050">
            <a:solidFill>
              <a:srgbClr val="E8B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8803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033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D7E"/>
                </a:solidFill>
                <a:latin typeface="Calibri"/>
              </a:rPr>
              <a:t>salida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2304288"/>
            <a:ext cx="3063240" cy="22860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14600" y="2304288"/>
            <a:ext cx="3063240" cy="22860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14600" y="2304288"/>
            <a:ext cx="3063240" cy="22860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14600" y="4133087"/>
            <a:ext cx="3063240" cy="22860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2304288"/>
            <a:ext cx="3154680" cy="27432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46520" y="4133087"/>
            <a:ext cx="3154680" cy="27432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4846320"/>
            <a:ext cx="11155680" cy="13716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029200"/>
            <a:ext cx="106070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Arquitectura 2–2–1: dos entradas, dos unidades ocultas, una salida. Cada flecha es un peso. Las ocultas ven x; la salida ve h1 y h2, no x en bruto. Eso permite regiones de decisión que ya no son un solo plano.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Paso hacia adelante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De x a ŷ, capa por capa. Nada se «adivina»: es álgebra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104241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2C59"/>
                </a:solidFill>
                <a:latin typeface="Calibri"/>
              </a:rPr>
              <a:t>Capa oculta (unidad j):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2C59"/>
                </a:solidFill>
                <a:latin typeface="Calibri"/>
              </a:rPr>
              <a:t>    zⱼ = Σᵢ  wⱼᵢ xᵢ  +  bⱼ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2C59"/>
                </a:solidFill>
                <a:latin typeface="Calibri"/>
              </a:rPr>
              <a:t>    hⱼ = f(zⱼ)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2C59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2C59"/>
                </a:solidFill>
                <a:latin typeface="Calibri"/>
              </a:rPr>
              <a:t>Salida: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2C59"/>
                </a:solidFill>
                <a:latin typeface="Calibri"/>
              </a:rPr>
              <a:t>    u = Σⱼ  vⱼ hⱼ  +  c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2C59"/>
                </a:solidFill>
                <a:latin typeface="Calibri"/>
              </a:rPr>
              <a:t>    ŷ = g(u)     (otra activación; a menudo sigmoide o softmax)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2C59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2C59"/>
                </a:solidFill>
                <a:latin typeface="Calibri"/>
              </a:rPr>
              <a:t>Todo el MLP es  ŷ = g( V f(W x + b) + c ).  f no lineal es lo que importa.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Funciones de activación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Sin no linealidad, varias capas colapsan a una sola matriz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Umbral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74520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f(z) = 1 si z ≥ 0, si no 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4892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Útil para XOR a mano. No es derivable: no hay backprop clásico.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37160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5448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Sigmoide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20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σ(z) = 1 / (1 + e^{-z})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4892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Clásico en MLP. Saturation: gradiente ~ 0 si |z| es grande.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4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tanh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tanh(z) ∈ (−1,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4892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Centrada en 0. Mismo problema de saturación.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79476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97764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ReLU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97680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max(0, z)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00600"/>
            <a:ext cx="4892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Por defecto hoy. Simple, evita saturar en el lado positivo.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XOR a mano: dos cortes y un 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Unidades umbral. h1 ≈ OR, h2 ≈ NAND, ŷ ≈ AND(h1, h2)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62356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Pesos (umbral: 1 si z ≥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50749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h1 (OR):   z = x1 + x2 − 0.5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h2 (NAND): z = −x1 − x2 + 1.5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ŷ (AND):   z = h1 + h2 − 1.5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Cada oculta es un perceptrón. La salida combina sus decisiones.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XOR = «al menos uno activo» y «no los dos».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Por qué 2 ocultas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0312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Primera capa: dos rectas en el plano (x1, x2).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El espacio (h1, h2) vuelve a ser 0/1.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Ahí XOR ya es lineal (es un AND).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La capa oculta cambia de representación.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Eso es el truco de todo MLP, no solo XOR.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Los cuatro casos de XOR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Con esos pesos umbral, la red acierta los 4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17320"/>
            <a:ext cx="1234440" cy="50292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x1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417320"/>
            <a:ext cx="1234440" cy="50292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41732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x2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417320"/>
            <a:ext cx="1554480" cy="50292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41732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h1 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1417320"/>
            <a:ext cx="1554480" cy="50292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41732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h2 NAND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417320"/>
            <a:ext cx="1554480" cy="50292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41732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ŷ 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1417320"/>
            <a:ext cx="1554480" cy="50292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141732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XOR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1920240"/>
            <a:ext cx="1234440" cy="502920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192024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1920240"/>
            <a:ext cx="1234440" cy="502920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192024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1920240"/>
            <a:ext cx="1554480" cy="502920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192024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1920240"/>
            <a:ext cx="155448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192024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1920240"/>
            <a:ext cx="1554480" cy="502920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92024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1920240"/>
            <a:ext cx="1554480" cy="502920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192024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2423160"/>
            <a:ext cx="1234440" cy="502920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242316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2423160"/>
            <a:ext cx="123444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0" y="242316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2423160"/>
            <a:ext cx="155448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242316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00600" y="2423160"/>
            <a:ext cx="155448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242316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2423160"/>
            <a:ext cx="155448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242316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09560" y="2423160"/>
            <a:ext cx="155448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242316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2926080"/>
            <a:ext cx="123444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292608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1680" y="2926080"/>
            <a:ext cx="1234440" cy="502920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1680" y="292608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46120" y="2926080"/>
            <a:ext cx="155448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6120" y="292608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00600" y="2926080"/>
            <a:ext cx="155448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0600" y="292608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2926080"/>
            <a:ext cx="155448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292608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09560" y="2926080"/>
            <a:ext cx="155448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09560" y="292608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7240" y="3429000"/>
            <a:ext cx="123444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342900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11680" y="3429000"/>
            <a:ext cx="123444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11680" y="342900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46120" y="3429000"/>
            <a:ext cx="1554480" cy="502920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46120" y="342900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7A4E"/>
                </a:solidFill>
                <a:latin typeface="Calibri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00600" y="3429000"/>
            <a:ext cx="1554480" cy="502920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00600" y="342900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55080" y="3429000"/>
            <a:ext cx="1554480" cy="502920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5080" y="342900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09560" y="3429000"/>
            <a:ext cx="1554480" cy="502920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09560" y="342900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83B3B"/>
                </a:solidFill>
                <a:latin typeface="Calibri"/>
              </a:rPr>
              <a:t>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2920" y="4160520"/>
            <a:ext cx="11155680" cy="1874519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" y="4389120"/>
            <a:ext cx="105156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Comprueba (1,1): OR = 1, NAND = 0, AND(1,0) = 0. Comprueba (0,1): OR = 1, NAND = 1, AND = 1. En clase se pueden calcular los z en la pizarra. En la práctica no fijamos estos pesos: se aprenden.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Pérdida y descenso por gradiente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Entrenar = mover todos los pesos para bajar el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62356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Error cuadrático (binario / regresión)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5074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C59"/>
                </a:solidFill>
                <a:latin typeface="Calibri"/>
              </a:rPr>
              <a:t>L = ½ (y − ŷ)²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5074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y es la etiqueta; ŷ la predicción de la red.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Clasificación moderna: a menudo entropía cruzada.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Queremos min_w L en el conjunto de entrenamiento.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6002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Actualización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10312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w ← w − η  ∂L/∂w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880360"/>
            <a:ext cx="48463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η : tasa de aprendizaje (p. ej. 0.1, 0.01).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Hace falta ∂L/∂w para cada peso, también los de la oculta.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Ahí entra la regla de la cadena: retropropagación.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Idea de la retropropagación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error de la salida se reparte hacia atrás, peso por peso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1051560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∂L/∂wⱼᵢ  =  (∂L/∂ŷ)  ·  (∂ŷ/∂hⱼ)  ·  (∂hⱼ/∂zⱼ)  ·  (∂zⱼ/∂wⱼᵢ)
Cada factor es local: derivada de f, de la suma, del peso. Se reutilizan de la salida hacia la entrada.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49039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913631"/>
            <a:ext cx="23408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187951"/>
            <a:ext cx="23408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1. 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736591"/>
            <a:ext cx="2340864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Guardar z y h de cada capa. Calcular 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749039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3913631"/>
            <a:ext cx="23408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4187951"/>
            <a:ext cx="23408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2. Salida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4736591"/>
            <a:ext cx="2340864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δ de la última capa: cuánto empujó ŷ al error.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49039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913631"/>
            <a:ext cx="23408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4187951"/>
            <a:ext cx="23408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3. Hacia atrás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736591"/>
            <a:ext cx="2340864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δ oculta = (pesos hacia delante) × δ siguiente × f'(z).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749039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8" y="3913631"/>
            <a:ext cx="23408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4187951"/>
            <a:ext cx="23408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4.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4736591"/>
            <a:ext cx="2340864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Δw ∝ −η · δ · (activación de la capa de origen).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Bucle de entrenamiento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Estocástico: un ejemplo (o un mini-lote) a la vez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4663440"/>
          </a:xfrm>
          <a:prstGeom prst="roundRect">
            <a:avLst>
              <a:gd name="adj" fmla="val 10000"/>
            </a:avLst>
          </a:prstGeom>
          <a:solidFill>
            <a:srgbClr val="0A1F40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104241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inicializar W, b, V, c  (pequeños aleatorios; no ceros en la oculta)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para época = 1 … E: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    para cada ejemplo (x, y)  [o mini-lote]: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        ŷ ← FORWARD(x)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        L ← pérdida(y, ŷ)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        gradientes ← BACKPROP(L)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        pesos ← pesos − η · gradientes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devolver la 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Qué puede representar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Una capa oculta basta en teoría; en la práctica importan profundidad y datos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Aproximación universal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Con suficientes unidades ocultas, un MLP con σ (o ReLU) puede aproximar funciones continuas en un compacto.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«Puede» no dice cuántas neuronas ni cómo entrenar.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XOR necesita 2 ocultas umbral; funciones raras pueden pedir muchas.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Capas más profundas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Componer no linealidades: features más abstractas (visión, lenguaje).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Más parámetros → más riesgo de memorizar.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Históricamente el sigmoide profundo se estancaba (gradiente que se desvanece); ReLU y residuales ayudaron.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En la práctica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XOR cabe en una diapositiva; un MLP real se regula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17904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517904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Si es grande, el error oscila. Si es minúscula, no aprende a tiempo.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76272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40864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Inicialización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40864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Simetría: si todas las ocultas empiezan iguales, siguen iguales. Ruido pequeño.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99232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63824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Épocas / lotes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163824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Ver los datos muchas veces. Mini-lotes suavizan el gradiente.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22192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86784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Sobreajuste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86784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Red enorme + pocos ejemplos. Parar con validación, regularizar, dropout.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45152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09744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Escala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809744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Normalizar entradas ayuda a σ y a η. ReLU es menos sensible.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468112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32704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Más que MLP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632704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Convoluciones (imágenes), atención (texto): mismas ideas, otra arquitectura.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Cuándo un MLP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Caja negra diferenciable: potente si hay datos y una f razonable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Buen encaje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Relación no lineal entre x e y, y puedes etiquetar ejemplos.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No hay un modelo analítico (caja negra).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Vectores de tamaño fijo: tabular, embeddings, píxeles aplanados (a pequeña escala).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Quieres una función diferenciable para seguir entrenando.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Con cuidado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Si AND basta, no montes una red: un umbral es interpretable.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Pocos datos: un árbol o un lineal regularizado puede ganar.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Imágenes grandes / texto: usa la arquitectura del dominio, no un MLP plano.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No hay garantía de mínimo global; se mira validación, no solo L de train.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Perceptrón multicapa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Ideas para llevar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La no linealidad y la capa oculta son el salto; backprop es cómo se ajusta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Perceptrón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Un plano. AND/OR sí; XOR 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MLP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Ocultas reescriben x. XOR: OR + NAND y un 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z = Wx+b, h = f(z), ŷ = g(Vh+c).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Backprop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Cadena de derivadas. w ← w − η ∂L/∂w. Fijar pesos a mano es la excepción de clase.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