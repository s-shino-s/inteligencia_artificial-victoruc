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B93A"/>
                </a:solidFill>
                <a:latin typeface="Calibri"/>
              </a:rPr>
              <a:t>CURSO DE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Redes bayesianas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0DC"/>
                </a:solidFill>
                <a:latin typeface="Calibri"/>
              </a:rPr>
              <a:t>Independencia condicional, grafos y un ejemplo pequeño
(lluvia, aspersor y pasto mojado).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B93A"/>
                </a:solidFill>
                <a:latin typeface="Calibri"/>
              </a:rPr>
              <a:t>Razonamiento probabilístico    ·    Russell &amp; Norvig, AIMA caps. 13–14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Agenda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Incertidumbre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Por qué la lógica no basta y por qué la conjunta no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La 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DAG + tablas de probabilidad condicional (CPT).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Ejemplo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Lluvia, aspersor, pasto mojado: números y una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Inferencia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Enumeración, explaining away, y qué preguntar a la 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Por qué probabilidad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Los agentes no ven el mundo completo ni con certeza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11155680" cy="4526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105156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En el Wumpus, una brisa no dice cuál casilla tiene el pozo: hay varias hipótesis.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La lógica solo admite verdadero / falso / desconocido. No pesa «más plausible».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Queremos P(hipótesis | evidencia): actualizar creencias cuando llega un percepto.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Una distribución conjunta sobre n variables binarias tiene 2ⁿ − 1 números independientes.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Las redes bayesianas compactan esa conjunta usando independencia condicional.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La conjunta no escala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Bayes es barato de escribir y caro de tabular sin estructura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Sin estructura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n = 10 variables booleanas → 1023 parámetros.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n = 30 → más de mil millones.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Imposible de estimar ni de almacenar a mano.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Cada query exige sumar casi toda la tabla.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Con independencia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Si cada variable solo depende de unos pocos padres, cada CPT es pequeña.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P(X1,…,Xn) = Πi P(Xi | Parents(Xi)).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Una red de 30 nodos con 3 padres: decenas de números, no miles de millones.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Eso es una red bayesiana: grafo + CPTs.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Qué es una red bayesiana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Grafo dirigido acíclico (DAG) + una CPT por variable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89888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91056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Nodos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91056"/>
            <a:ext cx="8458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Variables aleatorias (a menudo booleanas en los ejemplos de clase).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0008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51176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Aristas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551176"/>
            <a:ext cx="8458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Influencia directa: de padres a hijo. No hay ciclos.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10128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CPT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511296"/>
            <a:ext cx="8458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P(Xi | padres de Xi). Si no hay padres, una probabilidad a priori.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70248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71416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Semántica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4471416"/>
            <a:ext cx="8458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Cada nodo es independiente de sus no-descendientes dados sus padres.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31536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Conjunta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431536"/>
            <a:ext cx="8458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P(x1,…,xn) = Πi P(xi | parents(Xi)).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Ejemplo: pasto mojado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Tres variables booleanas. Lluvia y aspersor son independientes a priori.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38328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C59"/>
                </a:solidFill>
                <a:latin typeface="Calibri"/>
              </a:rPr>
              <a:t>Lluvia  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2C3E50"/>
                </a:solidFill>
                <a:latin typeface="Calibri"/>
              </a:rPr>
              <a:t>P(L=t) = 0.20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417320"/>
            <a:ext cx="338328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6002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C59"/>
                </a:solidFill>
                <a:latin typeface="Calibri"/>
              </a:rPr>
              <a:t>Aspersor 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0574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2C3E50"/>
                </a:solidFill>
                <a:latin typeface="Calibri"/>
              </a:rPr>
              <a:t>P(A=t) =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17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B6CA8"/>
                </a:solidFill>
                <a:latin typeface="Calibri"/>
              </a:rPr>
              <a:t>↓                         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3429000"/>
            <a:ext cx="438912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40" y="36118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2C59"/>
                </a:solidFill>
                <a:latin typeface="Calibri"/>
              </a:rPr>
              <a:t>Pasto mojado  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114800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2C3E50"/>
                </a:solidFill>
                <a:latin typeface="Calibri"/>
              </a:rPr>
              <a:t>P(P | L, A)  en la CPT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417320"/>
            <a:ext cx="35204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1645920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C59"/>
                </a:solidFill>
                <a:latin typeface="Calibri"/>
              </a:rPr>
              <a:t>Lectura del grafo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194560"/>
            <a:ext cx="31089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•  L y A no tienen padres: son causas.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•  P tiene dos padres: dos formas de mojar el pasto.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•  Conjunta: P(L,A,P) = P(L) P(A) P(P|L,A).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•  3 + 1×4 = 7 números, no 7 de una tabla 2³ (casi igual aquí; el ahorro crece con más nodos).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CPTs del ejemplo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t = verdadero, f = falso. Solo se lista P(· = t); P(f) = 1 − P(t)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365760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A prioris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03120"/>
            <a:ext cx="320040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P(L = t) = 0.20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P(L = f) = 0.80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P(A = t) = 0.10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P(A = f) = 0.90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L ⟂ A  (no hay arista entre ellas).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371600"/>
            <a:ext cx="726948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60020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P(P = t | L, 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10312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L = t,  A = t     →     0.99     (llueve y el aspersor: casi seguro mojado)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L = t,  A = f     →     0.90     (solo lluvia)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L = f,  A = t     →     0.80     (solo aspersor)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L = f,  A = f     →     0.05     (rocío / ruido)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Query de clase:  P(L = t | P = t)     «¿llovió, si el pasto está mojado?»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Cálculo: P(Lluvia | pasto mojado)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Enumeración: sumar la conjunta en los mundos donde P = 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1115568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106070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P(L=t, P=t) = Σ_A P(L=t) P(A) P(P=t | L=t, A)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            = 0.20×0.10×0.99  +  0.20×0.90×0.90  =  0.0198 + 0.162  =  0.1818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P(L=f, P=t) = 0.80×0.10×0.80  +  0.80×0.90×0.05  =  0.064 + 0.036  =  0.1000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P(P=t) = 0.1818 + 0.1000 = 0.2818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P(L=t | P=t) = 0.1818 / 0.2818  ≈  0.645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La creencia en lluvia pasa de 0.20 (a priori) a ≈ 0.65 (pasto mojado).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Explaining 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Si además vimos el aspersor, la lluvia deja de ser tan necesaria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1115568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106070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Ahora la evidencia es P = t y A = t (pasto mojado y aspersor encendido).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P(L=t | P=t, A=t)  ∝  P(L=t) P(A=t) P(P=t | L=t, A=t)  =  0.20×0.10×0.99  =  0.0198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P(L=f | P=t, A=t)  ∝  0.80×0.10×0.80  =  0.0640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Normalizar:  0.0198 / (0.0198+0.0640)  ≈  0.236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Pasto mojado solo: P(lluvia) ≈ 0.65.  Con aspersor observado: ≈ 0.24.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El aspersor «explica» lo mojado y reduce la necesidad de la lluvia. Eso es explaining away.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Tipos de pregunta a una 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Siempre: query + evidencia. El resto se suma (marginaliza)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6459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C59"/>
                </a:solidFill>
                <a:latin typeface="Calibri"/>
              </a:rPr>
              <a:t>Diagnóstico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468880"/>
            <a:ext cx="2468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P(causa | efecto)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33756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P(L | P)  — de lo observado a la causa.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6459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C59"/>
                </a:solidFill>
                <a:latin typeface="Calibri"/>
              </a:rPr>
              <a:t>Predicción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468880"/>
            <a:ext cx="2468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P(efecto | causa)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333756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P(P | L)  — si llueve, ¿se moja el pasto?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16459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C59"/>
                </a:solidFill>
                <a:latin typeface="Calibri"/>
              </a:rPr>
              <a:t>Explaining 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468880"/>
            <a:ext cx="2468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P(causa1 | efecto, causa2)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333756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P(L | P, A)  — una causa desplaza a la otra.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164592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C59"/>
                </a:solidFill>
                <a:latin typeface="Calibri"/>
              </a:rPr>
              <a:t>Intercausal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468880"/>
            <a:ext cx="2468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sin el efecto, L ⟂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333756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Sin ver P, lluvia y aspersor no se informan.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Inferencia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De la definición de la conjunta a un algoritmo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Enumeración (lo que hicimos)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Escribir P(query, evidencia, ocultas) con las CPT.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Fijar la evidencia; sumar sobre las ocultas.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Normalizar para que las hipótesis sumen 1.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Exacto, pero O(2^ocultas): bien para 3 nodos, no para 30.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Después en el curso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Eliminación de variables: factoriza las sumas.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Muestreo (likelihood weighting, MCMC) cuando la red es grande.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La estructura del grafo dice qué se puede omitir (d-separación).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Hoy basta: CPT + producto + suma + normalizar.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Razonamiento lógico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Oraciones verdaderas o falsas.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Entailment: se sigue o no se sigue.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FC / BC / resolución recorren reglas.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No hay «un poco más probable».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Razonamiento probabilístico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Variables con P(· | evidencia).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La misma evidencia mueve un número (0.20 → 0.65).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El grafo dice qué independencias usar.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Explaining away no existe en Horn.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Receta para el ejemplo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Tres pasos que se pueden repetir en el pizarrón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B6CA8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Grafo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63240"/>
            <a:ext cx="24231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L y A → P. Escribir P(L,A,P) = P(L) P(A) P(P|L,A).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691640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B6CA8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9456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Llenar CPT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063240"/>
            <a:ext cx="24231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A prioris 0.20 y 0.10. Cuatro filas para el pasto.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691640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B6CA8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19456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063240"/>
            <a:ext cx="24231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Fijar P=t, sumar sobre A, normalizar las dos hipótesis de 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78892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91640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B6CA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9456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Variante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063240"/>
            <a:ext cx="24231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Añadir A=t y repetir: explaining away.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Para llevar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111556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91640"/>
            <a:ext cx="10515600" cy="416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Una red bayesiana = DAG + CPT. Factoriza la conjunta: Π P(Xi | padres).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Ahorra parámetros cuando cada variable tiene pocos padres.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En el ejemplo, pasto mojado sube P(lluvia) de 0.20 a ≈ 0.65.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Si también ves el aspersor, P(lluvia) baja a ≈ 0.24: explaining away.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Inferir es fijar evidencia, sumar ocultas y normalizar.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probabilístico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Para discutir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¿Qué arista falta?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Si el cielo nublado causa lluvia y aspersor, ¿cómo cambia el grafo?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¿0.05 de ruido?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¿Qué pasa con P(L | P) si el pasto casi nunca se moja solo?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¿Diagnóstico o predicción?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Un test médico: ¿P(enfermedad | síntoma) o al revés?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¿Y el Wumpus?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¿Qué nodos pondrías para brisa y pozos en una casilla?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