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 snapToObjects="1">
      <p:cViewPr varScale="1">
        <p:scale>
          <a:sx n="119" d="100"/>
          <a:sy n="119" d="100"/>
        </p:scale>
        <p:origin x="85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ayesserver.com/docs/introduction/bayesian-networks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A1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B93A"/>
                </a:solidFill>
                <a:latin typeface="Calibri"/>
              </a:rPr>
              <a:t>CURSO DE INTELIGENCIA ARTIFICIAL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Redes bayesianas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5D0DC"/>
                </a:solidFill>
                <a:latin typeface="Calibri"/>
              </a:rPr>
              <a:t>Independencia condicional, grafos y un ejemplo pequeño
(lluvia, aspersor y pasto mojado).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8B93A"/>
                </a:solidFill>
                <a:latin typeface="Calibri"/>
              </a:rPr>
              <a:t>Razonamiento probabilístico    ·    Russell &amp; Norvig, AIMA caps. 13–14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Razonamiento probabilístico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44315"/>
            <a:ext cx="13716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 dirty="0">
                <a:solidFill>
                  <a:srgbClr val="FFFFFF"/>
                </a:solidFill>
                <a:latin typeface="Calibri"/>
              </a:rPr>
              <a:t>2 / 1</a:t>
            </a:r>
            <a:r>
              <a:rPr lang="es-419" sz="1100" b="0" dirty="0">
                <a:solidFill>
                  <a:srgbClr val="FFFFFF"/>
                </a:solidFill>
                <a:latin typeface="Calibri"/>
              </a:rPr>
              <a:t>3</a:t>
            </a:r>
            <a:endParaRPr sz="11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Agenda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5349240" cy="21488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1600200"/>
            <a:ext cx="494690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6CA8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920240"/>
            <a:ext cx="494690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Incertidumbre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560320"/>
            <a:ext cx="494690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Por qué la lógica no basta y por qué la conjunta no escala.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5349240" cy="21488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56248" y="1600200"/>
            <a:ext cx="494690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6CA8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1920240"/>
            <a:ext cx="494690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La 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2560320"/>
            <a:ext cx="494690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DAG + tablas de probabilidad condicional (CPT).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40480"/>
            <a:ext cx="5349240" cy="21488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4088" y="4023360"/>
            <a:ext cx="494690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6CA8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4343400"/>
            <a:ext cx="494690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Ejemplo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4983480"/>
            <a:ext cx="494690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Lluvia, aspersor, pasto mojado: números y una query.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840480"/>
            <a:ext cx="5349240" cy="21488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56248" y="4023360"/>
            <a:ext cx="494690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6CA8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4343400"/>
            <a:ext cx="494690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Inferencia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6248" y="4983480"/>
            <a:ext cx="494690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Enumeración, explaining away, y qué preguntar a la 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Razonamiento probabilístico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44315"/>
            <a:ext cx="13716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 dirty="0">
                <a:solidFill>
                  <a:srgbClr val="FFFFFF"/>
                </a:solidFill>
                <a:latin typeface="Calibri"/>
              </a:rPr>
              <a:t>3 / 1</a:t>
            </a:r>
            <a:r>
              <a:rPr lang="es-419" sz="1100" b="0" dirty="0">
                <a:solidFill>
                  <a:srgbClr val="FFFFFF"/>
                </a:solidFill>
                <a:latin typeface="Calibri"/>
              </a:rPr>
              <a:t>3</a:t>
            </a:r>
            <a:endParaRPr sz="11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Por qué probabilidad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Los agentes no ven el mundo completo ni con certeza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08760"/>
            <a:ext cx="11155680" cy="45262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783080"/>
            <a:ext cx="1051560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 En el Wumpus, una brisa no dice cuál casilla tiene el pozo: hay varias hipótesis.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 La lógica solo admite verdadero / falso / desconocido. No pesa «más plausible».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 Queremos P(hipótesis | evidencia): actualizar creencias cuando llega un percepto.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 Una distribución conjunta sobre n variables binarias tiene 2ⁿ − 1 números independientes.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 Las redes bayesianas compactan esa conjunta usando independencia condicional.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Razonamiento probabilístico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44315"/>
            <a:ext cx="13716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 dirty="0">
                <a:solidFill>
                  <a:srgbClr val="FFFFFF"/>
                </a:solidFill>
                <a:latin typeface="Calibri"/>
              </a:rPr>
              <a:t>4 / 1</a:t>
            </a:r>
            <a:r>
              <a:rPr lang="es-419" sz="1100" b="0" dirty="0">
                <a:solidFill>
                  <a:srgbClr val="FFFFFF"/>
                </a:solidFill>
                <a:latin typeface="Calibri"/>
              </a:rPr>
              <a:t>3</a:t>
            </a:r>
            <a:endParaRPr sz="11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La conjunta no escala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Bayes es barato de escribir y caro de tabular sin estructura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5349240" cy="4617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Sin estructura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94560"/>
            <a:ext cx="48463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n = 10 variables booleanas → 1023 parámetros.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n = 30 → más de mil millones.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Imposible de estimar ni de almacenar a mano.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Cada query exige sumar casi toda la tabla.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5349240" cy="4617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164592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Con independencia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194560"/>
            <a:ext cx="48463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Si cada variable solo depende de unos pocos padres, cada CPT es pequeña.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P(X1,…,Xn) = Πi P(Xi | Parents(Xi)).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Una red de 30 nodos con 3 padres: decenas de números, no miles de millones.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Eso es una red bayesiana: grafo + CPTs.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Razonamiento probabilístico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44315"/>
            <a:ext cx="13716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 dirty="0">
                <a:solidFill>
                  <a:srgbClr val="FFFFFF"/>
                </a:solidFill>
                <a:latin typeface="Calibri"/>
              </a:rPr>
              <a:t>5 / 1</a:t>
            </a:r>
            <a:r>
              <a:rPr lang="es-419" sz="1100" b="0" dirty="0">
                <a:solidFill>
                  <a:srgbClr val="FFFFFF"/>
                </a:solidFill>
                <a:latin typeface="Calibri"/>
              </a:rPr>
              <a:t>3</a:t>
            </a:r>
            <a:endParaRPr sz="11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Qué es una red bayesiana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Grafo dirigido acíclico (DAG) + una CPT por variable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89888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591056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B6CA8"/>
                </a:solidFill>
                <a:latin typeface="Calibri"/>
              </a:rPr>
              <a:t>Nodos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1591056"/>
            <a:ext cx="8458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Variables aleatorias (a menudo booleanas en los ejemplos de clase).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350008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551176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B6CA8"/>
                </a:solidFill>
                <a:latin typeface="Calibri"/>
              </a:rPr>
              <a:t>Aristas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551176"/>
            <a:ext cx="8458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Influencia directa: de padres a hijo. No hay ciclos.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10128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511296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B6CA8"/>
                </a:solidFill>
                <a:latin typeface="Calibri"/>
              </a:rPr>
              <a:t>CPT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3511296"/>
            <a:ext cx="8458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P(Xi | padres de Xi). Si no hay padres, una probabilidad a priori.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270248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4471416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B6CA8"/>
                </a:solidFill>
                <a:latin typeface="Calibri"/>
              </a:rPr>
              <a:t>Semántica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4471416"/>
            <a:ext cx="8458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Cada nodo es independiente de sus no-descendientes dados sus padres.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230368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5431536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B6CA8"/>
                </a:solidFill>
                <a:latin typeface="Calibri"/>
              </a:rPr>
              <a:t>Conjunta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5431536"/>
            <a:ext cx="8458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P(x1,…,xn) = Πi P(xi | parents(Xi)).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Razonamiento probabilístico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44315"/>
            <a:ext cx="13716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 dirty="0">
                <a:solidFill>
                  <a:srgbClr val="FFFFFF"/>
                </a:solidFill>
                <a:latin typeface="Calibri"/>
              </a:rPr>
              <a:t>6 / 1</a:t>
            </a:r>
            <a:r>
              <a:rPr lang="es-419" sz="1100" b="0" dirty="0">
                <a:solidFill>
                  <a:srgbClr val="FFFFFF"/>
                </a:solidFill>
                <a:latin typeface="Calibri"/>
              </a:rPr>
              <a:t>3</a:t>
            </a:r>
            <a:endParaRPr sz="11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Ejemplo: pasto mojado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Tres variables booleanas. Lluvia y aspersor son independientes a priori.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3383280" cy="15544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60020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2C59"/>
                </a:solidFill>
                <a:latin typeface="Calibri"/>
              </a:rPr>
              <a:t>Lluvia  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5740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2C3E50"/>
                </a:solidFill>
                <a:latin typeface="Calibri"/>
              </a:rPr>
              <a:t>P(L=t) = 0.20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417320"/>
            <a:ext cx="3383280" cy="15544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160020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2C59"/>
                </a:solidFill>
                <a:latin typeface="Calibri"/>
              </a:rPr>
              <a:t>Aspersor 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05740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2C3E50"/>
                </a:solidFill>
                <a:latin typeface="Calibri"/>
              </a:rPr>
              <a:t>P(A=t) = 0.10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017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1B6CA8"/>
                </a:solidFill>
                <a:latin typeface="Calibri"/>
              </a:rPr>
              <a:t>↓                         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65960" y="3429000"/>
            <a:ext cx="4389120" cy="15544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148840" y="3611880"/>
            <a:ext cx="4023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2C59"/>
                </a:solidFill>
                <a:latin typeface="Calibri"/>
              </a:rPr>
              <a:t>Pasto mojado  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4114800"/>
            <a:ext cx="4023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2C3E50"/>
                </a:solidFill>
                <a:latin typeface="Calibri"/>
              </a:rPr>
              <a:t>P(P | L, A)  en la CPT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417320"/>
            <a:ext cx="3520440" cy="4617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66760" y="1645920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C59"/>
                </a:solidFill>
                <a:latin typeface="Calibri"/>
              </a:rPr>
              <a:t>Lectura del grafo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194560"/>
            <a:ext cx="31089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•  L y A no tienen padres: son causas.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•  P tiene dos padres: dos formas de mojar el pasto.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•  Conjunta: P(L,A,P) = P(L) P(A) P(P|L,A).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•  3 + 1×4 = 7 números, no 7 de una tabla 2³ (casi igual aquí; el ahorro crece con más nodos).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Razonamiento probabilístico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44315"/>
            <a:ext cx="13716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 dirty="0">
                <a:solidFill>
                  <a:srgbClr val="FFFFFF"/>
                </a:solidFill>
                <a:latin typeface="Calibri"/>
              </a:rPr>
              <a:t>7 / 1</a:t>
            </a:r>
            <a:r>
              <a:rPr lang="es-419" sz="1100" b="0" dirty="0">
                <a:solidFill>
                  <a:srgbClr val="FFFFFF"/>
                </a:solidFill>
                <a:latin typeface="Calibri"/>
              </a:rPr>
              <a:t>3</a:t>
            </a:r>
            <a:endParaRPr sz="11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CPTs del ejemplo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t = verdadero, f = falso. Solo se lista P(· = t); P(f) = 1 − P(t)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3657600" cy="46634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6002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A prioris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03120"/>
            <a:ext cx="320040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P(L = t) = 0.20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P(L = f) = 0.80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P(A = t) = 0.10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P(A = f) = 0.90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L ⟂ A  (no hay arista entre ellas).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371600"/>
            <a:ext cx="7269480" cy="46634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1600200"/>
            <a:ext cx="6766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P(P = t | L, 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103120"/>
            <a:ext cx="67665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L = t,  A = t     →     0.99     (llueve y el aspersor: casi seguro mojado)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L = t,  A = f     →     0.90     (solo lluvia)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L = f,  A = t     →     0.80     (solo aspersor)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L = f,  A = f     →     0.05     (rocío / ruido)</a:t>
            </a:r>
          </a:p>
          <a:p>
            <a:pPr>
              <a:spcAft>
                <a:spcPts val="1100"/>
              </a:spcAft>
            </a:pPr>
            <a:endParaRPr sz="1600" b="0">
              <a:solidFill>
                <a:srgbClr val="2C3E50"/>
              </a:solidFill>
              <a:latin typeface="Calibri"/>
            </a:endParaRP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Query de clase:  P(L = t | P = t)     «¿llovió, si el pasto está mojado?»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Razonamiento probabilístico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44315"/>
            <a:ext cx="13716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 dirty="0">
                <a:solidFill>
                  <a:srgbClr val="FFFFFF"/>
                </a:solidFill>
                <a:latin typeface="Calibri"/>
              </a:rPr>
              <a:t>8 / 1</a:t>
            </a:r>
            <a:r>
              <a:rPr lang="es-419" sz="1100" b="0" dirty="0">
                <a:solidFill>
                  <a:srgbClr val="FFFFFF"/>
                </a:solidFill>
                <a:latin typeface="Calibri"/>
              </a:rPr>
              <a:t>3</a:t>
            </a:r>
            <a:endParaRPr sz="11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Cálculo: P(Lluvia | pasto mojado)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Enumeración: sumar la conjunta en los mundos donde P = 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11155680" cy="46634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600200"/>
            <a:ext cx="10607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P(L=t, P=t) = Σ_A P(L=t) P(A) P(P=t | L=t, A)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            = 0.20×0.10×0.99  +  0.20×0.90×0.90  =  0.0198 + 0.162  =  0.1818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P(L=f, P=t) = 0.80×0.10×0.80  +  0.80×0.90×0.05  =  0.064 + 0.036  =  0.1000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P(P=t) = 0.1818 + 0.1000 = 0.2818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P(L=t | P=t) = 0.1818 / 0.2818  ≈  0.645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La creencia en lluvia pasa de 0.20 (a priori) a ≈ 0.65 (pasto mojado).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Razonamiento probabilístico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44315"/>
            <a:ext cx="13716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 dirty="0">
                <a:solidFill>
                  <a:srgbClr val="FFFFFF"/>
                </a:solidFill>
                <a:latin typeface="Calibri"/>
              </a:rPr>
              <a:t>9 / 1</a:t>
            </a:r>
            <a:r>
              <a:rPr lang="es-419" sz="1100" b="0" dirty="0">
                <a:solidFill>
                  <a:srgbClr val="FFFFFF"/>
                </a:solidFill>
                <a:latin typeface="Calibri"/>
              </a:rPr>
              <a:t>3</a:t>
            </a:r>
            <a:endParaRPr sz="11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Explaining away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Si además vimos el aspersor, la lluvia deja de ser tan necesaria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11155680" cy="46634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600200"/>
            <a:ext cx="10607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Ahora la evidencia es P = t y A = t (pasto mojado y aspersor encendido).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P(L=t | P=t, A=t)  ∝  P(L=t) P(A=t) P(P=t | L=t, A=t)  =  0.20×0.10×0.99  =  0.0198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P(L=f | P=t, A=t)  ∝  0.80×0.10×0.80  =  0.0640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Normalizar:  0.0198 / (0.0198+0.0640)  ≈  0.236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Pasto mojado solo: P(lluvia) ≈ 0.65.  Con aspersor observado: ≈ 0.24.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El aspersor «explica» lo mojado y reduce la necesidad de la lluvia. Eso es explaining away.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Razonamiento probabilístico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44315"/>
            <a:ext cx="13716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 dirty="0">
                <a:solidFill>
                  <a:srgbClr val="FFFFFF"/>
                </a:solidFill>
                <a:latin typeface="Calibri"/>
              </a:rPr>
              <a:t>10 / 1</a:t>
            </a:r>
            <a:r>
              <a:rPr lang="es-419" sz="1100" b="0" dirty="0">
                <a:solidFill>
                  <a:srgbClr val="FFFFFF"/>
                </a:solidFill>
                <a:latin typeface="Calibri"/>
              </a:rPr>
              <a:t>3</a:t>
            </a:r>
            <a:endParaRPr sz="11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Tipos de pregunta a una 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Siempre: query + evidencia. El resto se suma (marginaliza)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2788920" cy="4617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164592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C59"/>
                </a:solidFill>
                <a:latin typeface="Calibri"/>
              </a:rPr>
              <a:t>Diagnóstico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468880"/>
            <a:ext cx="2468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6CA8"/>
                </a:solidFill>
                <a:latin typeface="Calibri"/>
              </a:rPr>
              <a:t>P(causa | efecto)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337560"/>
            <a:ext cx="24688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P(L | P)  — de lo observado a la causa.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1417320"/>
            <a:ext cx="2788920" cy="4617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47872" y="164592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C59"/>
                </a:solidFill>
                <a:latin typeface="Calibri"/>
              </a:rPr>
              <a:t>Predicción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2468880"/>
            <a:ext cx="2468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6CA8"/>
                </a:solidFill>
                <a:latin typeface="Calibri"/>
              </a:rPr>
              <a:t>P(efecto | causa)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3337560"/>
            <a:ext cx="24688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P(P | L)  — si llueve, ¿se moja el pasto?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417320"/>
            <a:ext cx="2788920" cy="4617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28232" y="164592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C59"/>
                </a:solidFill>
                <a:latin typeface="Calibri"/>
              </a:rPr>
              <a:t>Explaining away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468880"/>
            <a:ext cx="2468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6CA8"/>
                </a:solidFill>
                <a:latin typeface="Calibri"/>
              </a:rPr>
              <a:t>P(causa1 | efecto, causa2)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3337560"/>
            <a:ext cx="24688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P(L | P, A)  — una causa desplaza a la otra.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1417320"/>
            <a:ext cx="2788920" cy="4617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08592" y="164592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C59"/>
                </a:solidFill>
                <a:latin typeface="Calibri"/>
              </a:rPr>
              <a:t>Intercausal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8592" y="2468880"/>
            <a:ext cx="2468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6CA8"/>
                </a:solidFill>
                <a:latin typeface="Calibri"/>
              </a:rPr>
              <a:t>sin el efecto, L ⟂ 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8592" y="3337560"/>
            <a:ext cx="24688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Sin ver P, lluvia y aspersor no se informan.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Razonamiento probabilístico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44315"/>
            <a:ext cx="13716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 dirty="0">
                <a:solidFill>
                  <a:srgbClr val="FFFFFF"/>
                </a:solidFill>
                <a:latin typeface="Calibri"/>
              </a:rPr>
              <a:t>1</a:t>
            </a:r>
            <a:r>
              <a:rPr lang="es-419" sz="1100" b="0" dirty="0">
                <a:solidFill>
                  <a:srgbClr val="FFFFFF"/>
                </a:solidFill>
                <a:latin typeface="Calibri"/>
              </a:rPr>
              <a:t>1</a:t>
            </a:r>
            <a:r>
              <a:rPr sz="1100" b="0" dirty="0">
                <a:solidFill>
                  <a:srgbClr val="FFFFFF"/>
                </a:solidFill>
                <a:latin typeface="Calibri"/>
              </a:rPr>
              <a:t> / 1</a:t>
            </a:r>
            <a:r>
              <a:rPr lang="es-419" sz="1100" b="0" dirty="0">
                <a:solidFill>
                  <a:srgbClr val="FFFFFF"/>
                </a:solidFill>
                <a:latin typeface="Calibri"/>
              </a:rPr>
              <a:t>3</a:t>
            </a:r>
            <a:endParaRPr sz="11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349240" cy="4617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Razonamiento lógico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48463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Oraciones verdaderas o falsas.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Entailment: se sigue o no se sigue.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FC / BC / resolución recorren reglas.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No hay «un poco más probable».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417320"/>
            <a:ext cx="5349240" cy="4617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164592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Razonamiento probabilístico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194560"/>
            <a:ext cx="48463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Variables con P(· | evidencia).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La misma evidencia mueve un número (0.20 → 0.65).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El grafo dice qué independencias usar.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Explaining away no existe en Horn.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Razonamiento probabilístico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44315"/>
            <a:ext cx="13716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 dirty="0">
                <a:solidFill>
                  <a:srgbClr val="FFFFFF"/>
                </a:solidFill>
                <a:latin typeface="Calibri"/>
              </a:rPr>
              <a:t>1</a:t>
            </a:r>
            <a:r>
              <a:rPr lang="es-419" sz="1100" b="0" dirty="0">
                <a:solidFill>
                  <a:srgbClr val="FFFFFF"/>
                </a:solidFill>
                <a:latin typeface="Calibri"/>
              </a:rPr>
              <a:t>2</a:t>
            </a:r>
            <a:r>
              <a:rPr sz="1100" b="0" dirty="0">
                <a:solidFill>
                  <a:srgbClr val="FFFFFF"/>
                </a:solidFill>
                <a:latin typeface="Calibri"/>
              </a:rPr>
              <a:t> / 1</a:t>
            </a:r>
            <a:r>
              <a:rPr lang="es-419" sz="1100" b="0" dirty="0">
                <a:solidFill>
                  <a:srgbClr val="FFFFFF"/>
                </a:solidFill>
                <a:latin typeface="Calibri"/>
              </a:rPr>
              <a:t>3</a:t>
            </a:r>
            <a:endParaRPr sz="11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Receta para el ejemplo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Tres pasos que se pueden repetir en el pizarrón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2788920" cy="4617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691640"/>
            <a:ext cx="2423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B6CA8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194560"/>
            <a:ext cx="2423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Grafo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63240"/>
            <a:ext cx="242316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L y A → P. Escribir P(L,A,P) = P(L) P(A) P(P|L,A).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1417320"/>
            <a:ext cx="2788920" cy="4617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66160" y="1691640"/>
            <a:ext cx="2423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B6CA8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194560"/>
            <a:ext cx="2423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Llenar CPT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063240"/>
            <a:ext cx="242316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A prioris 0.20 y 0.10. Cuatro filas para el pasto.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417320"/>
            <a:ext cx="2788920" cy="4617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1691640"/>
            <a:ext cx="2423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B6CA8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194560"/>
            <a:ext cx="2423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Query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063240"/>
            <a:ext cx="242316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Fijar P=t, sumar sobre A, normalizar las dos hipótesis de 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1417320"/>
            <a:ext cx="2788920" cy="4617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0" y="1691640"/>
            <a:ext cx="2423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B6CA8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194560"/>
            <a:ext cx="2423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Variante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3063240"/>
            <a:ext cx="242316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Añadir A=t y repetir: explaining away.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Razonamiento probabilístico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44315"/>
            <a:ext cx="13716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 dirty="0">
                <a:solidFill>
                  <a:srgbClr val="FFFFFF"/>
                </a:solidFill>
                <a:latin typeface="Calibri"/>
              </a:rPr>
              <a:t>1</a:t>
            </a:r>
            <a:r>
              <a:rPr lang="es-419" sz="1100" b="0" dirty="0">
                <a:solidFill>
                  <a:srgbClr val="FFFFFF"/>
                </a:solidFill>
                <a:latin typeface="Calibri"/>
              </a:rPr>
              <a:t>3</a:t>
            </a:r>
            <a:r>
              <a:rPr sz="1100" b="0" dirty="0">
                <a:solidFill>
                  <a:srgbClr val="FFFFFF"/>
                </a:solidFill>
                <a:latin typeface="Calibri"/>
              </a:rPr>
              <a:t> / 1</a:t>
            </a:r>
            <a:r>
              <a:rPr lang="es-419" sz="1100" b="0" dirty="0">
                <a:solidFill>
                  <a:srgbClr val="FFFFFF"/>
                </a:solidFill>
                <a:latin typeface="Calibri"/>
              </a:rPr>
              <a:t>3</a:t>
            </a:r>
            <a:endParaRPr sz="11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245882"/>
            <a:ext cx="1115568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419" sz="2800" b="1" dirty="0">
                <a:solidFill>
                  <a:srgbClr val="0F2C59"/>
                </a:solidFill>
                <a:latin typeface="Calibri"/>
              </a:rPr>
              <a:t>Resumen</a:t>
            </a:r>
            <a:endParaRPr sz="2800" b="1" dirty="0">
              <a:solidFill>
                <a:srgbClr val="0F2C59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11155680" cy="4617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691640"/>
            <a:ext cx="10515600" cy="42473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800" b="0" dirty="0">
                <a:solidFill>
                  <a:srgbClr val="2C3E50"/>
                </a:solidFill>
                <a:latin typeface="Calibri"/>
              </a:rPr>
              <a:t>•  Una red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bayesiana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 = DAG + CPT.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Factoriza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 la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conjunta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: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Π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 P(Xi | padres).</a:t>
            </a:r>
          </a:p>
          <a:p>
            <a:pPr>
              <a:spcAft>
                <a:spcPts val="1200"/>
              </a:spcAft>
            </a:pPr>
            <a:r>
              <a:rPr sz="1800" b="0" dirty="0">
                <a:solidFill>
                  <a:srgbClr val="2C3E50"/>
                </a:solidFill>
                <a:latin typeface="Calibri"/>
              </a:rPr>
              <a:t>• 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Ahorra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parámetros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cuando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cada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 variable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tiene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pocos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 padres.</a:t>
            </a:r>
          </a:p>
          <a:p>
            <a:pPr>
              <a:spcAft>
                <a:spcPts val="1200"/>
              </a:spcAft>
            </a:pPr>
            <a:r>
              <a:rPr sz="1800" b="0" dirty="0">
                <a:solidFill>
                  <a:srgbClr val="2C3E50"/>
                </a:solidFill>
                <a:latin typeface="Calibri"/>
              </a:rPr>
              <a:t>•  En el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ejemplo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,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pasto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mojado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sube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 P(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lluvia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) de 0.20 a ≈ 0.65.</a:t>
            </a:r>
          </a:p>
          <a:p>
            <a:pPr>
              <a:spcAft>
                <a:spcPts val="1200"/>
              </a:spcAft>
            </a:pPr>
            <a:r>
              <a:rPr sz="1800" b="0" dirty="0">
                <a:solidFill>
                  <a:srgbClr val="2C3E50"/>
                </a:solidFill>
                <a:latin typeface="Calibri"/>
              </a:rPr>
              <a:t>•  Si también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ves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 el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aspersor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, P(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lluvia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) baja a ≈ 0.24: explaining away.</a:t>
            </a:r>
          </a:p>
          <a:p>
            <a:pPr>
              <a:spcAft>
                <a:spcPts val="1200"/>
              </a:spcAft>
            </a:pPr>
            <a:r>
              <a:rPr sz="1800" b="0" dirty="0">
                <a:solidFill>
                  <a:srgbClr val="2C3E50"/>
                </a:solidFill>
                <a:latin typeface="Calibri"/>
              </a:rPr>
              <a:t>• 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Inferir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 es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fijar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evidencia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,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sumar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ocultas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 y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normalizar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.</a:t>
            </a:r>
            <a:endParaRPr lang="es-419" sz="1800" b="0" dirty="0">
              <a:solidFill>
                <a:srgbClr val="2C3E50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endParaRPr lang="es-MX" dirty="0">
              <a:solidFill>
                <a:srgbClr val="2C3E50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r>
              <a:rPr lang="es-MX">
                <a:solidFill>
                  <a:srgbClr val="2C3E50"/>
                </a:solidFill>
                <a:latin typeface="Calibri"/>
              </a:rPr>
              <a:t>Liga a un sitio web con información sobre redes bayesianas: </a:t>
            </a:r>
            <a:endParaRPr lang="es-MX" dirty="0">
              <a:solidFill>
                <a:srgbClr val="2C3E50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r>
              <a:rPr lang="es-MX" dirty="0">
                <a:solidFill>
                  <a:srgbClr val="2C3E50"/>
                </a:solidFill>
                <a:hlinkClick r:id="rId2"/>
              </a:rPr>
              <a:t>https://www.bayesserver.com/docs/introduction/bayesian-networks/</a:t>
            </a:r>
            <a:endParaRPr lang="es-MX" dirty="0">
              <a:solidFill>
                <a:srgbClr val="2C3E50"/>
              </a:solidFill>
            </a:endParaRPr>
          </a:p>
          <a:p>
            <a:pPr>
              <a:spcAft>
                <a:spcPts val="1200"/>
              </a:spcAft>
            </a:pPr>
            <a:endParaRPr lang="es-MX" dirty="0">
              <a:solidFill>
                <a:srgbClr val="2C3E50"/>
              </a:solidFill>
            </a:endParaRPr>
          </a:p>
          <a:p>
            <a:pPr>
              <a:spcAft>
                <a:spcPts val="1200"/>
              </a:spcAft>
            </a:pPr>
            <a:endParaRPr sz="1800" b="0" dirty="0">
              <a:solidFill>
                <a:srgbClr val="2C3E5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1482</Words>
  <Application>Microsoft Macintosh PowerPoint</Application>
  <PresentationFormat>Panorámica</PresentationFormat>
  <Paragraphs>164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Víctor Uc Cetina</cp:lastModifiedBy>
  <cp:revision>2</cp:revision>
  <dcterms:created xsi:type="dcterms:W3CDTF">2013-01-27T09:14:16Z</dcterms:created>
  <dcterms:modified xsi:type="dcterms:W3CDTF">2026-10-29T00:56:24Z</dcterms:modified>
  <cp:category/>
</cp:coreProperties>
</file>