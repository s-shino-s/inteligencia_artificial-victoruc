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93A"/>
                </a:solidFill>
                <a:latin typeface="Calibri"/>
              </a:rPr>
              <a:t>CURSO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0DC"/>
                </a:solidFill>
                <a:latin typeface="Calibri"/>
              </a:rPr>
              <a:t>Agrupar sin etiquetas: Lloyd, un ejemplo numérico,
y la práctica actual (k-means++, escala, codo y silueta).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B93A"/>
                </a:solidFill>
                <a:latin typeface="Calibri"/>
              </a:rPr>
              <a:t>Lloyd 1957/1982  ·  Arthur &amp; Vassilvitskii 2007  ·  AIMA, aprendizaje no supervisado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Clustering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Aprendizaje no supervisado: grupos a partir de similitud, sin 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k-medias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Asignar al centroide más cercano y recalcular medias. Un ejemplo con 6 puntos.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Práctica actual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k-means++, varias semillas, estandarizar, y cómo elegir 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Límites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Manchas no esféricas, outliers, k desconocida; cuándo usar otra cosa.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Qué es clustering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No hay etiqueta y: el algoritmo propone una partición de los datos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623560" cy="47548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52120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Supervisado: (x, y) → un clasificador. Aquí solo hay x.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Objetivo: puntos del mismo grupo cerca; grupos distintos, lejos.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k-medias mide cerca con la distancia euclídea al cuadrado.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k es el número de grupos. A veces lo da el problema; si no, lo eliges después.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A la derecha: tres nubes. Eso es lo que queremos recuperar.</a:t>
            </a:r>
          </a:p>
        </p:txBody>
      </p:sp>
      <p:pic>
        <p:nvPicPr>
          <p:cNvPr id="12" name="Picture 11" descr="blobs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53312"/>
            <a:ext cx="5254649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Para qué se usa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algoritmo no nombra el cluster: un humano interpreta los grupos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RFM, canales, riesgo. Un cluster no es un persona-tipo hasta que lo etiquetas.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Imagen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Cuantización de color: k centroides = k colores. Compresión tosca y útil.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Texto /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6344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Temas o intenciones sobre vectores. Escalar las dimensiones importa.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Anomalías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Punto lejos de todo centroide. Mejor como pista, no como detector único.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La idea de k-medias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k prototipos (centroides). Cada punto pertenece al más cercano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Centroide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Vector μ_j: la media de los puntos asignados al grupo j.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Asignar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cluster(x) = arg min_j  ‖x − μ_j‖². Partición de Voronoi.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Actualizar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μ_j ← media de { x : cluster(x) = j }. Si un grupo queda vacío, se reinicia.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Parar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Cuando las asignaciones no cambian, el error ya no baja, o hay un tope de iteraciones.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Algoritmo (Lloyd)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Dos pasos que se alternan. Cada uno baja (o no sube) la inercia 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4663440"/>
          </a:xfrm>
          <a:prstGeom prst="roundRect">
            <a:avLst>
              <a:gd name="adj" fmla="val 10000"/>
            </a:avLst>
          </a:prstGeom>
          <a:solidFill>
            <a:srgbClr val="0A1F40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45920"/>
            <a:ext cx="104241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elegir k  y  inicializar μ1 … μk          ← hoy: k-means++, no k puntos al azar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repetir: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    para cada x:   c(x) ← arg min_j  ‖x − μ_j‖²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    para cada j:   μ_j ← media { x | c(x) = j }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hasta que c(·) no cambie  (o se agoten las iteraciones)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devolver  centroides y asignación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Es voraz: mínimo local. Por eso se corre varias veces (n_init) y se queda el mejor J.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Qué minimiza: la inercia J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Suma de cuadrados intra-cluster (WCSS). Más baja = más compactos, para ese 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20116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0F2C59"/>
                </a:solidFill>
                <a:latin typeface="Calibri"/>
              </a:rPr>
              <a:t>J =  Σ_j  Σ_{x ∈ Cⱼ}  ‖ x − μ_j ‖²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11880"/>
            <a:ext cx="5349240" cy="24231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94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Sí mide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1960"/>
            <a:ext cx="4846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Compacidad euclídea alrededor de k medias.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Comparable entre corridas con el mismo k y los mismos datos.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611880"/>
            <a:ext cx="5349240" cy="24231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794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No mide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251960"/>
            <a:ext cx="4846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«La verdad» de los grupos (no hay y).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Calidad entre distintos k: J siempre baja si subes 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Ejemplo: 6 puntos, k = 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Arranque malo: ambos centroides en la nube izquierda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1051560" cy="420624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1051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punto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1325880"/>
            <a:ext cx="1143000" cy="420624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1325880"/>
            <a:ext cx="1143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325880"/>
            <a:ext cx="1143000" cy="420624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325880"/>
            <a:ext cx="1143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746504"/>
            <a:ext cx="1051560" cy="42062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746504"/>
            <a:ext cx="1051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1746504"/>
            <a:ext cx="1143000" cy="42062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1746504"/>
            <a:ext cx="1143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1746504"/>
            <a:ext cx="1143000" cy="42062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1746504"/>
            <a:ext cx="1143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167128"/>
            <a:ext cx="1051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167128"/>
            <a:ext cx="1051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P2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216712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2167128"/>
            <a:ext cx="1143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216712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2167128"/>
            <a:ext cx="1143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587752"/>
            <a:ext cx="1051560" cy="42062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587752"/>
            <a:ext cx="1051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P3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2587752"/>
            <a:ext cx="1143000" cy="42062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2587752"/>
            <a:ext cx="1143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2587752"/>
            <a:ext cx="1143000" cy="42062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80" y="2587752"/>
            <a:ext cx="1143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008376"/>
            <a:ext cx="1051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008376"/>
            <a:ext cx="1051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P4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4480" y="300837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3008376"/>
            <a:ext cx="1143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80" y="300837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3008376"/>
            <a:ext cx="1143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429000"/>
            <a:ext cx="1051560" cy="42062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429000"/>
            <a:ext cx="1051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P5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54480" y="3429000"/>
            <a:ext cx="1143000" cy="42062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54480" y="3429000"/>
            <a:ext cx="1143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7480" y="3429000"/>
            <a:ext cx="1143000" cy="42062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97480" y="3429000"/>
            <a:ext cx="1143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849624"/>
            <a:ext cx="1051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849624"/>
            <a:ext cx="1051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P6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54480" y="3849624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54480" y="3849624"/>
            <a:ext cx="1143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97480" y="3849624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97480" y="3849624"/>
            <a:ext cx="1143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480560"/>
            <a:ext cx="3474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μA = (1, 1)  estrella dorada
μB = (2, 1)  estrella azul
La nube derecha aún no tiene prototipo.</a:t>
            </a:r>
          </a:p>
        </p:txBody>
      </p:sp>
      <p:pic>
        <p:nvPicPr>
          <p:cNvPr id="53" name="Picture 52" descr="i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98448"/>
            <a:ext cx="455100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Iteración 1 y 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P2 cambia de B a A; el centroide B salta a la nube derecha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1051560" cy="402336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10515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punto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1298448"/>
            <a:ext cx="1371600" cy="402336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1298448"/>
            <a:ext cx="1371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(x, 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1298448"/>
            <a:ext cx="1325880" cy="402336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1298448"/>
            <a:ext cx="1325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iter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298448"/>
            <a:ext cx="1325880" cy="402336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1298448"/>
            <a:ext cx="1325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iter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700784"/>
            <a:ext cx="1051560" cy="402336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700784"/>
            <a:ext cx="10515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P1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1700784"/>
            <a:ext cx="1371600" cy="402336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1700784"/>
            <a:ext cx="1371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(1, 1)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1700784"/>
            <a:ext cx="1325880" cy="402336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1700784"/>
            <a:ext cx="1325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B7A4E"/>
                </a:solidFill>
                <a:latin typeface="Calibri"/>
              </a:rPr>
              <a:t>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1700784"/>
            <a:ext cx="1325880" cy="402336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1700784"/>
            <a:ext cx="1325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B7A4E"/>
                </a:solidFill>
                <a:latin typeface="Calibri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103120"/>
            <a:ext cx="1051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103120"/>
            <a:ext cx="10515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P2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2103120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2103120"/>
            <a:ext cx="1371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(2, 1)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2103120"/>
            <a:ext cx="1325880" cy="402336"/>
          </a:xfrm>
          <a:prstGeom prst="rect">
            <a:avLst/>
          </a:prstGeom>
          <a:solidFill>
            <a:srgbClr val="E3EEF8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2103120"/>
            <a:ext cx="1325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B6CA8"/>
                </a:solidFill>
                <a:latin typeface="Calibri"/>
              </a:rPr>
              <a:t>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2103120"/>
            <a:ext cx="1325880" cy="402336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2103120"/>
            <a:ext cx="1325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B7A4E"/>
                </a:solidFill>
                <a:latin typeface="Calibri"/>
              </a:rPr>
              <a:t>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505456"/>
            <a:ext cx="1051560" cy="402336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505456"/>
            <a:ext cx="10515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P3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4480" y="2505456"/>
            <a:ext cx="1371600" cy="402336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2505456"/>
            <a:ext cx="1371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(1, 2)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2505456"/>
            <a:ext cx="1325880" cy="402336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2505456"/>
            <a:ext cx="1325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B7A4E"/>
                </a:solidFill>
                <a:latin typeface="Calibri"/>
              </a:rPr>
              <a:t>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2505456"/>
            <a:ext cx="1325880" cy="402336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1960" y="2505456"/>
            <a:ext cx="1325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B7A4E"/>
                </a:solidFill>
                <a:latin typeface="Calibri"/>
              </a:rPr>
              <a:t>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2907792"/>
            <a:ext cx="1051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2907792"/>
            <a:ext cx="10515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P4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54480" y="2907792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54480" y="2907792"/>
            <a:ext cx="1371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(8, 8)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2907792"/>
            <a:ext cx="1325880" cy="402336"/>
          </a:xfrm>
          <a:prstGeom prst="rect">
            <a:avLst/>
          </a:prstGeom>
          <a:solidFill>
            <a:srgbClr val="E3EEF8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26080" y="2907792"/>
            <a:ext cx="1325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B6CA8"/>
                </a:solidFill>
                <a:latin typeface="Calibri"/>
              </a:rPr>
              <a:t>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2907792"/>
            <a:ext cx="1325880" cy="402336"/>
          </a:xfrm>
          <a:prstGeom prst="rect">
            <a:avLst/>
          </a:prstGeom>
          <a:solidFill>
            <a:srgbClr val="E3EEF8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2907792"/>
            <a:ext cx="1325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B6CA8"/>
                </a:solidFill>
                <a:latin typeface="Calibri"/>
              </a:rPr>
              <a:t>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3310128"/>
            <a:ext cx="1051560" cy="402336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3310128"/>
            <a:ext cx="10515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P5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54480" y="3310128"/>
            <a:ext cx="1371600" cy="402336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54480" y="3310128"/>
            <a:ext cx="1371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(9, 8)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26080" y="3310128"/>
            <a:ext cx="1325880" cy="402336"/>
          </a:xfrm>
          <a:prstGeom prst="rect">
            <a:avLst/>
          </a:prstGeom>
          <a:solidFill>
            <a:srgbClr val="E3EEF8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26080" y="3310128"/>
            <a:ext cx="1325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B6CA8"/>
                </a:solidFill>
                <a:latin typeface="Calibri"/>
              </a:rPr>
              <a:t>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51960" y="3310128"/>
            <a:ext cx="1325880" cy="402336"/>
          </a:xfrm>
          <a:prstGeom prst="rect">
            <a:avLst/>
          </a:prstGeom>
          <a:solidFill>
            <a:srgbClr val="E3EEF8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51960" y="3310128"/>
            <a:ext cx="1325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B6CA8"/>
                </a:solidFill>
                <a:latin typeface="Calibri"/>
              </a:rPr>
              <a:t>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3712464"/>
            <a:ext cx="1051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3712464"/>
            <a:ext cx="10515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P6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54480" y="3712464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554480" y="3712464"/>
            <a:ext cx="1371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(8, 9)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26080" y="3712464"/>
            <a:ext cx="1325880" cy="402336"/>
          </a:xfrm>
          <a:prstGeom prst="rect">
            <a:avLst/>
          </a:prstGeom>
          <a:solidFill>
            <a:srgbClr val="E3EEF8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26080" y="3712464"/>
            <a:ext cx="1325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B6CA8"/>
                </a:solidFill>
                <a:latin typeface="Calibri"/>
              </a:rPr>
              <a:t>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51960" y="3712464"/>
            <a:ext cx="1325880" cy="402336"/>
          </a:xfrm>
          <a:prstGeom prst="rect">
            <a:avLst/>
          </a:prstGeom>
          <a:solidFill>
            <a:srgbClr val="E3EEF8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51960" y="3712464"/>
            <a:ext cx="1325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B6CA8"/>
                </a:solidFill>
                <a:latin typeface="Calibri"/>
              </a:rPr>
              <a:t>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4343400"/>
            <a:ext cx="5120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Tras iter 1: μA = (1, 1.5), μB = (6.75, 6.5).
Tras iter 2: μA ≈ (1.33, 1.33), μB ≈ (8.33, 8.33).
Un mal inicio no fue fatal.</a:t>
            </a:r>
          </a:p>
        </p:txBody>
      </p:sp>
      <p:pic>
        <p:nvPicPr>
          <p:cNvPr id="67" name="Picture 66" descr="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464307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Inicialización: k-means++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Práctica actual. No elijas k puntos uniformes si puedes evitarlo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Al azar (malo a menudo)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k puntos de los datos, o k vectores uniformes.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Dos semillas en el mismo grupo: convergencia lenta o mínimo pobre.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Hoy no es el default de las librerías serias.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7160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k-means++ (Arthur 2007)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0312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El primer centroide al azar.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El siguiente, con probabilidad ∝ D(x)² al más cercano ya puesto.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scikit-learn: init='k-means++' (default).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Aun así: n_init &gt; 1 y quédate con el menor J. En sklearn reciente, n_init='auto'.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Cómo elegir k: el codo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J siempre baja si subes k. El codo es el k donde esa bajada se frena</a:t>
            </a:r>
          </a:p>
        </p:txBody>
      </p:sp>
      <p:pic>
        <p:nvPicPr>
          <p:cNvPr id="10" name="Picture 9" descr="bl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53312"/>
            <a:ext cx="4642457" cy="4160520"/>
          </a:xfrm>
          <a:prstGeom prst="rect">
            <a:avLst/>
          </a:prstGeom>
        </p:spPr>
      </p:pic>
      <p:pic>
        <p:nvPicPr>
          <p:cNvPr id="11" name="Picture 10" descr="elb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53312"/>
            <a:ext cx="5270371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650992"/>
            <a:ext cx="111556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Izquierda: las mismas tres nubes de la diapositiva 3 (no los 6 puntos del ejemplo). Derecha: corre k-medias para k = 1…8 y grafica J. El quiebre dorado está en k = 3, que coincide con las nubes.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Cómo elegir k: la silueta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J solo mira compactación. La silueta pregunta además: ¿este punto está mejor aquí que en el grupo vecino?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5486400" cy="41605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50292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Para un punto i, a(i) es su distancia media a los del mismo cluster.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b(i) es su distancia media al cluster más cercano que no es el suyo.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s(i) = (b − a) / max(a, b). Queda entre −1 y 1.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Cerca de 1: bien colocado. Cerca de 0: en la frontera. Negativo: quizá en el grupo equivocado.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La silueta de la partición es el promedio de s(i). Eliges el k que la maximiza.</a:t>
            </a:r>
          </a:p>
        </p:txBody>
      </p:sp>
      <p:pic>
        <p:nvPicPr>
          <p:cNvPr id="12" name="Picture 11" descr="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53312"/>
            <a:ext cx="5159273" cy="416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5650992"/>
            <a:ext cx="111556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Misma corrida que el codo, sobre las mismas tres nubes. El máximo cae en k = 3. Si codo y silueta discrepan, quédate con un k que además se pueda usar (p. ej. 3 tipos de cliente, no 17).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Escala las variables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Dos grupos de edad, ingreso parecido. Sin escalar, L2 se obsesiona con el ingreso</a:t>
            </a:r>
          </a:p>
        </p:txBody>
      </p:sp>
      <p:pic>
        <p:nvPicPr>
          <p:cNvPr id="10" name="Picture 9" descr="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53312"/>
            <a:ext cx="11155680" cy="38366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687568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Práctica: StandardScaler (o RobustScaler si hay outliers) en un Pipeline, antes de KMeans. Luego interpreta centroides en unidades originales.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Checklist de práctica actual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Lo que harías hoy en scikit-learn / un pipeline serio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17904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517904"/>
            <a:ext cx="8869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k-means++. No KMeans(..., init='random') salvo un experimento.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76272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40864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n_init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340864"/>
            <a:ext cx="8869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Varias semillas; quédate con mínima inercia. random_state para reproducir.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99232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63824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Escala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163824"/>
            <a:ext cx="8869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Estandariza antes. Encadena scaler + k-means en un Pipeline.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22192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86784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986784"/>
            <a:ext cx="8869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Codo + silueta + un k usable. Reporta J y silueta, no solo el dibujo.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45152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09744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Tamaño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809744"/>
            <a:ext cx="8869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n grande: MiniBatchKMeans. Misma idea, centroides con minilotes.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468112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632704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Después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632704"/>
            <a:ext cx="8869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Inspecciona: PCA 2D, tamaños de cluster, centroides en unidades originales.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Dónde k-medias falla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Asume grupos convexos. Las lunas no lo son: Voronoi las parte mal</a:t>
            </a:r>
          </a:p>
        </p:txBody>
      </p:sp>
      <p:pic>
        <p:nvPicPr>
          <p:cNvPr id="10" name="Picture 9" descr="mo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53312"/>
            <a:ext cx="11155680" cy="38366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687568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Anillos, lunas, outliers: usa DBSCAN / HDBSCAN. Elipses: GMM. Jerarquía: agglomerative. k-medias sigue siendo el primer intento si las nubes son más o menos redondas.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En código, hoy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Defaults que importan; no copies un tutorial de 2012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4663440"/>
          </a:xfrm>
          <a:prstGeom prst="roundRect">
            <a:avLst>
              <a:gd name="adj" fmla="val 10000"/>
            </a:avLst>
          </a:prstGeom>
          <a:solidFill>
            <a:srgbClr val="0A1F40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00200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from sklearn.pipeline import make_pipeline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from sklearn.preprocessing import StandardScaler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from sklearn.cluster import KMeans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model = make_pipeline(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StandardScaler(),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KMeans(n_clusters=k, init="k-means++", n_init="auto", random_state=0),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labels = model.fit_predict(X)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# n_init='auto': 1 corrida con k-means++ (sklearn ≥ 1.4). Sube n_init si J varía mucho.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# MiniBatchKMeans(n_clusters=k) si n es cientos de miles.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Ideas para llevar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k-medias es Lloyd + una buena semilla + datos en la misma escala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Asignar / media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Cada paso baja J. El resultado es un mínimo local, no «los grupos verdaderos».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Ejemplo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Hasta un mal inicio (dos μ a la izquierda) puede corregirse: la nube lejana se lleva un centroide.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Hoy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k-means++, n_init, StandardScaler, codo + silueta + un k usable. Pipeline, random_state.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No es universal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Si no hay bolas euclídeas, cambia de algoritmo. Inspecciona siempre los grupos.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Clustering y k-medias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Antes de entregar un clustering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Una lista corta que evita el «k=3 porque el gráfico se veía bonito»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115568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¿Las variables están en unidades comparables? Si no, escala.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¿Probaste más de una semilla y reportas la inercia de la que eliges?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¿k se sostiene en el codo, la silueta y un uso concreto (segmentos que puedes tratar distinto)?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¿Los tamaños de cluster son ridículos (un punto vs todo el resto) por un outlier?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¿Puedes describir cada centroide en lenguaje del dominio (después de deshacer el scaler)?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Si la respuesta a varias es no, aún no es un resultado: es un diagnóstico.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