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B93A"/>
                </a:solidFill>
                <a:latin typeface="Calibri"/>
              </a:rPr>
              <a:t>CURSO DE INTELIGENCIA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Aprendizaje por refuerzo
y Q-learning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5D0DC"/>
                </a:solidFill>
                <a:latin typeface="Calibri"/>
              </a:rPr>
              <a:t>Ensayo y error con recompensa: el bucle agente–entorno,
luego la regla de Watkins y un pasillo de tres celdas.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B93A"/>
                </a:solidFill>
                <a:latin typeface="Calibri"/>
              </a:rPr>
              <a:t>Watkins 1989  ·  AIMA, aprendizaje por refuerzo  ·  Sutton &amp; Barto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Q-learning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8191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85623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Aprendizaje por refuerzo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0487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Agente, entorno, recompensa, episodio y retorno. No hay etiquetas 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58191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185623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Valores y política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40487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Q(s, a): cuánto vale una acción aquí. Voraz vs explorar.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00507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27939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Q-learning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82803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Una actualización por paso. El objetivo usa el max, no la acción que acabas de tomar.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400507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427939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Ejemplo y práctica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482803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Pasillo de 3 celdas, curvas, α / γ / ε, y cuándo el Q tabular no alcanza.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Q-learning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Tres maneras de aprender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Q-learning vive en la tercera: no te dicen la acción correcta, te dan una recompensa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3611880" cy="461772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6CA8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57400"/>
            <a:ext cx="3154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C59"/>
                </a:solidFill>
                <a:latin typeface="Calibri"/>
              </a:rPr>
              <a:t>Supervisado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80360"/>
            <a:ext cx="31546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Te dan (x, y). El error es ŷ − y. Clasificar, regresión, el MLP de la unidad anterior.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417320"/>
            <a:ext cx="3611880" cy="461772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64592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6CA8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057400"/>
            <a:ext cx="3154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C59"/>
                </a:solidFill>
                <a:latin typeface="Calibri"/>
              </a:rPr>
              <a:t>No supervisado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80360"/>
            <a:ext cx="31546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Solo x. Grupos o estructura: k-medias. Nadie dice qué cluster es «el bueno».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417320"/>
            <a:ext cx="3611880" cy="461772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64592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6CA8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57400"/>
            <a:ext cx="3154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C59"/>
                </a:solidFill>
                <a:latin typeface="Calibri"/>
              </a:rPr>
              <a:t>Por refuerzo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880360"/>
            <a:ext cx="31546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Actúas, el mundo responde con r. A menudo r llega tarde (solo al cruzar la meta).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Q-learning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El bucle agente–entorno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Un paso: el agente elige una acción; el entorno devuelve el nuevo estado y una recompensa</a:t>
            </a:r>
          </a:p>
        </p:txBody>
      </p:sp>
      <p:pic>
        <p:nvPicPr>
          <p:cNvPr id="10" name="Picture 9" descr="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53312"/>
            <a:ext cx="9400492" cy="402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532120"/>
            <a:ext cx="11155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Eso se repite. Una racha que termina (meta, fallo, o un tope de pasos) es un episodio. Más adelante actualizaremos un número en cada paso, no al final del episodio.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Q-learning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Recompensa y retorno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La recompensa r es inmediata. El retorno G es esa r más el futuro, descontado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53312"/>
            <a:ext cx="5623560" cy="196596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52120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F2C59"/>
                </a:solidFill>
                <a:latin typeface="Calibri"/>
              </a:rPr>
              <a:t>G_t = r_t + γ r_{t+1} + γ² r_{t+2} + 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623560" cy="26060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521208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γ ∈ [0, 1] es el factor de descuento.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γ = 0: solo importa r de hoy.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γ cercano a 1: el camino largo a la meta también cuenta.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En el ejemplo de dos pasos a la meta: si r = 1 solo al llegar y γ = 0.9, ese retorno vale 0.9, no 1.</a:t>
            </a:r>
          </a:p>
        </p:txBody>
      </p:sp>
      <p:pic>
        <p:nvPicPr>
          <p:cNvPr id="14" name="Picture 13" descr="dis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17320"/>
            <a:ext cx="5394960" cy="35329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Q-learning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Estados, acciones, política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El agente no ve el futuro entero: ve un estado s y elige una acción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Estado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240280"/>
            <a:ext cx="4846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Lo que el agente necesita para decidir. Una celda, una posición, un sensor suficiente.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Acción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240280"/>
            <a:ext cx="4846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Lo que puede hacer ahora. Izquierda o derecha; en un grid: norte, sur, este, oeste.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Política 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663440"/>
            <a:ext cx="4846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La regla s ↦ a. Puede ser determinista (siempre la misma a) o aleatoria (a veces explora).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Episodio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4663440"/>
            <a:ext cx="4846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s0, a0, r0, s1, a1, … hasta un estado terminal o un tope de pasos.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Q-learning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7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Q(s, a): valor de una acción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No basta decir «qué tan bueno es este estado». Para actuar hace falta un número por acción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155448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F2C59"/>
                </a:solidFill>
                <a:latin typeface="Calibri"/>
              </a:rPr>
              <a:t>Q(s, a)  ≈  retorno esperado si en s hago a, y después me porto bien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54680"/>
            <a:ext cx="5349240" cy="288036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375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Política voraz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94760"/>
            <a:ext cx="4846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π(s) = arg max_a  Q(s, a)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En cada s, elige la acción con mayor Q.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Si Q está bien, eso es un camino corto a la recompensa.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154680"/>
            <a:ext cx="5349240" cy="288036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3375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Tabla 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794760"/>
            <a:ext cx="4846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Una entrada por cada par (s, a).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Al inicio, ceros (no sabemos nada).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Q-learning solo reescribe casillas que visita.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Q-learning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8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Explorar o explotar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Si siempre eliges arg max Q y Q empieza en 0, puedes quedarte en el muro para siempre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53312"/>
            <a:ext cx="5623560" cy="416052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521208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Explotar: usa lo que ya crees mejor (voraz).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Explorar: prueba otra acción, a veces la que parece peor.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ε-greedy: con probabilidad ε, acción uniforme; si no, voraz.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ε alto al inicio, más bajo después, es práctica habitual.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Sin explorar no hay datos de la meta. Q no se entera.</a:t>
            </a:r>
          </a:p>
        </p:txBody>
      </p:sp>
      <p:pic>
        <p:nvPicPr>
          <p:cNvPr id="12" name="Picture 11" descr="egree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303520" cy="36096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Q-learning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9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Aprender de un solo paso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No esperamos el episodio entero. El objetivo es r de ahora más lo mejor que Q ve en s′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18288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F2C59"/>
                </a:solidFill>
                <a:latin typeface="Calibri"/>
              </a:rPr>
              <a:t>objetivo TD  =  r  +  γ  max_{a′} Q(s′, a′)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29000"/>
            <a:ext cx="3611880" cy="26060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6118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160520"/>
            <a:ext cx="32004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Lo que acaba de pasar. Señal real, no un estimado.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429000"/>
            <a:ext cx="3611880" cy="26060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36118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γ max Q(s′, ·)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4160520"/>
            <a:ext cx="32004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Lo mejor que, según la tabla actual, puedes hacer en el estado nuevo.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3429000"/>
            <a:ext cx="3611880" cy="26060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36118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Si s′ es terminal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4160520"/>
            <a:ext cx="32004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No hay futuro: el max vale 0. El objetivo se queda en 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Q-learning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10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Q-learning (Watkins)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Mueve Q(s, a) un poco α hacia el objetivo TD. α es la tasa de aprendizaje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53312"/>
            <a:ext cx="11155680" cy="1874519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1088136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F2C59"/>
                </a:solidFill>
                <a:latin typeface="Calibri"/>
              </a:rPr>
              <a:t>Q(s, a)  ←  Q(s, a)  +  α [ r + γ max_{a′} Q(s′, a′)  −  Q(s, a) 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01568"/>
            <a:ext cx="11155680" cy="2697480"/>
          </a:xfrm>
          <a:prstGeom prst="roundRect">
            <a:avLst>
              <a:gd name="adj" fmla="val 10000"/>
            </a:avLst>
          </a:prstGeom>
          <a:solidFill>
            <a:srgbClr val="0A1F40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051560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Q(s, a) ← 0  para todo par    ·    elegir α, γ, ε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para cada episodio: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  s ← estado inicial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  repetir: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      a ← ε-greedy(Q, s)     s′, r ← entorno(s, a)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      Q(s, a) ← Q(s, a) + α [ r + γ max_{a′} Q(s′, a′) − Q(s, a) ]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      s ← s′     hasta que s sea terminal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Q-learning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11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Ejemplo: pasillo de 3 celdas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α = 0.5, γ = 0.9. Q empieza en 0. Solo G paga +1; el resto, 0</a:t>
            </a:r>
          </a:p>
        </p:txBody>
      </p:sp>
      <p:pic>
        <p:nvPicPr>
          <p:cNvPr id="10" name="Picture 9" descr="corri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298448"/>
            <a:ext cx="8256463" cy="2606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4069080"/>
            <a:ext cx="111556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Acciones: L o R. En A, L te deja en A. En B, L vuelve a A. En G el episodio termina.
La política voraz con Q = 0 elige L (primer empate). Sin ε, el agente no sale de A.
A continuación forzamos el camino R, R para ver cómo se escribe la tabla.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Q-learning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12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Las primeras actualizaciones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Camino R, R en dos episodios. El max en G vale 0 porque G es terminal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051560" cy="438912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53312"/>
            <a:ext cx="1051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1353312"/>
            <a:ext cx="822960" cy="438912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1353312"/>
            <a:ext cx="822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1353312"/>
            <a:ext cx="822960" cy="438912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1353312"/>
            <a:ext cx="822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353312"/>
            <a:ext cx="822960" cy="438912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1353312"/>
            <a:ext cx="822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1353312"/>
            <a:ext cx="822960" cy="438912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1353312"/>
            <a:ext cx="822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1353312"/>
            <a:ext cx="1554480" cy="438912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1353312"/>
            <a:ext cx="15544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casilla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353312"/>
            <a:ext cx="1965960" cy="438912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353312"/>
            <a:ext cx="1965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objetivo TD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1353312"/>
            <a:ext cx="2103120" cy="438912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1353312"/>
            <a:ext cx="2103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 nueva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1792224"/>
            <a:ext cx="105156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1792224"/>
            <a:ext cx="1051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54480" y="1792224"/>
            <a:ext cx="82296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54480" y="1792224"/>
            <a:ext cx="822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1792224"/>
            <a:ext cx="82296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77440" y="1792224"/>
            <a:ext cx="822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1792224"/>
            <a:ext cx="82296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0" y="1792224"/>
            <a:ext cx="822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360" y="1792224"/>
            <a:ext cx="82296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23360" y="1792224"/>
            <a:ext cx="822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1792224"/>
            <a:ext cx="155448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6320" y="1792224"/>
            <a:ext cx="15544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Q(A, R)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1792224"/>
            <a:ext cx="196596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1792224"/>
            <a:ext cx="1965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0 + 0.9·0 = 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66760" y="1792224"/>
            <a:ext cx="210312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6760" y="1792224"/>
            <a:ext cx="2103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0.00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2231136"/>
            <a:ext cx="1051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2231136"/>
            <a:ext cx="1051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54480" y="2231136"/>
            <a:ext cx="822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54480" y="2231136"/>
            <a:ext cx="822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B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77440" y="2231136"/>
            <a:ext cx="822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77440" y="2231136"/>
            <a:ext cx="822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2231136"/>
            <a:ext cx="822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0" y="2231136"/>
            <a:ext cx="822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23360" y="2231136"/>
            <a:ext cx="822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23360" y="2231136"/>
            <a:ext cx="822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46320" y="2231136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46320" y="2231136"/>
            <a:ext cx="15544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Q(B, R)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2231136"/>
            <a:ext cx="1965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2231136"/>
            <a:ext cx="1965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1 + 0.9·0 = 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66760" y="2231136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66760" y="2231136"/>
            <a:ext cx="2103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0.50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2670048"/>
            <a:ext cx="105156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2670048"/>
            <a:ext cx="1051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554480" y="2670048"/>
            <a:ext cx="82296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554480" y="2670048"/>
            <a:ext cx="822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377440" y="2670048"/>
            <a:ext cx="82296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377440" y="2670048"/>
            <a:ext cx="822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0" y="2670048"/>
            <a:ext cx="82296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00400" y="2670048"/>
            <a:ext cx="822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23360" y="2670048"/>
            <a:ext cx="82296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23360" y="2670048"/>
            <a:ext cx="822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B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46320" y="2670048"/>
            <a:ext cx="155448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46320" y="2670048"/>
            <a:ext cx="15544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Q(A, R)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2670048"/>
            <a:ext cx="196596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0" y="2670048"/>
            <a:ext cx="1965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0 + 0.9·0.50 = 0.45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66760" y="2670048"/>
            <a:ext cx="210312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66760" y="2670048"/>
            <a:ext cx="2103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0.225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" y="3108960"/>
            <a:ext cx="1051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2920" y="3108960"/>
            <a:ext cx="1051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554480" y="3108960"/>
            <a:ext cx="822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554480" y="3108960"/>
            <a:ext cx="822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B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377440" y="3108960"/>
            <a:ext cx="822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377440" y="3108960"/>
            <a:ext cx="822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0" y="3108960"/>
            <a:ext cx="822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00400" y="3108960"/>
            <a:ext cx="822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023360" y="3108960"/>
            <a:ext cx="822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023360" y="3108960"/>
            <a:ext cx="822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G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846320" y="3108960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846320" y="3108960"/>
            <a:ext cx="15544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Q(B, R)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0" y="3108960"/>
            <a:ext cx="1965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00800" y="3108960"/>
            <a:ext cx="1965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1 + 0.9·0 = 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66760" y="3108960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66760" y="3108960"/>
            <a:ext cx="2103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0.75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2920" y="3794760"/>
            <a:ext cx="111556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Cálculo de la fila 2:  Q(B,R) ← 0 + 0.5 · (1 − 0) = 0.50.
Cálculo de la fila 3:  Q(A,R) ← 0 + 0.5 · (0.45 − 0) = 0.225.  La recompensa de G ya «viajó» un paso atrás.
Si α = 1, Q copiaría el objetivo de golpe. Con α = 0.5 se mueve a medias: más estable, más lento.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Q-learning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13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Q crece hacia el retorno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Con γ = 0.9, Q(B, R) debe ir a 1 y Q(A, R) a 0.9  (un paso de descuento)</a:t>
            </a:r>
          </a:p>
        </p:txBody>
      </p:sp>
      <p:pic>
        <p:nvPicPr>
          <p:cNvPr id="10" name="Picture 9" descr="qg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53312"/>
            <a:ext cx="5943600" cy="397042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37960" y="1417320"/>
            <a:ext cx="5074920" cy="461772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645920"/>
            <a:ext cx="46634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Cada visita a (B, R) acerca Q(B, R) a 1.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Cada visita a (A, R) acerca Q(A, R) a γ · Q(B, R).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La voraz, cuando Q(A,R) &gt; Q(A,L), sale de A hacia la meta.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L también se actualiza si la pruebas: en A, L no paga, Q(A,L) se queda cerca de 0.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Eso basta para decidir: en A y en B, R es mejor.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Q-learning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14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Por qué hace falta ε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Mismo pasillo, Q inicial 0. Empate: la voraz elige L y no ve G</a:t>
            </a:r>
          </a:p>
        </p:txBody>
      </p:sp>
      <p:pic>
        <p:nvPicPr>
          <p:cNvPr id="10" name="Picture 9" descr="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98448"/>
            <a:ext cx="5806440" cy="3771900"/>
          </a:xfrm>
          <a:prstGeom prst="rect">
            <a:avLst/>
          </a:prstGeom>
        </p:spPr>
      </p:pic>
      <p:pic>
        <p:nvPicPr>
          <p:cNvPr id="11" name="Picture 10" descr="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261872"/>
            <a:ext cx="4217282" cy="4434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5742432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Izquierda: pasillo. Derecha: un grid 3×3 (S, meta +1, pozo −1) tras 400 episodios ε-greedy. La flecha es arg max Q.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Q-learning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15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Tres perillas: α, γ, ε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Ya aparecieron en la regla. Aquí, qué rompes si las eliges mal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3611880" cy="461772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C59"/>
                </a:solidFill>
                <a:latin typeface="Calibri"/>
              </a:rPr>
              <a:t>α  tasa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31546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Fracción del error TD que escribes. 1 = copia el objetivo. Muy chica: aprende lento. Típico: 0.1–0.5 en tabular.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417320"/>
            <a:ext cx="3611880" cy="461772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64592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C59"/>
                </a:solidFill>
                <a:latin typeface="Calibri"/>
              </a:rPr>
              <a:t>γ  descuento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06040"/>
            <a:ext cx="31546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Peso del futuro. 0 = miope. 1 = suma cruda (puede divergir si el episodio no termina). En el pasillo usamos 0.9.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417320"/>
            <a:ext cx="3611880" cy="461772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64592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C59"/>
                </a:solidFill>
                <a:latin typeface="Calibri"/>
              </a:rPr>
              <a:t>ε  exploración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06040"/>
            <a:ext cx="31546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Probabilidad de ignorar a Q. 0 = voraz (y a veces ciego). 1 = borracho. Baja ε con el tiempo si quieres converger a voraz.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Q-learning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16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Off-policy: el max, no lo que hiciste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Los datos los genera ε-greedy. El objetivo finge que a partir de s′ serás voraz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5349240" cy="46634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Q-learning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Objetivo: r + γ max Q(s′, ·).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Aunque hayas ido a s′ con una acción aleatoria, evalúas la mejor a′.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Por eso puedes explorar y aun así estimar la política voraz.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Eso es off-policy: la política que actúa ≠ la que evalúas.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371600"/>
            <a:ext cx="5349240" cy="46634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60020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Si usaras la acción tomada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148840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Objetivo: r + γ Q(s′, a′), con a′ la que sí elegiste.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Eso sigue a la política que está actuando (on-policy).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SARSA es esa variante. En un acantilado, suele ser más cauto.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Hoy nos quedamos con Q-learning: más simple de escribir y de explicar.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Q-learning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17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En código, y dónde se rompe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La tabla Q cabe cuando hay pocos (s, a). Un pixel no es un estado tabular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2880360"/>
          </a:xfrm>
          <a:prstGeom prst="roundRect">
            <a:avLst>
              <a:gd name="adj" fmla="val 10000"/>
            </a:avLst>
          </a:prstGeom>
          <a:solidFill>
            <a:srgbClr val="0A1F40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104241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a = epsilon_greedy(Q[s], eps)          # explora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s2, r, done = env.step(a)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target = r + (0 if done else gamma * max(Q[s2]))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Q[s][a] += alpha * (target - Q[s][a])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s = s2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434840"/>
            <a:ext cx="5349240" cy="164592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617720"/>
            <a:ext cx="49377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Tabular (esta clase): un número por casilla. El pasillo y el grid 3×3 caben en una hoja.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4434840"/>
            <a:ext cx="5349240" cy="164592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617720"/>
            <a:ext cx="49377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Hoy, si s es una imagen: una red estima Q(s, a) (DQN). Misma regla; cambia la representación.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Q-learning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18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Ideas para llevar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Q-learning = bucle + tabla Q + un paso TD hacia el max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Bucle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24028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Acción, estado nuevo, recompensa. El retorno G descuenta el futuro con γ.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Q(s, 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24028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Estima ese retorno si haces a en s. La voraz lee arg max Q.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La regla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66344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Un poco α hacia r + γ max Q(s′, ·). Off-policy: exploras, evalúas al voraz.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Explorar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466344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ε-greedy. Si no, con Q=0 puedes no ver nunca la recompensa.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Q-learning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19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Antes de lanzar un Q-learning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Una lista corta; si varias respuestas son no, aún no es un resultado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11155680" cy="461772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9164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¿El estado que usas basta para decidir, sin necesidad de recordar todo el camino?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¿Hay exploración de verdad (ε &gt; 0) mientras Q está vacía?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¿El episodio termina, o γ &lt; 1, para que G no sea una suma infinita?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¿Reportas retorno por episodio, no solo «la tabla se veía bonita»?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¿La política voraz final llega a la meta en el mundo de prueba, sin ε?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Si |S| × |A| no cabe en una tabla, no es este algoritmo a secas: cambia la representación.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