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A1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E8B93A"/>
                </a:solidFill>
                <a:latin typeface="Calibri"/>
              </a:rPr>
              <a:t>CURSO DE INTELIGENCIA ARTIFICIAL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Razonamiento lógico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5D0DC"/>
                </a:solidFill>
                <a:latin typeface="Calibri"/>
              </a:rPr>
              <a:t>Lógica de predicados, resolución, encadenamiento
hacia adelante y hacia atrás.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8B93A"/>
                </a:solidFill>
                <a:latin typeface="Calibri"/>
              </a:rPr>
              <a:t>Razonamiento lógico    ·    Russell &amp; Norvig, AIMA caps. 7–9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999" cy="347472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28816"/>
            <a:ext cx="91440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Curso de Inteligencia Artificial  ·  Razonamiento lógico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78440" y="6528816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 /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F2C59"/>
                </a:solidFill>
                <a:latin typeface="Calibri"/>
              </a:rPr>
              <a:t>Agenda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804672"/>
            <a:ext cx="1280160" cy="54864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5349240" cy="21488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600200"/>
            <a:ext cx="494690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6CA8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1920240"/>
            <a:ext cx="494690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Lógica de predicados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560320"/>
            <a:ext cx="494690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Calibri"/>
              </a:rPr>
              <a:t>Objetos, relaciones, cuantificadores. De proposiciones a FOL.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17320"/>
            <a:ext cx="5349240" cy="21488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6248" y="1600200"/>
            <a:ext cx="494690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6CA8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1920240"/>
            <a:ext cx="494690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Resolución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560320"/>
            <a:ext cx="494690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Calibri"/>
              </a:rPr>
              <a:t>CNF, unificación y prueba por refutación.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840480"/>
            <a:ext cx="5349240" cy="21488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4023360"/>
            <a:ext cx="494690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6CA8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343400"/>
            <a:ext cx="494690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Forward chaining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4983480"/>
            <a:ext cx="494690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Calibri"/>
              </a:rPr>
              <a:t>De los hechos hacia las conclusiones (datos).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840480"/>
            <a:ext cx="5349240" cy="21488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8" y="4023360"/>
            <a:ext cx="494690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6CA8"/>
                </a:solidFill>
                <a:latin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6248" y="4343400"/>
            <a:ext cx="494690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Backward chaining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6248" y="4983480"/>
            <a:ext cx="494690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  <a:latin typeface="Calibri"/>
              </a:rPr>
              <a:t>De la meta hacia los hechos (objetivos).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999" cy="347472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28816"/>
            <a:ext cx="91440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Curso de Inteligencia Artificial  ·  Razonamiento lógico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78440" y="6528816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3 /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F2C59"/>
                </a:solidFill>
                <a:latin typeface="Calibri"/>
              </a:rPr>
              <a:t>Por qué lógica en IA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804672"/>
            <a:ext cx="1280160" cy="54864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32688"/>
            <a:ext cx="11155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5D6D7E"/>
                </a:solidFill>
                <a:latin typeface="Calibri"/>
              </a:rPr>
              <a:t>Representar conocimiento y derivar lo que se sigue de él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508760"/>
            <a:ext cx="11155680" cy="45262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783080"/>
            <a:ext cx="1051560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 Una base de conocimiento (KB) es un conjunto de oraciones en un lenguaje formal.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 El agente percibe, añade hechos a la KB e infiere nuevas oraciones (qué hacer, qué es verdad).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 Entailment: KB ⊨ α significa que α es verdadera en todos los modelos donde KB es verdadera.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 Inferencia: un algoritmo que deriva α. Es sano si solo deriva consecuencias; completo si deriva todas.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 La lógica de predicados (FOL) es el lenguaje estándar de AIMA para objetos, relaciones y cuantificadores.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999" cy="347472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28816"/>
            <a:ext cx="91440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Curso de Inteligencia Artificial  ·  Razonamiento lógico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78440" y="6528816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4 /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F2C59"/>
                </a:solidFill>
                <a:latin typeface="Calibri"/>
              </a:rPr>
              <a:t>De proposicional a predicados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804672"/>
            <a:ext cx="1280160" cy="54864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5349240" cy="46177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645920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Lógica proposicional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94560"/>
            <a:ext cx="48463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Átomos: P, Q, Breeze12.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Conectivas: ¬ ∧ ∨ → ↔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El mundo es un conjunto de verdades/falsedades.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No puede decir «para todo pozo adyacente hay brisa».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Hay que copiar la misma regla en cada casilla.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1417320"/>
            <a:ext cx="5349240" cy="46177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1645920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Lógica de predicados (FOL)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194560"/>
            <a:ext cx="48463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Constantes: Arad, West, Tom.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Predicados: Adjacent(x,y), Gato(x).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Funciones: FatherOf(x), Succ(n).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Variables y cuantificadores ∀, ∃.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Una regla cubre todos los objetos del dominio.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999" cy="347472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28816"/>
            <a:ext cx="91440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Curso de Inteligencia Artificial  ·  Razonamiento lógico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78440" y="6528816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5 /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F2C59"/>
                </a:solidFill>
                <a:latin typeface="Calibri"/>
              </a:rPr>
              <a:t>Sintaxis de FOL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804672"/>
            <a:ext cx="1280160" cy="54864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32688"/>
            <a:ext cx="11155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5D6D7E"/>
                </a:solidFill>
                <a:latin typeface="Calibri"/>
              </a:rPr>
              <a:t>Términos denotan objetos; átomos y fórmulas denotan verdades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11155680" cy="8686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18488"/>
            <a:ext cx="2194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B6CA8"/>
                </a:solidFill>
                <a:latin typeface="Calibri"/>
              </a:rPr>
              <a:t>Término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618488"/>
            <a:ext cx="8321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2C3E50"/>
                </a:solidFill>
                <a:latin typeface="Calibri"/>
              </a:rPr>
              <a:t>constante, variable o función: West, x, FatherOf(x)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377440"/>
            <a:ext cx="11155680" cy="8686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578608"/>
            <a:ext cx="2194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B6CA8"/>
                </a:solidFill>
                <a:latin typeface="Calibri"/>
              </a:rPr>
              <a:t>Átomo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578608"/>
            <a:ext cx="8321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2C3E50"/>
                </a:solidFill>
                <a:latin typeface="Calibri"/>
              </a:rPr>
              <a:t>predicado aplicado a términos: Adjacent(x, y)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337560"/>
            <a:ext cx="11155680" cy="8686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538728"/>
            <a:ext cx="2194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B6CA8"/>
                </a:solidFill>
                <a:latin typeface="Calibri"/>
              </a:rPr>
              <a:t>Literal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538728"/>
            <a:ext cx="8321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2C3E50"/>
                </a:solidFill>
                <a:latin typeface="Calibri"/>
              </a:rPr>
              <a:t>átomo o su negación: ¬Hostile(z)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297680"/>
            <a:ext cx="11155680" cy="8686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498848"/>
            <a:ext cx="2194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B6CA8"/>
                </a:solidFill>
                <a:latin typeface="Calibri"/>
              </a:rPr>
              <a:t>Cuantificador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498848"/>
            <a:ext cx="8321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2C3E50"/>
                </a:solidFill>
                <a:latin typeface="Calibri"/>
              </a:rPr>
              <a:t>∀x  P(x)    ∃y  Q(y)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257800"/>
            <a:ext cx="11155680" cy="8686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458968"/>
            <a:ext cx="2194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B6CA8"/>
                </a:solidFill>
                <a:latin typeface="Calibri"/>
              </a:rPr>
              <a:t>Oración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5458968"/>
            <a:ext cx="8321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2C3E50"/>
                </a:solidFill>
                <a:latin typeface="Calibri"/>
              </a:rPr>
              <a:t>fórmula cerrada (sin variables libres) que va a la KB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999" cy="347472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28816"/>
            <a:ext cx="91440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Curso de Inteligencia Artificial  ·  Razonamiento lógico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78440" y="6528816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6 /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F2C59"/>
                </a:solidFill>
                <a:latin typeface="Calibri"/>
              </a:rPr>
              <a:t>Ejemplo FOL: «West es un criminal»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804672"/>
            <a:ext cx="1280160" cy="54864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32688"/>
            <a:ext cx="11155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5D6D7E"/>
                </a:solidFill>
                <a:latin typeface="Calibri"/>
              </a:rPr>
              <a:t>KB de AIMA (definite clauses). Más abajo usamos una KB más chica para FC vs BC.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11155680" cy="46177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9164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1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∀x ∀y ∀z  American(x) ∧ Weapon(y) ∧ Sells(x, y, z) ∧ Hostile(z)  →  Criminal(x)</a:t>
            </a:r>
          </a:p>
          <a:p>
            <a:pPr>
              <a:spcAft>
                <a:spcPts val="11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∀x  Missile(x)  →  Weapon(x)</a:t>
            </a:r>
          </a:p>
          <a:p>
            <a:pPr>
              <a:spcAft>
                <a:spcPts val="11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∀x  Enemy(x, America)  →  Hostile(x)</a:t>
            </a:r>
          </a:p>
          <a:p>
            <a:pPr>
              <a:spcAft>
                <a:spcPts val="11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American(West)     Missile(M1)     Owns(Nono, M1)</a:t>
            </a:r>
          </a:p>
          <a:p>
            <a:pPr>
              <a:spcAft>
                <a:spcPts val="11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∀x  Missile(x) ∧ Owns(Nono, x)  →  Sells(West, x, Nono)</a:t>
            </a:r>
          </a:p>
          <a:p>
            <a:pPr>
              <a:spcAft>
                <a:spcPts val="11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Enemy(Nono, America)</a:t>
            </a:r>
          </a:p>
          <a:p>
            <a:pPr>
              <a:spcAft>
                <a:spcPts val="11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Pregunta:  Criminal(West) 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999" cy="347472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28816"/>
            <a:ext cx="91440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Curso de Inteligencia Artificial  ·  Razonamiento lógico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78440" y="6528816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7 /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F2C59"/>
                </a:solidFill>
                <a:latin typeface="Calibri"/>
              </a:rPr>
              <a:t>Unificación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804672"/>
            <a:ext cx="1280160" cy="54864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32688"/>
            <a:ext cx="11155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5D6D7E"/>
                </a:solidFill>
                <a:latin typeface="Calibri"/>
              </a:rPr>
              <a:t>Sustitución que hace idénticas dos expresiones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5349240" cy="46177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45920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94560"/>
            <a:ext cx="48463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UNIFY(p, q) = θ  si pθ = qθ.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Knows(John, x) y Knows(John, Jane) se unifican con {x / Jane}.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El MGU (unificador más general) evita comprometer variables de más.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Occur check: no unificar x con FatherOf(x).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17320"/>
            <a:ext cx="5349240" cy="46177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645920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Para qué sirve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194560"/>
            <a:ext cx="48463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Modus ponens generalizado: de p1…pn y (p1 ∧ … ∧ pn → q) inferir qθ.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Resolución FOL: complementar literales que unifican.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Forward y backward chaining instancian reglas al unificar con hechos o metas.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999" cy="347472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28816"/>
            <a:ext cx="91440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Curso de Inteligencia Artificial  ·  Razonamiento lógico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78440" y="6528816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8 /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F2C59"/>
                </a:solidFill>
                <a:latin typeface="Calibri"/>
              </a:rPr>
              <a:t>Resolución: idea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804672"/>
            <a:ext cx="1280160" cy="54864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32688"/>
            <a:ext cx="11155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5D6D7E"/>
                </a:solidFill>
                <a:latin typeface="Calibri"/>
              </a:rPr>
              <a:t>Prueba por refutación sobre cláusulas en CNF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11155680" cy="46177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91640"/>
            <a:ext cx="10515600" cy="4160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•  Poner KB y ¬α en forma normal conjuntiva (CNF): conjunción de cláusulas (disyunciones de literales).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•  Regla proposicional: de (P ∨ A) y (¬P ∨ B) inferir (A ∨ B). El literal P se «cancela».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•  En FOL: de (L ∨ A) y (¬M ∨ B), si UNIFY(L, M) = θ, inferir (A ∨ B)θ.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•  La cláusula vacía □ significa contradicción: KB ∪ {¬α} es insatisfacible, luego KB ⊨ α.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•  La resolución es refutation-complete: si α se sigue, se puede derivar □ (con factoring).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999" cy="347472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28816"/>
            <a:ext cx="91440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Curso de Inteligencia Artificial  ·  Razonamiento lógico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78440" y="6528816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9 /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F2C59"/>
                </a:solidFill>
                <a:latin typeface="Calibri"/>
              </a:rPr>
              <a:t>Algoritmo de resolución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804672"/>
            <a:ext cx="1280160" cy="54864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32688"/>
            <a:ext cx="11155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5D6D7E"/>
                </a:solidFill>
                <a:latin typeface="Calibri"/>
              </a:rPr>
              <a:t>KB ⊨ α  sii  se deriva la cláusula vacía desde CNF(KB ∧ ¬α)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4592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Pasos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03120"/>
            <a:ext cx="51206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2C3E50"/>
                </a:solidFill>
                <a:latin typeface="Calibri"/>
              </a:rPr>
              <a:t>•  Eliminar →, ↔; mover ¬ hacia adentro.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2C3E50"/>
                </a:solidFill>
                <a:latin typeface="Calibri"/>
              </a:rPr>
              <a:t>•  Estandarizar variables; Skolemizar ∃.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2C3E50"/>
                </a:solidFill>
                <a:latin typeface="Calibri"/>
              </a:rPr>
              <a:t>•  Sacar ∀; distribuir ∨ sobre ∧.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2C3E50"/>
                </a:solidFill>
                <a:latin typeface="Calibri"/>
              </a:rPr>
              <a:t>•  Repetir: elegir dos cláusulas, resolver, añadir el resolvente.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2C3E50"/>
                </a:solidFill>
                <a:latin typeface="Calibri"/>
              </a:rPr>
              <a:t>•  Parar si aparece □ (éxito) o no hay resolventes nuevos (falla).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417320"/>
            <a:ext cx="5257800" cy="46177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164592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Ejemplo mínimo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103120"/>
            <a:ext cx="475488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2C3E50"/>
                </a:solidFill>
                <a:latin typeface="Calibri"/>
              </a:rPr>
              <a:t>•  KB:  P  →  Q     y     P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2C3E50"/>
                </a:solidFill>
                <a:latin typeface="Calibri"/>
              </a:rPr>
              <a:t>•  Query: Q.  Añadir ¬Q.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2C3E50"/>
                </a:solidFill>
                <a:latin typeface="Calibri"/>
              </a:rPr>
              <a:t>•  CNF:  (¬P ∨ Q),  P,  ¬Q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2C3E50"/>
                </a:solidFill>
                <a:latin typeface="Calibri"/>
              </a:rPr>
              <a:t>•  Resolver P con (¬P ∨ Q) → Q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2C3E50"/>
                </a:solidFill>
                <a:latin typeface="Calibri"/>
              </a:rPr>
              <a:t>•  Resolver Q con ¬Q →  □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2C3E50"/>
                </a:solidFill>
                <a:latin typeface="Calibri"/>
              </a:rPr>
              <a:t>•  Luego KB ⊨ Q.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999" cy="347472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28816"/>
            <a:ext cx="91440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Curso de Inteligencia Artificial  ·  Razonamiento lógico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78440" y="6528816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10 /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F2C59"/>
                </a:solidFill>
                <a:latin typeface="Calibri"/>
              </a:rPr>
              <a:t>Cláusulas de Horn y definite clauses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804672"/>
            <a:ext cx="1280160" cy="54864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32688"/>
            <a:ext cx="11155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5D6D7E"/>
                </a:solidFill>
                <a:latin typeface="Calibri"/>
              </a:rPr>
              <a:t>El fragmento donde FC y BC son naturales y eficientes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11155680" cy="46177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91640"/>
            <a:ext cx="10515600" cy="4160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•  Cláusula de Horn: a lo sumo un literal positivo.  (¬P ∨ ¬Q ∨ R)  ≡  (P ∧ Q → R).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•  Definite clause: exactamente un literal positivo (una implicación con cabeza).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•  Hecho: definite clause sin premisas, p. ej. Gato(Tom).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•  La resolución general es potente pero cara. En Horn, modus ponens generalizado basta.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•  Forward y backward chaining operan solo sobre definite clauses.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999" cy="347472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28816"/>
            <a:ext cx="91440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Curso de Inteligencia Artificial  ·  Razonamiento lógico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78440" y="6528816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11 /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F2C59"/>
                </a:solidFill>
                <a:latin typeface="Calibri"/>
              </a:rPr>
              <a:t>Una KB simple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804672"/>
            <a:ext cx="1280160" cy="54864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32688"/>
            <a:ext cx="11155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5D6D7E"/>
                </a:solidFill>
                <a:latin typeface="Calibri"/>
              </a:rPr>
              <a:t>Misma query para los dos encadenamientos: Mortal(Tom)?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6720840" cy="46634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6217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Reglas y hechos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057400"/>
            <a:ext cx="621792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R1   Gato(x)  →  Animal(x)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R2   Animal(x)  →  Mortal(x)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R3   Gato(x)  →  Maulla(x)     ←  irrelevante para la query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F1   Gato(Tom)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F2   Gato(Felix)               ←  otro individuo, no preguntado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/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Query    Mortal(Tom) 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1371600"/>
            <a:ext cx="4251960" cy="46634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0" y="1600200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C59"/>
                </a:solidFill>
                <a:latin typeface="Calibri"/>
              </a:rPr>
              <a:t>Para qué está R3 y Felix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2148840"/>
            <a:ext cx="3749039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C3E50"/>
                </a:solidFill>
                <a:latin typeface="Calibri"/>
              </a:rPr>
              <a:t>Sirven para ver la diferencia.
FC va a inferir también Maulla y todo lo de Felix.
BC no los toca: no hacen falta para Mortal(Tom).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999" cy="347472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28816"/>
            <a:ext cx="91440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Curso de Inteligencia Artificial  ·  Razonamiento lógico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78440" y="6528816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12 /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F2C59"/>
                </a:solidFill>
                <a:latin typeface="Calibri"/>
              </a:rPr>
              <a:t>Forward chaining: recorrido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804672"/>
            <a:ext cx="1280160" cy="54864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32688"/>
            <a:ext cx="11155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5D6D7E"/>
                </a:solidFill>
                <a:latin typeface="Calibri"/>
              </a:rPr>
              <a:t>Dirigido por datos: dispara toda regla cuyas premisas ya son hechos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53312"/>
            <a:ext cx="11155680" cy="10515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481328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2C3E50"/>
                </a:solidFill>
                <a:latin typeface="Calibri"/>
              </a:rPr>
              <a:t>Agenda inicial = { Gato(Tom), Gato(Felix) }.  Mientras salga un hecho nuevo, se aplican R1–R3.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06040"/>
            <a:ext cx="1828800" cy="33832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2743200"/>
            <a:ext cx="1609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6CA8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3108960"/>
            <a:ext cx="160934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C59"/>
                </a:solidFill>
                <a:latin typeface="Calibri"/>
              </a:rPr>
              <a:t>R1 + Tom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3794760"/>
            <a:ext cx="1609344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Calibri"/>
              </a:rPr>
              <a:t>Gato(Tom) → Animal(Tom)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23160" y="2606040"/>
            <a:ext cx="1828800" cy="33832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32888" y="2743200"/>
            <a:ext cx="1609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6CA8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32888" y="3108960"/>
            <a:ext cx="160934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C59"/>
                </a:solidFill>
                <a:latin typeface="Calibri"/>
              </a:rPr>
              <a:t>R1 + Felix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32888" y="3794760"/>
            <a:ext cx="1609344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Calibri"/>
              </a:rPr>
              <a:t>Gato(Felix) → Animal(Felix)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2606040"/>
            <a:ext cx="1828800" cy="33832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53128" y="2743200"/>
            <a:ext cx="1609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6CA8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3128" y="3108960"/>
            <a:ext cx="160934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C59"/>
                </a:solidFill>
                <a:latin typeface="Calibri"/>
              </a:rPr>
              <a:t>R3 + Tom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3128" y="3794760"/>
            <a:ext cx="1609344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Calibri"/>
              </a:rPr>
              <a:t>Gato(Tom) → Maulla(Tom)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2606040"/>
            <a:ext cx="1828800" cy="33832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3368" y="2743200"/>
            <a:ext cx="1609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6CA8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3368" y="3108960"/>
            <a:ext cx="160934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C59"/>
                </a:solidFill>
                <a:latin typeface="Calibri"/>
              </a:rPr>
              <a:t>R3 + Felix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3368" y="3794760"/>
            <a:ext cx="1609344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Calibri"/>
              </a:rPr>
              <a:t>Gato(Felix) → Maulla(Felix)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80" y="2606040"/>
            <a:ext cx="1828800" cy="33832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93608" y="2743200"/>
            <a:ext cx="1609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6CA8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93608" y="3108960"/>
            <a:ext cx="160934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C59"/>
                </a:solidFill>
                <a:latin typeface="Calibri"/>
              </a:rPr>
              <a:t>R2 + Tom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93608" y="3794760"/>
            <a:ext cx="1609344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Calibri"/>
              </a:rPr>
              <a:t>Animal(Tom) → Mortal(Tom)  ✓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104120" y="2606040"/>
            <a:ext cx="1828800" cy="33832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13848" y="2743200"/>
            <a:ext cx="1609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6CA8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13848" y="3108960"/>
            <a:ext cx="160934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C59"/>
                </a:solidFill>
                <a:latin typeface="Calibri"/>
              </a:rPr>
              <a:t>R2 + Felix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13848" y="3794760"/>
            <a:ext cx="1609344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Calibri"/>
              </a:rPr>
              <a:t>Animal(Felix) → Mortal(Felix)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999" cy="347472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28816"/>
            <a:ext cx="91440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Curso de Inteligencia Artificial  ·  Razonamiento lógico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78440" y="6528816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13 /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F2C59"/>
                </a:solidFill>
                <a:latin typeface="Calibri"/>
              </a:rPr>
              <a:t>Backward chaining: recorrido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804672"/>
            <a:ext cx="1280160" cy="54864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32688"/>
            <a:ext cx="11155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5D6D7E"/>
                </a:solidFill>
                <a:latin typeface="Calibri"/>
              </a:rPr>
              <a:t>Dirigido por la meta: solo se abren submetas de Mortal(Tom)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53312"/>
            <a:ext cx="11155680" cy="10515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481328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2C3E50"/>
                </a:solidFill>
                <a:latin typeface="Calibri"/>
              </a:rPr>
              <a:t>Pila de metas. Una regla se usa solo si su cabeza unifica con la meta actual.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06040"/>
            <a:ext cx="1828800" cy="33832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2743200"/>
            <a:ext cx="1609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6CA8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3108960"/>
            <a:ext cx="160934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C59"/>
                </a:solidFill>
                <a:latin typeface="Calibri"/>
              </a:rPr>
              <a:t>Meta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3703320"/>
            <a:ext cx="1609344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Calibri"/>
              </a:rPr>
              <a:t>¿Mortal(Tom)?
No es un hecho.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23160" y="2606040"/>
            <a:ext cx="1828800" cy="33832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32888" y="2743200"/>
            <a:ext cx="1609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6CA8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32888" y="3108960"/>
            <a:ext cx="160934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C59"/>
                </a:solidFill>
                <a:latin typeface="Calibri"/>
              </a:rPr>
              <a:t>R2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32888" y="3703320"/>
            <a:ext cx="1609344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Calibri"/>
              </a:rPr>
              <a:t>Cabeza Mortal(x)
→ submeta Animal(Tom)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2606040"/>
            <a:ext cx="1828800" cy="33832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53128" y="2743200"/>
            <a:ext cx="1609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6CA8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3128" y="3108960"/>
            <a:ext cx="160934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C59"/>
                </a:solidFill>
                <a:latin typeface="Calibri"/>
              </a:rPr>
              <a:t>R1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3128" y="3703320"/>
            <a:ext cx="1609344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Calibri"/>
              </a:rPr>
              <a:t>Cabeza Animal(x)
→ submeta Gato(Tom)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2606040"/>
            <a:ext cx="1828800" cy="33832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3368" y="2743200"/>
            <a:ext cx="1609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6CA8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3368" y="3108960"/>
            <a:ext cx="160934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C59"/>
                </a:solidFill>
                <a:latin typeface="Calibri"/>
              </a:rPr>
              <a:t>Hecho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3368" y="3703320"/>
            <a:ext cx="1609344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Calibri"/>
              </a:rPr>
              <a:t>Gato(Tom) está en la KB. 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80" y="2606040"/>
            <a:ext cx="1828800" cy="33832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93608" y="2743200"/>
            <a:ext cx="1609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6CA8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93608" y="3108960"/>
            <a:ext cx="160934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C59"/>
                </a:solidFill>
                <a:latin typeface="Calibri"/>
              </a:rPr>
              <a:t>Cierre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93608" y="3703320"/>
            <a:ext cx="1609344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Calibri"/>
              </a:rPr>
              <a:t>Se cumplen las submetas.
Mortal(Tom) es verdadero.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104120" y="2606040"/>
            <a:ext cx="1828800" cy="33832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13848" y="2743200"/>
            <a:ext cx="1609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6CA8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13848" y="3108960"/>
            <a:ext cx="160934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C59"/>
                </a:solidFill>
                <a:latin typeface="Calibri"/>
              </a:rPr>
              <a:t>No se usa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13848" y="3703320"/>
            <a:ext cx="1609344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Calibri"/>
              </a:rPr>
              <a:t>R3 y Felix
no aparecen nunca.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999" cy="347472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28816"/>
            <a:ext cx="91440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Curso de Inteligencia Artificial  ·  Razonamiento lógico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78440" y="6528816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14 /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F2C59"/>
                </a:solidFill>
                <a:latin typeface="Calibri"/>
              </a:rPr>
              <a:t>La misma KB, dos recorridos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804672"/>
            <a:ext cx="1280160" cy="54864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32688"/>
            <a:ext cx="11155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5D6D7E"/>
                </a:solidFill>
                <a:latin typeface="Calibri"/>
              </a:rPr>
              <a:t>Ambos responden sí a Mortal(Tom). No recorren lo mismo.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46634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C59"/>
                </a:solidFill>
                <a:latin typeface="Calibri"/>
              </a:rPr>
              <a:t>Forward chaining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01168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6CA8"/>
                </a:solidFill>
                <a:latin typeface="Calibri"/>
              </a:rPr>
              <a:t>Empuja todos los hechos hacia adelante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68880"/>
            <a:ext cx="50292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Parte de F1 y F2.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Infiere Animal, Maulla y Mortal de Tom y de Felix.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6 conclusiones nuevas; 2 no pedidas.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Útil si hay que materializar toda la KB.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Trabajo de más cuando solo importa una query.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71600"/>
            <a:ext cx="5486400" cy="46634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60020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C59"/>
                </a:solidFill>
                <a:latin typeface="Calibri"/>
              </a:rPr>
              <a:t>Backward chaining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01168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6CA8"/>
                </a:solidFill>
                <a:latin typeface="Calibri"/>
              </a:rPr>
              <a:t>Tira de la query hacia los hechos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468880"/>
            <a:ext cx="50292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Parte de Mortal(Tom).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Cadena: Mortal ← Animal ← Gato(Tom).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No visita Felix ni la regla Maulla.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Útil si hay muchas reglas y una pregunta.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 Puede ciclar si las reglas se llaman entre sí.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999" cy="347472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28816"/>
            <a:ext cx="91440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Curso de Inteligencia Artificial  ·  Razonamiento lógico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78440" y="6528816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15 /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F2C59"/>
                </a:solidFill>
                <a:latin typeface="Calibri"/>
              </a:rPr>
              <a:t>Comparar los tres métodos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804672"/>
            <a:ext cx="1280160" cy="54864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3611880" cy="46177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645920"/>
            <a:ext cx="3200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Resolución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514600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6CA8"/>
                </a:solidFill>
                <a:latin typeface="Calibri"/>
              </a:rPr>
              <a:t>Cualquier FOL (CNF)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200400"/>
            <a:ext cx="32004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C3E50"/>
                </a:solidFill>
                <a:latin typeface="Calibri"/>
              </a:rPr>
              <a:t>Completa por refutación; puede explotar combinatoriamente.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59" y="1417320"/>
            <a:ext cx="3611880" cy="46177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3127" y="1645920"/>
            <a:ext cx="3200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Forward chaining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3127" y="2514600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6CA8"/>
                </a:solidFill>
                <a:latin typeface="Calibri"/>
              </a:rPr>
              <a:t>Definite clauses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7" y="3200400"/>
            <a:ext cx="32004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C3E50"/>
                </a:solidFill>
                <a:latin typeface="Calibri"/>
              </a:rPr>
              <a:t>Dirigido por datos. Útil si hay muchos hechos y pocas queries. Puede inferir de más.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0998" y="1417320"/>
            <a:ext cx="3611880" cy="46177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2166" y="1645920"/>
            <a:ext cx="3200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Backward chaining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6" y="2514600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B6CA8"/>
                </a:solidFill>
                <a:latin typeface="Calibri"/>
              </a:rPr>
              <a:t>Definite clauses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2166" y="3200400"/>
            <a:ext cx="32004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C3E50"/>
                </a:solidFill>
                <a:latin typeface="Calibri"/>
              </a:rPr>
              <a:t>Dirigido por objetivos. Solo trabaja lo necesario para la query. Puede ciclar sin chequeo.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999" cy="347472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28816"/>
            <a:ext cx="91440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Curso de Inteligencia Artificial  ·  Razonamiento lógico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78440" y="6528816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16 /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F2C59"/>
                </a:solidFill>
                <a:latin typeface="Calibri"/>
              </a:rPr>
              <a:t>Para llevar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804672"/>
            <a:ext cx="1280160" cy="54864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11155680" cy="46177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691640"/>
            <a:ext cx="10515600" cy="4160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•  FOL habla de objetos y relaciones; ∀ y ∃ compactan lo que en proposicional sería una copia por casilla.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•  Unificar es hacer coincidir expresiones con una sustitución; es el motor de FOL.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•  Resolución: convertir a CNF y buscar □ a partir de KB ∧ ¬query.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•  FC recorre la KB empujando hechos (puede derivar Maulla(Felix) sin que nadie lo pida).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•  BC recorre la KB tirando de la meta (Mortal(Tom) no necesita a Felix ni a Maulla).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999" cy="347472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28816"/>
            <a:ext cx="91440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Curso de Inteligencia Artificial  ·  Razonamiento lógico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78440" y="6528816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17 /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F2C59"/>
                </a:solidFill>
                <a:latin typeface="Calibri"/>
              </a:rPr>
              <a:t>Para discutir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804672"/>
            <a:ext cx="1280160" cy="54864"/>
          </a:xfrm>
          <a:prstGeom prst="rect">
            <a:avLst/>
          </a:prstGeom>
          <a:solidFill>
            <a:srgbClr val="E8B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5349240" cy="21488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600200"/>
            <a:ext cx="494690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6CA8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1920240"/>
            <a:ext cx="494690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¿Cuándo FOL?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560320"/>
            <a:ext cx="494690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C3E50"/>
                </a:solidFill>
                <a:latin typeface="Calibri"/>
              </a:rPr>
              <a:t>¿Qué no puede decir la lógica proposicional en el Wumpus o en Romania?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17320"/>
            <a:ext cx="5349240" cy="21488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6248" y="1600200"/>
            <a:ext cx="494690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6CA8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1920240"/>
            <a:ext cx="494690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¿Sano y completo?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560320"/>
            <a:ext cx="494690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C3E50"/>
                </a:solidFill>
                <a:latin typeface="Calibri"/>
              </a:rPr>
              <a:t>Un algoritmo rápido que se equivoca, ¿sirve como motor de un agente?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840480"/>
            <a:ext cx="5349240" cy="21488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4023360"/>
            <a:ext cx="494690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6CA8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343400"/>
            <a:ext cx="494690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¿Datos o metas?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4983480"/>
            <a:ext cx="494690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C3E50"/>
                </a:solidFill>
                <a:latin typeface="Calibri"/>
              </a:rPr>
              <a:t>En la KB de Tom y Felix, ¿cuándo preferirías FC y cuándo BC?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840480"/>
            <a:ext cx="5349240" cy="21488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5875">
            <a:solidFill>
              <a:srgbClr val="D5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8" y="4023360"/>
            <a:ext cx="494690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B6CA8"/>
                </a:solidFill>
                <a:latin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6248" y="4343400"/>
            <a:ext cx="494690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C59"/>
                </a:solidFill>
                <a:latin typeface="Calibri"/>
              </a:rPr>
              <a:t>¿Y Prolog?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6248" y="4983480"/>
            <a:ext cx="494690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C3E50"/>
                </a:solidFill>
                <a:latin typeface="Calibri"/>
              </a:rPr>
              <a:t>Backward chaining + unificación + profundidad: ¿qué falla si hay ciclos?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