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Razonamiento 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Lógica de predicados, resolución, encadenamiento
hacia adelante y hacia atrás.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Razonamiento lógico    ·    Russell &amp; Norvig, AIMA caps. 7–9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0020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2024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Lógica de predicados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6032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Objetos, relaciones, cuantificadores. De proposiciones a FOL.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92024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56032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CNF, unificación y prueba por refutación.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02336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34340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Forward chaining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98348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De los hechos hacia las conclusiones (datos).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023360"/>
            <a:ext cx="4946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343400"/>
            <a:ext cx="4946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Backward chaining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983480"/>
            <a:ext cx="49469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De la meta hacia los hechos (objetivos).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Por qué lógica en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Representar conocimiento y derivar lo que se sigue de él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26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21954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Una base de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conocimiento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(KB) es un conjunto de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oraciones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un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lenguaje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formal.</a:t>
            </a:r>
          </a:p>
          <a:p>
            <a:pPr>
              <a:spcAft>
                <a:spcPts val="14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agente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percibe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añade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hechos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a la KB e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infiere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nuevas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oraciones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hacer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es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verdad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).</a:t>
            </a:r>
          </a:p>
          <a:p>
            <a:pPr>
              <a:spcAft>
                <a:spcPts val="14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Entailment: KB ⊨ α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significa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que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α es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verdadera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todos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modelos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donde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KB es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verdadera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Inferencia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: un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algoritmo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que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deriva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α. Es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sa</a:t>
            </a:r>
            <a:r>
              <a:rPr lang="es-419" sz="1800" b="0" dirty="0">
                <a:solidFill>
                  <a:srgbClr val="2C3E50"/>
                </a:solidFill>
                <a:latin typeface="Calibri"/>
              </a:rPr>
              <a:t>no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si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solo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deriva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consecuencias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;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completo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si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deriva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todas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800" b="0" dirty="0">
                <a:solidFill>
                  <a:srgbClr val="2C3E50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lógica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predicados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(FOL) es el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lenguaje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estándar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de AIMA para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objetos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relaciones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2C3E50"/>
                </a:solidFill>
                <a:latin typeface="Calibri"/>
              </a:rPr>
              <a:t>cuantificadores</a:t>
            </a:r>
            <a:r>
              <a:rPr sz="18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proposicional a predicados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Lógica proposicional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Átomos: P, Q, Breeze12.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Conectivas: ¬ ∧ ∨ → ↔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mundo es un conjunto de verdades/falsedades.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puede decir «para todo pozo adyacente hay brisa».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Hay que copiar la misma regla en cada casilla.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Lógica de predicados (FOL)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Constantes: Arad, West, Tom.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Predicados: Adjacent(x,y), Gato(x).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Funciones: FatherOf(x), Succ(n).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Variables y cuantificadores ∀, ∃.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Una regla cubre todos los objetos del dominio.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Sintaxis de FOL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Términos denotan objetos; átomos y fórmulas denotan verdades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1848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Término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1848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constante, variable o función: West, x, FatherOf(x)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Átomo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7860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predicado aplicado a términos: Adjacent(x, 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3872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Literal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387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átomo o su negación: ¬Hostile(z)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9884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Cuantificador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9884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∀x  P(x)    ∃y  Q(y)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5896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Oración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45896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fórmula cerrada (sin variables libres) que va a la KB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 FOL: «West es un criminal»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KB de AIMA (definite clauses). Más abajo usamos una KB más chica para FC vs BC.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3978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∀x ∀y ∀z  American(x) ∧ Weapon(y) ∧ Sells(x, y, z) ∧ Hostile(z)  →  Criminal(x)</a:t>
            </a: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∀x  Missile(x)  →  Weapon(x)</a:t>
            </a: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∀x  Enemy(x, America)  →  Hostile(x)</a:t>
            </a:r>
          </a:p>
          <a:p>
            <a:pPr>
              <a:spcAft>
                <a:spcPts val="1100"/>
              </a:spcAft>
            </a:pPr>
            <a:r>
              <a:rPr lang="es-MX" sz="1700" dirty="0">
                <a:solidFill>
                  <a:srgbClr val="2C3E50"/>
                </a:solidFill>
              </a:rPr>
              <a:t>∀x  Missile(x) ∧ Owns(Nono, x)  →  Sells(West, x, Nono)</a:t>
            </a:r>
            <a:endParaRPr lang="es-419" sz="17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American(West)</a:t>
            </a:r>
            <a:endParaRPr lang="es-419" sz="17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Missile(M1)</a:t>
            </a:r>
            <a:endParaRPr lang="es-419" sz="17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Owns(Nono, M1)</a:t>
            </a:r>
          </a:p>
          <a:p>
            <a:pPr>
              <a:spcAft>
                <a:spcPts val="11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Enemy(Nono, America)</a:t>
            </a:r>
            <a:endParaRPr lang="es-419" sz="17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endParaRPr sz="17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700" b="0" dirty="0" err="1">
                <a:solidFill>
                  <a:srgbClr val="2C3E50"/>
                </a:solidFill>
                <a:latin typeface="Calibri"/>
              </a:rPr>
              <a:t>Pregunta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:  Criminal(West) 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Unificación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Sustitución que hace idénticas dos expresiones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UNIFY(p, q) =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θ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si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pθ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=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qθ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Knows(John, x) y Knows(John, Jane) se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unifican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con </a:t>
            </a:r>
            <a:r>
              <a:rPr lang="el-GR" sz="1600" dirty="0">
                <a:solidFill>
                  <a:srgbClr val="2C3E50"/>
                </a:solidFill>
              </a:rPr>
              <a:t>θ </a:t>
            </a:r>
            <a:r>
              <a:rPr lang="es-419" sz="1600" dirty="0">
                <a:solidFill>
                  <a:srgbClr val="2C3E50"/>
                </a:solidFill>
              </a:rPr>
              <a:t>=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{x / Jane}.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Para qué sirve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24314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Modus ponens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generalizado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: de p1…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pn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y (p1 ∧ … ∧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pn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→ q)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inferir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qθ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  <a:endParaRPr lang="es-419" sz="16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sz="16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Resolución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FOL: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complementar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literales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unifican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  <a:endParaRPr lang="es-419" sz="16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sz="1600" b="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600" b="0" dirty="0">
                <a:solidFill>
                  <a:srgbClr val="2C3E50"/>
                </a:solidFill>
                <a:latin typeface="Calibri"/>
              </a:rPr>
              <a:t>•  Forward y backward chaining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instancian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reglas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al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unificar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hechos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o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metas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Resolución: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Prueba por refutación sobre cláusulas en CNF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3570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800" b="0" dirty="0">
                <a:solidFill>
                  <a:srgbClr val="2C3E50"/>
                </a:solidFill>
                <a:latin typeface="Calibri"/>
              </a:rPr>
              <a:t>•  Poner KB y ¬α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forma normal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conjuntiva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(CNF):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conjunción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cláusulas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disyunciones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literales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2C3E50"/>
                </a:solidFill>
                <a:latin typeface="Calibri"/>
              </a:rPr>
              <a:t>•  Regla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proposicional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: de (P ∨ A) y (¬P ∨ B)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inferir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(A ∨ B). El literal P se «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cancela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».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2C3E50"/>
                </a:solidFill>
                <a:latin typeface="Calibri"/>
              </a:rPr>
              <a:t>•  En FOL: de (L ∨ A) y (¬M ∨ B),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si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UNIFY(L, M) =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θ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inferir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(A ∨ B)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θ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2C3E50"/>
                </a:solidFill>
                <a:latin typeface="Calibri"/>
              </a:rPr>
              <a:t>•  La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cláusula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vacía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□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significa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contradicción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: KB ∪ {¬α} es </a:t>
            </a:r>
            <a:r>
              <a:rPr sz="2800" b="0" dirty="0" err="1">
                <a:solidFill>
                  <a:srgbClr val="2C3E50"/>
                </a:solidFill>
                <a:latin typeface="Calibri"/>
              </a:rPr>
              <a:t>insatisfacible</a:t>
            </a:r>
            <a:r>
              <a:rPr sz="2800" b="0" dirty="0">
                <a:solidFill>
                  <a:srgbClr val="2C3E50"/>
                </a:solidFill>
                <a:latin typeface="Calibri"/>
              </a:rPr>
              <a:t>, luego KB ⊨ 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Algoritmo de resolución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KB ⊨ α  sii  se deriva la cláusula vacía desde CNF(KB ∧ ¬α)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431" y="1581912"/>
            <a:ext cx="525780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1751" y="18105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2C59"/>
                </a:solidFill>
                <a:latin typeface="Calibri"/>
              </a:rPr>
              <a:t>Ejemplo </a:t>
            </a:r>
            <a:r>
              <a:rPr sz="1800" b="1" dirty="0" err="1">
                <a:solidFill>
                  <a:srgbClr val="0F2C59"/>
                </a:solidFill>
                <a:latin typeface="Calibri"/>
              </a:rPr>
              <a:t>mínimo</a:t>
            </a:r>
            <a:endParaRPr sz="1800" b="1" dirty="0">
              <a:solidFill>
                <a:srgbClr val="0F2C59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1751" y="2267712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KB:  P  →  Q     y     P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Query: Q. 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Añadir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¬Q.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CNF:  (¬P ∨ Q),  P,  ¬Q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Resolver P con (¬P ∨ Q) → Q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Resolver Q con ¬Q →  □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2C3E50"/>
                </a:solidFill>
                <a:latin typeface="Calibri"/>
              </a:rPr>
              <a:t>•  Luego KB ⊨ 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Cláusulas de Horn y definite clauses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fragmento donde FC y BC son naturales y eficientes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Cláusula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de Horn: a lo sumo un literal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positivo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.  (¬P ∨ ¬Q ∨ R)  ≡  (P ∧ Q → R).</a:t>
            </a: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•  Definite clause: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exactamente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un literal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positivo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una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implicación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con cabeza).</a:t>
            </a: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•  Hecho: definite clause sin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premisas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, p.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ej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. Gato(Tom).</a:t>
            </a: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•  La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resolución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general es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potente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pero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cara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. En Horn, modus ponens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generalizado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basta.</a:t>
            </a: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2C3E50"/>
                </a:solidFill>
                <a:latin typeface="Calibri"/>
              </a:rPr>
              <a:t>•  Forward y backward chaining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operan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solo </a:t>
            </a:r>
            <a:r>
              <a:rPr sz="1700" b="0" dirty="0" err="1">
                <a:solidFill>
                  <a:srgbClr val="2C3E50"/>
                </a:solidFill>
                <a:latin typeface="Calibri"/>
              </a:rPr>
              <a:t>sobre</a:t>
            </a:r>
            <a:r>
              <a:rPr sz="1700" b="0" dirty="0">
                <a:solidFill>
                  <a:srgbClr val="2C3E50"/>
                </a:solidFill>
                <a:latin typeface="Calibri"/>
              </a:rPr>
              <a:t> definite clauses.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Una KB simple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Misma query para los dos encadenamientos: Mortal(Tom)?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672084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Reglas y hechos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6217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R1   Gato(x)  →  Animal(x)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R2   Animal(x)  →  Mortal(x)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R3   Gato(x)  →  Maulla(x)     ←  irrelevante para la query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F1   Gato(Tom)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F2   Gato(Felix)               ←  otro individuo, no preguntado</a:t>
            </a:r>
          </a:p>
          <a:p>
            <a:pPr>
              <a:spcAft>
                <a:spcPts val="1000"/>
              </a:spcAft>
            </a:pPr>
            <a:endParaRPr sz="1700" b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Query    Mortal(Tom) 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371600"/>
            <a:ext cx="425196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600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Para qué está R3 y Felix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148840"/>
            <a:ext cx="37490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Sirven para ver la diferencia.
FC va a inferir también Maulla y todo lo de Felix.
BC no los toca: no hacen falta para Mortal(Tom).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Forward chaining: recorrido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Dirigido por datos: dispara toda regla cuyas premisas ya son hechos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Agenda inicial = { Gato(Tom), Gato(Felix) }.  Mientras salga un hecho nuevo, se aplican R1–R3.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R1 + 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Gato(Tom) → Animal(Tom)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3288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R1 + Felix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Gato(Felix) → Animal(Felix)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R3 + 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Gato(Tom) → Maulla(Tom)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R3 + Felix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Gato(Felix) → Maulla(Felix)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R2 + Tom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Animal(Tom) → Mortal(Tom)  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1384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10896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R2 + Felix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3794760"/>
            <a:ext cx="16093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Animal(Felix) → Mortal(Felix)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Backward chaining: recorrido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Dirigido por la meta: solo se abren submetas de Mortal(Tom)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Pila de metas. Una regla se usa solo si su cabeza unifica con la meta actual.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¿Mortal(Tom)?
No es un hecho.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3288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Cabeza Mortal(x)
→ submeta Animal(Tom)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Cabeza Animal(x)
→ submeta Gato(Tom)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Hecho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Gato(Tom) está en la KB. 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Cierre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Se cumplen las submetas.
Mortal(Tom) es verdadero.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606040"/>
            <a:ext cx="1828800" cy="3383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13848" y="2743200"/>
            <a:ext cx="1609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108960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C59"/>
                </a:solidFill>
                <a:latin typeface="Calibri"/>
              </a:rPr>
              <a:t>No se usa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3703320"/>
            <a:ext cx="1609344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R3 y Felix
no aparecen nunca.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misma KB, dos recorridos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Ambos responden sí a Mortal(Tom). No recorren lo mismo.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Forward chaining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Empuja todos los hechos hacia adelante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Parte de F1 y F2.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Infiere Animal, Maulla y Mortal de Tom y de Felix.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6 conclusiones nuevas; 2 no pedidas.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Útil si hay que materializar toda la KB.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Trabajo de más cuando solo importa una query.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Backward chaining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Tira de la query hacia los hechos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Parte de Mortal(Tom).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Cadena: Mortal ← Animal ← Gato(Tom).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visita Felix ni la regla Maulla.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Útil si hay muchas reglas y una pregunta.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Puede ciclar si las reglas se llaman entre sí.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Comparar los tres métodos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14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Cualquier FOL (CNF)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2004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Completa por refutación; puede explotar combinatoriamente.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417320"/>
            <a:ext cx="36118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7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Forward chaining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7" y="2514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Definite clauses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32004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Dirigido por datos. Útil si hay muchos hechos y pocas queries. Puede inferir de más.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998" y="1417320"/>
            <a:ext cx="36118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6" y="1645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Backward chaining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6" y="2514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Definite clauses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6" y="32004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Dirigido por objetivos. Solo trabaja lo necesario para la query. Puede ciclar sin chequeo.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Razonamiento 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882"/>
            <a:ext cx="11155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419" sz="2800" b="1" dirty="0">
                <a:solidFill>
                  <a:srgbClr val="0F2C59"/>
                </a:solidFill>
                <a:latin typeface="Calibri"/>
              </a:rPr>
              <a:t>Resumen</a:t>
            </a:r>
            <a:endParaRPr sz="2800" b="1" dirty="0">
              <a:solidFill>
                <a:srgbClr val="0F2C59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FOL habla de objetos y relaciones; ∀ y ∃ compactan lo que en proposicional sería una copia por casilla.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Unificar es hacer coincidir expresiones con una sustitución; es el motor de FOL.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Resolución: convertir a CNF y buscar □ a partir de KB ∧ ¬query.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FC recorre la KB empujando hechos (puede derivar Maulla(Felix) sin que nadie lo pida).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BC recorre la KB tirando de la meta (Mortal(Tom) no necesita a Felix ni a Maulla).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1659</Words>
  <Application>Microsoft Macintosh PowerPoint</Application>
  <PresentationFormat>Panorámica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3</cp:revision>
  <dcterms:created xsi:type="dcterms:W3CDTF">2013-01-27T09:14:16Z</dcterms:created>
  <dcterms:modified xsi:type="dcterms:W3CDTF">2026-10-26T16:00:24Z</dcterms:modified>
  <cp:category/>
</cp:coreProperties>
</file>