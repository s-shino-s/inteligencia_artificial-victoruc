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8B93A"/>
                </a:solidFill>
                <a:latin typeface="Calibri"/>
              </a:rPr>
              <a:t>CURSO DE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Modelos de lenguaje grandes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5D0DC"/>
                </a:solidFill>
                <a:latin typeface="Calibri"/>
              </a:rPr>
              <a:t>De una secuencia de tokens a P(siguiente):
vectores, atención y cómo se genera texto.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B93A"/>
                </a:solidFill>
                <a:latin typeface="Calibri"/>
              </a:rPr>
              <a:t>AIMA, procesamiento de lenguaje  ·  el siguiente token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Secuencia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El texto no es un vector fijo. Se parte en tokens y se lee de izquierda a derecha.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158191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185623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Siguiente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40487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Toda la clase se reduce a P(w_t | w_1…w_{t−1}). Conteos, luego softmax.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408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Atención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Cada posición mezcla los vectores previos con pesos que suman 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005072"/>
            <a:ext cx="49469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B6CA8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279392"/>
            <a:ext cx="494690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Generar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4828032"/>
            <a:ext cx="4946904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Pegar un token y repetir. Consigna, temperatura, y por qué fluidez ≠ verdad.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Qué tiene que hacer el modelo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No clasifica «gato / perro». Lee una secuencia y pone probabilidad sobre texto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C3E50"/>
                </a:solidFill>
                <a:latin typeface="Calibri"/>
              </a:rPr>
              <a:t>Una </a:t>
            </a:r>
            <a:r>
              <a:rPr lang="es-419" sz="1600" dirty="0">
                <a:solidFill>
                  <a:srgbClr val="2C3E50"/>
                </a:solidFill>
                <a:latin typeface="Calibri"/>
              </a:rPr>
              <a:t>l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ista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símbolos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ya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escritos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 El largo cambia de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frase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2C3E50"/>
                </a:solidFill>
                <a:latin typeface="Calibri"/>
              </a:rPr>
              <a:t>otra</a:t>
            </a:r>
            <a:r>
              <a:rPr sz="1600" b="0" dirty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Una distribución sobre el siguiente símbolo. Suma 1. Eso basta para escribir.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«Grande»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La misma receta, con muchos parámetros y mucho texto. LLM = eso, a escala.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Hoy 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No hace falta un árbol de sintaxis ni un diccionario de sentidos. Primero, el siguiente token.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token no es (siempre) una palabra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modelo no ve letras sueltas ni «la idea». Ve IDs de un vocabulario fijo</a:t>
            </a:r>
          </a:p>
        </p:txBody>
      </p:sp>
      <p:pic>
        <p:nvPicPr>
          <p:cNvPr id="10" name="Picture 9" descr="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298448"/>
            <a:ext cx="8115458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794760"/>
            <a:ext cx="11155680" cy="2286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106070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Vocabulario V: lista cerrada (miles o decenas de miles de piezas).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Cada pieza tiene un entero. «gato» podría ser el 1407. El modelo solo ve 1407.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 veces se parte por debajo de la palabra: inolvidable → in + olvid + able (una partición posible).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Punto, espacios y mayúsculas también son tokens si el vocabulario los tiene.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única tarea de hoy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Dado lo escrito, una distribución sobre el siguiente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F2C59"/>
                </a:solidFill>
                <a:latin typeface="Calibri"/>
              </a:rPr>
              <a:t>P(w_t  |  w_1, w_2, …, w_{t−1})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Condicional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 es P de la frase entera de golpe. Es un paso. La frase sale al encadenar pasos.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Todo suma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 número por cada ítem de V. Si P(come) = 0.75, el resto reparte 0.25.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Entrenar es fácil de decir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En el corpus, el siguiente token sí se conoce. Quieres P alta ahí.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conteos después de «el gato»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corpus minúsculo. Sin red todavía: frecuencia relativa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201168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53312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siguiente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353312"/>
            <a:ext cx="146304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14600" y="1353312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conteo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40" y="1353312"/>
            <a:ext cx="1645920" cy="438912"/>
          </a:xfrm>
          <a:prstGeom prst="rect">
            <a:avLst/>
          </a:prstGeom>
          <a:solidFill>
            <a:srgbClr val="0F2C59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40" y="1353312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1792224"/>
            <a:ext cx="201168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1792224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come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1792224"/>
            <a:ext cx="146304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14600" y="1792224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1792224"/>
            <a:ext cx="16459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977640" y="1792224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3/4 = 0.75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231136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231136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4600" y="2231136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14600" y="2231136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2231136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77640" y="2231136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1/4 = 0.25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670048"/>
            <a:ext cx="201168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920" y="2670048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14600" y="2670048"/>
            <a:ext cx="146304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14600" y="2670048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40" y="2670048"/>
            <a:ext cx="1645920" cy="438912"/>
          </a:xfrm>
          <a:prstGeom prst="rect">
            <a:avLst/>
          </a:prstGeom>
          <a:solidFill>
            <a:srgbClr val="F6F8FB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77640" y="2670048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108960"/>
            <a:ext cx="2011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108960"/>
            <a:ext cx="20116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gato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14600" y="3108960"/>
            <a:ext cx="1463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14600" y="3108960"/>
            <a:ext cx="146304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77640" y="31089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977640" y="3108960"/>
            <a:ext cx="1645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2C3E50"/>
                </a:solidFill>
                <a:latin typeface="Calibr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3703320"/>
            <a:ext cx="51206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Si el corpus solo vio «el gato come» tres veces y «el gato.» una, eso es todo lo que «sabe» un modelo de conteo. No generaliza a «el perro».</a:t>
            </a:r>
          </a:p>
        </p:txBody>
      </p:sp>
      <p:pic>
        <p:nvPicPr>
          <p:cNvPr id="41" name="Picture 40" descr="next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94960" cy="3338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De puntajes a una 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red no escribe fracciones 3/4: escribe números z (logits). Softmax los vuelve distribución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20116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F2C59"/>
                </a:solidFill>
                <a:latin typeface="Calibri"/>
              </a:rPr>
              <a:t>P_i  =  exp(z_i)  /  Σ_j exp(z_j)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Todo positivo. Un z más grande recibe más masa, de forma suave.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El denominador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Fuerza a que las P sumen 1. Es el análogo a dividir por 4 en la tabla de conteos.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611880"/>
            <a:ext cx="3611880" cy="2423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379476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Como clasificar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97680"/>
            <a:ext cx="32004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El token correcto es la clase y. En el MLP clasificabas XOR; aquí, |V| clases.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Cada token es un 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ID 1407 no se suma. Se busca una fila en una tabla: el vector del token (embedding)</a:t>
            </a:r>
          </a:p>
        </p:txBody>
      </p:sp>
      <p:pic>
        <p:nvPicPr>
          <p:cNvPr id="10" name="Picture 9" descr="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589180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63640" y="1371600"/>
            <a:ext cx="5349240" cy="46634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9377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Una tabla |V| × d. d = 2 en el dibujo; en la práctica, cientos.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Palabras parecidas (gato/perro) quedan cerca si el entrenamiento lo logra.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Esos vectores se aprenden, como los pesos del MLP.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Aún no hay frase: solo una lista de puntos, uno por token del contexto.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Falta una receta que mezcle esos puntos respetando el orden.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El contexto cabe en una ventana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modelo no lee «todo internet» en un paso: solo los últimos L tokens</a:t>
            </a:r>
          </a:p>
        </p:txBody>
      </p:sp>
      <p:pic>
        <p:nvPicPr>
          <p:cNvPr id="10" name="Picture 9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25880"/>
            <a:ext cx="5675376" cy="2468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3931920"/>
            <a:ext cx="1115568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Si L = 8 y la frase es más larga, lo que quedó atrás no entra en P(siguiente).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Un MLP clásico espera un vector de tamaño fijo: concatenar 3 tokens ≠ concatenar 30.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Hace falta una mezcla que funcione con 3 o con 30: la misma receta, más sumandos.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Atención: una media ponderada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Cada posición pregunta: ¿cuánto peso le doy a cada vector que ya vi?</a:t>
            </a:r>
          </a:p>
        </p:txBody>
      </p:sp>
      <p:pic>
        <p:nvPicPr>
          <p:cNvPr id="10" name="Picture 9" descr="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98448"/>
            <a:ext cx="7839222" cy="2880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297680"/>
            <a:ext cx="111556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Puntaje = producto punto entre un vector pregunta q y un vector clave k.
Los puntajes pasan por softmax (el de la diapositiva 7) y salen pesos α que suman 1.
La salida es Σ α_j v_j: una mezcla de vectores valor. No es una neurona nueva: es una suma ponderada.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Ejemplo: tres tokens, una fila de α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Posición come. Pesos ya normalizados. Vectores v de 2 números</a:t>
            </a:r>
          </a:p>
        </p:txBody>
      </p:sp>
      <p:pic>
        <p:nvPicPr>
          <p:cNvPr id="10" name="Picture 9" descr="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98448"/>
            <a:ext cx="5538996" cy="47548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26480" y="1353312"/>
            <a:ext cx="5532120" cy="47091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08760"/>
            <a:ext cx="5074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C59"/>
                </a:solidFill>
                <a:latin typeface="Calibri"/>
              </a:rPr>
              <a:t>Fila come:  α = (0.1,  0.8,  0.1)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0749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v_el = (1, 0)    v_gato = (0, 2)    v_come = (1, 1)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h = 0.1·(1, 0) + 0.8·(0, 2) + 0.1·(1, 1)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= (0.1 + 0.1,  1.6 + 0.1) = (0.2, 1.7)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Casi todo el peso fue a gato: come «mira» al sujeto.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Los ceros arriba a la derecha: aún no existe el futuro. Al escribir, no lo miras.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Un bloque: atención, luego el MLP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La atención mezcla. El MLP, el de la unidad anterior, transforma cada posición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1. Atención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Cada posición recibe un h: la mezcla Σ α v. Ahí entra el contexto.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2. 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El mismo tipo de red (capas, no linealidad) aplicada a ese h. No hace falta otra idea.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3. Apilar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Varios bloques, uno detrás de otro. Cada uno ve una mezcla más elaborada.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Parámetros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Las tablas q, k, v y los pesos del MLP se aprenden. La receta de la suma, 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Entrenar: el token que sí vino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Como en el MLP, hay un error y se bajan parámetros. La «etiqueta» es el siguiente token del corpus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19659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554480"/>
            <a:ext cx="1069848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F2C59"/>
                </a:solidFill>
                <a:latin typeface="Calibri"/>
              </a:rPr>
              <a:t>pérdida  =  − log P(w_t correcto | contexto)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 P =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log 1 = 0. Pérdida 0: ya lo veías venir.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Si P ≈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−log de algo chico es grande. Castiga la sorpresa.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566160"/>
            <a:ext cx="3611880" cy="24688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8" y="37490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4251960"/>
            <a:ext cx="3200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Se hace en miles de millones de tokens. La receta no cambia: solo el tamaño.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Generar es un bucle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Arg max = el más probable. Muestrear = tirar según P. Temperatura retoca esa P</a:t>
            </a:r>
          </a:p>
        </p:txBody>
      </p:sp>
      <p:pic>
        <p:nvPicPr>
          <p:cNvPr id="10" name="Picture 9" descr="un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261872"/>
            <a:ext cx="7641178" cy="2331720"/>
          </a:xfrm>
          <a:prstGeom prst="rect">
            <a:avLst/>
          </a:prstGeom>
        </p:spPr>
      </p:pic>
      <p:pic>
        <p:nvPicPr>
          <p:cNvPr id="11" name="Picture 10" descr="te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0"/>
            <a:ext cx="4536797" cy="26517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903720" y="3703320"/>
            <a:ext cx="4754880" cy="265176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3886200"/>
            <a:ext cx="434340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T &lt; 1: más pico (casi voraz).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T = 1: la softmax de entrenamiento.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T &gt; 1: más plana, más sorpresa.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z = (2, 0, 0) en come / . / 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La consigna es el contexto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Lo que escribes son w_1…w_k. El modelo solo continúa. No «abre un chat»: pega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Completar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«El gato» → el modelo sigue. Si el corpus era cuentos, seguirá como cuento.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Instrucción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«Traduce al inglés: …» también es contexto. Funciona si en el texto de entrenamiento había parejas así.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No hay otra entrada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No hay un canal paralelo de «intención». Si no está en los tokens, no está.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Parar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Un token especial de fin, o un tope de pasos. Si no, seguiría pegando.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Fluidez no es verdad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El entrenamiento premia P alta en texto que existió, no «consultar el mundo»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Alucinación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Una continuación probable puede ser falsa. El softmax no tiene un bit de «no sé».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Ventana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Lo que cayó fuera de L tokens no entra. Un dato al inicio del PDF puede desaparecer.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Corte del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No hay noticias de después del entrenamiento, salvo que se las pegues en la consigna.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Cómo se llama hoy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Apilar atención + MLP es un Transformer. Un LLM es esa pila, grande, entrenada con texto.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Ideas para llevar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 LLM es P(siguiente token), a escala, con atención y un MLP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Pieza de un vocabulario. El modelo ve un entero, no la palabra en tu cabeza.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167335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Softmax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24028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De puntajes z a una P que suma 1. Temperatura retoca esa P al generar.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Atención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α que suman 1, luego Σ α v. El ejemplo (0.2, 1.7) cabe en una servilleta.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840480"/>
            <a:ext cx="5349240" cy="214884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4096512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C59"/>
                </a:solidFill>
                <a:latin typeface="Calibri"/>
              </a:rPr>
              <a:t>Generar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4663440"/>
            <a:ext cx="48463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Pegar, repetir. La consigna es contexto. Fluidez ≠ verdad.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10528"/>
            <a:ext cx="12191999" cy="347472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28816"/>
            <a:ext cx="9144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Curso de Inteligencia Artificial  · 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78440" y="6528816"/>
            <a:ext cx="13716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0F2C59"/>
                </a:solidFill>
                <a:latin typeface="Calibri"/>
              </a:rPr>
              <a:t>Antes de decir que «el modelo ya entiende»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04672"/>
            <a:ext cx="1280160" cy="54864"/>
          </a:xfrm>
          <a:prstGeom prst="rect">
            <a:avLst/>
          </a:prstGeom>
          <a:solidFill>
            <a:srgbClr val="E8B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D6D7E"/>
                </a:solidFill>
                <a:latin typeface="Calibri"/>
              </a:rPr>
              <a:t>Una lista corta. Si varias son no, aún estás en autocomplete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55680" cy="461772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¿Puedes partir una frase en tokens y decir cuál es w_t, el que se predice?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¿Las P que muestras suman 1, o son puntajes z sin softmax?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¿La atención que calculas usa α que suman 1 y una suma Σ α v, no un «mágico mirar»?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¿El dato que citas cabe en la ventana L, o quedó atrás?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¿Distingues greedy (argmax) de muestrear con temperatura?</a:t>
            </a:r>
          </a:p>
          <a:p>
            <a:pPr>
              <a:spcAft>
                <a:spcPts val="11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¿Una respuesta fluida la marcaste como verdadera sin otra fuente? Eso no lo valida el softmax.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1891</Words>
  <Application>Microsoft Macintosh PowerPoint</Application>
  <PresentationFormat>Panorámica</PresentationFormat>
  <Paragraphs>189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Víctor Uc Cetina</cp:lastModifiedBy>
  <cp:revision>2</cp:revision>
  <dcterms:created xsi:type="dcterms:W3CDTF">2013-01-27T09:14:16Z</dcterms:created>
  <dcterms:modified xsi:type="dcterms:W3CDTF">2026-08-19T23:42:17Z</dcterms:modified>
  <cp:category/>
</cp:coreProperties>
</file>