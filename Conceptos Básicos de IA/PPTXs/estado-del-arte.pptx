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68" r:id="rId4"/>
    <p:sldId id="260" r:id="rId5"/>
    <p:sldId id="261" r:id="rId6"/>
    <p:sldId id="269" r:id="rId7"/>
    <p:sldId id="263" r:id="rId8"/>
    <p:sldId id="264" r:id="rId9"/>
    <p:sldId id="270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432"/>
    <p:restoredTop sz="94639"/>
  </p:normalViewPr>
  <p:slideViewPr>
    <p:cSldViewPr snapToGrid="0" snapToObjects="1">
      <p:cViewPr varScale="1">
        <p:scale>
          <a:sx n="85" d="100"/>
          <a:sy n="85" d="100"/>
        </p:scale>
        <p:origin x="192" y="16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B93A"/>
                </a:solidFill>
                <a:latin typeface="Calibri"/>
              </a:rPr>
              <a:t>CURSO DE INTELIGENCIA ARTIFICIAL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Estado del arte de la
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5D0DC"/>
                </a:solidFill>
                <a:latin typeface="Calibri"/>
              </a:rPr>
              <a:t>Panorama de capacidades, paradigmas y límites abiertos
de los sistemas de IA contemporáneos.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B93A"/>
                </a:solidFill>
                <a:latin typeface="Calibri"/>
              </a:rPr>
              <a:t>01  ·  Introducción a la 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 err="1">
                <a:solidFill>
                  <a:srgbClr val="0F2C59"/>
                </a:solidFill>
                <a:latin typeface="Calibri"/>
              </a:rPr>
              <a:t>Modelos</a:t>
            </a:r>
            <a:r>
              <a:rPr sz="2800" b="1" i="0" dirty="0">
                <a:solidFill>
                  <a:srgbClr val="0F2C59"/>
                </a:solidFill>
                <a:latin typeface="Calibri"/>
              </a:rPr>
              <a:t> </a:t>
            </a:r>
            <a:r>
              <a:rPr lang="es-419" sz="2800" b="1" dirty="0">
                <a:solidFill>
                  <a:srgbClr val="0F2C59"/>
                </a:solidFill>
                <a:latin typeface="Calibri"/>
              </a:rPr>
              <a:t>fundacionales</a:t>
            </a:r>
            <a:endParaRPr sz="2800" b="1" i="0" dirty="0">
              <a:solidFill>
                <a:srgbClr val="0F2C59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64311" y="1364468"/>
            <a:ext cx="5486400" cy="44805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5479" y="1529060"/>
            <a:ext cx="5120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419" sz="2000" b="1" i="0" dirty="0">
                <a:solidFill>
                  <a:srgbClr val="0F2C59"/>
                </a:solidFill>
                <a:latin typeface="Calibri"/>
              </a:rPr>
              <a:t>F</a:t>
            </a:r>
            <a:r>
              <a:rPr sz="2000" b="1" i="0" dirty="0" err="1">
                <a:solidFill>
                  <a:srgbClr val="0F2C59"/>
                </a:solidFill>
                <a:latin typeface="Calibri"/>
              </a:rPr>
              <a:t>oundation</a:t>
            </a:r>
            <a:r>
              <a:rPr lang="es-419" sz="2000" b="1" i="0" dirty="0">
                <a:solidFill>
                  <a:srgbClr val="0F2C59"/>
                </a:solidFill>
                <a:latin typeface="Calibri"/>
              </a:rPr>
              <a:t>al</a:t>
            </a:r>
            <a:r>
              <a:rPr sz="2000" b="1" i="0" dirty="0">
                <a:solidFill>
                  <a:srgbClr val="0F2C59"/>
                </a:solidFill>
                <a:latin typeface="Calibri"/>
              </a:rPr>
              <a:t>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103" y="2553188"/>
            <a:ext cx="512064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>
                <a:solidFill>
                  <a:srgbClr val="2C3E50"/>
                </a:solidFill>
                <a:latin typeface="Calibri"/>
              </a:rPr>
              <a:t>Se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entrenan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a gran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escala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y luego se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adaptan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a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muchas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tareas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: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texto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,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código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,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visión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, audio y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combinaciones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de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estas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.
Una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misma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familia de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modelos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sirve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como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plataforma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para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productos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,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investigación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y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especialización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por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dominio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Curso de Inteligencia Artificial  ·  Estado del arte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3 / 12</a:t>
            </a: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72EC9697-1253-ED58-7E97-5004869153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6519" y="143764"/>
            <a:ext cx="5675273" cy="623694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99F81-A469-CC5C-35BF-3F3AC6611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9310160-791A-FA30-8097-318771DB7EA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5A5BA0-D5D8-ECDA-2062-916ED88CA3BF}"/>
              </a:ext>
            </a:extLst>
          </p:cNvPr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64AC21-7229-9D4C-36BF-D127F04B5842}"/>
              </a:ext>
            </a:extLst>
          </p:cNvPr>
          <p:cNvSpPr txBox="1"/>
          <p:nvPr/>
        </p:nvSpPr>
        <p:spPr>
          <a:xfrm>
            <a:off x="502920" y="256032"/>
            <a:ext cx="111556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0F2C59"/>
                </a:solidFill>
                <a:latin typeface="Calibri"/>
              </a:rPr>
              <a:t>LLM</a:t>
            </a:r>
            <a:r>
              <a:rPr lang="es-419" sz="2800" b="1" i="0" dirty="0">
                <a:solidFill>
                  <a:srgbClr val="0F2C59"/>
                </a:solidFill>
                <a:latin typeface="Calibri"/>
              </a:rPr>
              <a:t>s</a:t>
            </a:r>
            <a:endParaRPr sz="2800" b="1" i="0" dirty="0">
              <a:solidFill>
                <a:srgbClr val="0F2C59"/>
              </a:solidFill>
              <a:latin typeface="Calibr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8B5AE7B-72C4-F234-7007-524348365A09}"/>
              </a:ext>
            </a:extLst>
          </p:cNvPr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FF19402-1BED-3A03-C48B-7BCA3F8FE1CA}"/>
              </a:ext>
            </a:extLst>
          </p:cNvPr>
          <p:cNvSpPr/>
          <p:nvPr/>
        </p:nvSpPr>
        <p:spPr>
          <a:xfrm>
            <a:off x="387019" y="1188720"/>
            <a:ext cx="5486400" cy="44805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4AD753-8DD1-C3C7-0509-6F13532D7313}"/>
              </a:ext>
            </a:extLst>
          </p:cNvPr>
          <p:cNvSpPr txBox="1"/>
          <p:nvPr/>
        </p:nvSpPr>
        <p:spPr>
          <a:xfrm>
            <a:off x="588187" y="1353312"/>
            <a:ext cx="5120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 err="1">
                <a:solidFill>
                  <a:srgbClr val="0F2C59"/>
                </a:solidFill>
                <a:latin typeface="Calibri"/>
              </a:rPr>
              <a:t>Modelos</a:t>
            </a:r>
            <a:r>
              <a:rPr sz="2000" b="1" i="0" dirty="0">
                <a:solidFill>
                  <a:srgbClr val="0F2C59"/>
                </a:solidFill>
                <a:latin typeface="Calibri"/>
              </a:rPr>
              <a:t> de </a:t>
            </a:r>
            <a:r>
              <a:rPr sz="2000" b="1" i="0" dirty="0" err="1">
                <a:solidFill>
                  <a:srgbClr val="0F2C59"/>
                </a:solidFill>
                <a:latin typeface="Calibri"/>
              </a:rPr>
              <a:t>lenguaje</a:t>
            </a:r>
            <a:r>
              <a:rPr sz="2000" b="1" i="0" dirty="0">
                <a:solidFill>
                  <a:srgbClr val="0F2C59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rgbClr val="0F2C59"/>
                </a:solidFill>
                <a:latin typeface="Calibri"/>
              </a:rPr>
              <a:t>grandes</a:t>
            </a:r>
            <a:r>
              <a:rPr sz="2000" b="1" i="0" dirty="0">
                <a:solidFill>
                  <a:srgbClr val="0F2C59"/>
                </a:solidFill>
                <a:latin typeface="Calibri"/>
              </a:rPr>
              <a:t> (LLM)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28C160-6000-8BC0-2271-7157BC48A49B}"/>
              </a:ext>
            </a:extLst>
          </p:cNvPr>
          <p:cNvSpPr txBox="1"/>
          <p:nvPr/>
        </p:nvSpPr>
        <p:spPr>
          <a:xfrm>
            <a:off x="588187" y="2377440"/>
            <a:ext cx="512064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 err="1">
                <a:solidFill>
                  <a:srgbClr val="2C3E50"/>
                </a:solidFill>
                <a:latin typeface="Calibri"/>
              </a:rPr>
              <a:t>Desempeño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competitivo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en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comprensión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,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generación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,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traducción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,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resumen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y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programación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.
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Siguen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cometiendo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errores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factuales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y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alucinaciones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: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fluidez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no equivale a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verdad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ni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a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comprensión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garantizada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54F2808-53F6-C00D-088A-D47A7C5AB2AE}"/>
              </a:ext>
            </a:extLst>
          </p:cNvPr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6E861B-C6BB-0A8E-FB6C-652A9BA9CCE6}"/>
              </a:ext>
            </a:extLst>
          </p:cNvPr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Curso de Inteligencia Artificial  ·  Estado del arte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CF65C6-2422-9745-252B-BA3C742C9643}"/>
              </a:ext>
            </a:extLst>
          </p:cNvPr>
          <p:cNvSpPr txBox="1"/>
          <p:nvPr/>
        </p:nvSpPr>
        <p:spPr>
          <a:xfrm>
            <a:off x="10728655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3 / 12</a:t>
            </a: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1ED672DF-3549-E25D-2E3B-41BE91DE7C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0711" y="1187980"/>
            <a:ext cx="5955792" cy="4481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6813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419" sz="2800" b="1" i="0" dirty="0">
                <a:solidFill>
                  <a:srgbClr val="0F2C59"/>
                </a:solidFill>
                <a:latin typeface="Calibri"/>
              </a:rPr>
              <a:t>Modelos generativos</a:t>
            </a:r>
            <a:endParaRPr sz="2800" b="1" i="0" dirty="0">
              <a:solidFill>
                <a:srgbClr val="0F2C59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7200" y="1444752"/>
            <a:ext cx="5486400" cy="44805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" y="1609344"/>
            <a:ext cx="5120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0F2C59"/>
                </a:solidFill>
                <a:latin typeface="Calibri"/>
              </a:rPr>
              <a:t>Sistemas </a:t>
            </a:r>
            <a:r>
              <a:rPr sz="2000" b="1" i="0" dirty="0" err="1">
                <a:solidFill>
                  <a:srgbClr val="0F2C59"/>
                </a:solidFill>
                <a:latin typeface="Calibri"/>
              </a:rPr>
              <a:t>generativos</a:t>
            </a:r>
            <a:endParaRPr sz="2000" b="1" i="0" dirty="0">
              <a:solidFill>
                <a:srgbClr val="0F2C59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58368" y="2594670"/>
            <a:ext cx="512064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 err="1">
                <a:solidFill>
                  <a:srgbClr val="2C3E50"/>
                </a:solidFill>
                <a:latin typeface="Calibri"/>
              </a:rPr>
              <a:t>Difusión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y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variantes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producen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imagen, audio y video de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alta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fidelidad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.
Ya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están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integrados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en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herramientas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creativas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, de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diseño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y de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producción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, con debates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sobre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autoría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y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uso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de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datos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Curso de Inteligencia Artificial  ·  Estado del arte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5 / 12</a:t>
            </a: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42D84D1A-2B16-9CC3-A2E5-24555DDBC1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032158"/>
            <a:ext cx="5677111" cy="479368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 err="1">
                <a:solidFill>
                  <a:srgbClr val="0F2C59"/>
                </a:solidFill>
                <a:latin typeface="Calibri"/>
              </a:rPr>
              <a:t>Agentes</a:t>
            </a:r>
            <a:r>
              <a:rPr lang="es-419" sz="2800" b="1" i="0" dirty="0">
                <a:solidFill>
                  <a:srgbClr val="0F2C59"/>
                </a:solidFill>
                <a:latin typeface="Calibri"/>
              </a:rPr>
              <a:t> </a:t>
            </a:r>
            <a:endParaRPr sz="2800" b="1" i="0" dirty="0">
              <a:solidFill>
                <a:srgbClr val="0F2C59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57506" y="1444752"/>
            <a:ext cx="5486400" cy="44805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8674" y="1609344"/>
            <a:ext cx="5120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419" sz="2000" b="1" i="0" dirty="0">
                <a:solidFill>
                  <a:srgbClr val="0F2C59"/>
                </a:solidFill>
                <a:latin typeface="Calibri"/>
              </a:rPr>
              <a:t>Agentic programming</a:t>
            </a:r>
            <a:endParaRPr sz="2000" b="1" i="0" dirty="0">
              <a:solidFill>
                <a:srgbClr val="0F2C59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58674" y="2556742"/>
            <a:ext cx="512064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 err="1">
                <a:solidFill>
                  <a:srgbClr val="2C3E50"/>
                </a:solidFill>
                <a:latin typeface="Calibri"/>
              </a:rPr>
              <a:t>Combinan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un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modelo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con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herramientas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: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navegador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,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código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, APIs y memoria.
El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objetivo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es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completar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tareas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de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varios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pasos, no solo responder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una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pregunta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aislada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Curso de Inteligencia Artificial  ·  Estado del arte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6 / 12</a:t>
            </a: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9E623EF5-12DD-850B-5657-B9F98E7511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906" y="195458"/>
            <a:ext cx="6447891" cy="619989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9AB09-8D8B-9F5F-F3A4-B2CCAF31F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D963F91-CC89-B099-0115-322D6B51CD88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8B7DE0-B9C5-591D-E240-459FA8C2BD7D}"/>
              </a:ext>
            </a:extLst>
          </p:cNvPr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6F1431-F3C0-7AC8-AB2B-37F2ACA6F0F4}"/>
              </a:ext>
            </a:extLst>
          </p:cNvPr>
          <p:cNvSpPr txBox="1"/>
          <p:nvPr/>
        </p:nvSpPr>
        <p:spPr>
          <a:xfrm>
            <a:off x="502920" y="256032"/>
            <a:ext cx="111556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0F2C59"/>
                </a:solidFill>
                <a:latin typeface="Calibri"/>
              </a:rPr>
              <a:t>RAG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0F32E6E-4DBF-FF39-B87B-5AE1F1DD584F}"/>
              </a:ext>
            </a:extLst>
          </p:cNvPr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204AAB-20A3-0EC0-A322-C652272F93B9}"/>
              </a:ext>
            </a:extLst>
          </p:cNvPr>
          <p:cNvSpPr txBox="1"/>
          <p:nvPr/>
        </p:nvSpPr>
        <p:spPr>
          <a:xfrm>
            <a:off x="981821" y="4895548"/>
            <a:ext cx="1002095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>
                <a:solidFill>
                  <a:srgbClr val="2C3E50"/>
                </a:solidFill>
                <a:latin typeface="Calibri"/>
              </a:rPr>
              <a:t>La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recuperación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aumentada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con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documentos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ancla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las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respuestas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en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fuentes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externas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y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datos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de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una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organización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.
Reduce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alucinaciones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,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pero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no las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elimina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: la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calidad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depende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del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índice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, la consulta y el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criterio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de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citación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C6D8333-E6CC-821E-1360-154A1B3CD287}"/>
              </a:ext>
            </a:extLst>
          </p:cNvPr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B58A23-81BC-196F-90DC-F4229AA3A759}"/>
              </a:ext>
            </a:extLst>
          </p:cNvPr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Curso de Inteligencia Artificial  ·  Estado del arte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3521C9-6298-2B52-6D1E-0D327F42D0E8}"/>
              </a:ext>
            </a:extLst>
          </p:cNvPr>
          <p:cNvSpPr txBox="1"/>
          <p:nvPr/>
        </p:nvSpPr>
        <p:spPr>
          <a:xfrm>
            <a:off x="10728655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6 / 12</a:t>
            </a: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2804B03B-374E-B0B6-40D0-D44D76D9D5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9289" y="256032"/>
            <a:ext cx="10196646" cy="4639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19659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0F2C59"/>
                </a:solidFill>
                <a:latin typeface="Calibri"/>
              </a:rPr>
              <a:t>Visión </a:t>
            </a:r>
            <a:r>
              <a:rPr sz="2800" b="1" i="0" dirty="0" err="1">
                <a:solidFill>
                  <a:srgbClr val="0F2C59"/>
                </a:solidFill>
                <a:latin typeface="Calibri"/>
              </a:rPr>
              <a:t>por</a:t>
            </a:r>
            <a:r>
              <a:rPr sz="2800" b="1" i="0" dirty="0">
                <a:solidFill>
                  <a:srgbClr val="0F2C59"/>
                </a:solidFill>
                <a:latin typeface="Calibri"/>
              </a:rPr>
              <a:t> </a:t>
            </a:r>
            <a:r>
              <a:rPr sz="2800" b="1" i="0" dirty="0" err="1">
                <a:solidFill>
                  <a:srgbClr val="0F2C59"/>
                </a:solidFill>
                <a:latin typeface="Calibri"/>
              </a:rPr>
              <a:t>computadora</a:t>
            </a:r>
            <a:r>
              <a:rPr sz="2800" b="1" i="0" dirty="0">
                <a:solidFill>
                  <a:srgbClr val="0F2C59"/>
                </a:solidFill>
                <a:latin typeface="Calibri"/>
              </a:rPr>
              <a:t> 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5339" y="1404610"/>
            <a:ext cx="5486400" cy="44805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316507" y="1569202"/>
            <a:ext cx="5120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0F2C59"/>
                </a:solidFill>
                <a:latin typeface="Calibri"/>
              </a:rPr>
              <a:t>Visión </a:t>
            </a:r>
            <a:r>
              <a:rPr sz="2000" b="1" i="0" dirty="0" err="1">
                <a:solidFill>
                  <a:srgbClr val="0F2C59"/>
                </a:solidFill>
                <a:latin typeface="Calibri"/>
              </a:rPr>
              <a:t>por</a:t>
            </a:r>
            <a:r>
              <a:rPr sz="2000" b="1" i="0" dirty="0">
                <a:solidFill>
                  <a:srgbClr val="0F2C59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rgbClr val="0F2C59"/>
                </a:solidFill>
                <a:latin typeface="Calibri"/>
              </a:rPr>
              <a:t>computadora</a:t>
            </a:r>
            <a:endParaRPr sz="2000" b="1" i="0" dirty="0">
              <a:solidFill>
                <a:srgbClr val="0F2C59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316507" y="2767280"/>
            <a:ext cx="512064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2C3E50"/>
                </a:solidFill>
                <a:latin typeface="Calibri"/>
              </a:rPr>
              <a:t>Más </a:t>
            </a:r>
            <a:r>
              <a:rPr sz="1600" b="0" i="0" dirty="0" err="1">
                <a:solidFill>
                  <a:srgbClr val="2C3E50"/>
                </a:solidFill>
                <a:latin typeface="Calibri"/>
              </a:rPr>
              <a:t>allá</a:t>
            </a:r>
            <a:r>
              <a:rPr sz="1600" b="0" i="0" dirty="0">
                <a:solidFill>
                  <a:srgbClr val="2C3E50"/>
                </a:solidFill>
                <a:latin typeface="Calibri"/>
              </a:rPr>
              <a:t> de la </a:t>
            </a:r>
            <a:r>
              <a:rPr sz="1600" b="0" i="0" dirty="0" err="1">
                <a:solidFill>
                  <a:srgbClr val="2C3E50"/>
                </a:solidFill>
                <a:latin typeface="Calibri"/>
              </a:rPr>
              <a:t>clasificación</a:t>
            </a:r>
            <a:r>
              <a:rPr sz="1600"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C3E50"/>
                </a:solidFill>
                <a:latin typeface="Calibri"/>
              </a:rPr>
              <a:t>clásica</a:t>
            </a:r>
            <a:r>
              <a:rPr sz="1600" b="0" i="0" dirty="0">
                <a:solidFill>
                  <a:srgbClr val="2C3E50"/>
                </a:solidFill>
                <a:latin typeface="Calibri"/>
              </a:rPr>
              <a:t>: </a:t>
            </a:r>
            <a:r>
              <a:rPr sz="1600" b="0" i="0" dirty="0" err="1">
                <a:solidFill>
                  <a:srgbClr val="2C3E50"/>
                </a:solidFill>
                <a:latin typeface="Calibri"/>
              </a:rPr>
              <a:t>detección</a:t>
            </a:r>
            <a:r>
              <a:rPr sz="1600" b="0" i="0" dirty="0">
                <a:solidFill>
                  <a:srgbClr val="2C3E50"/>
                </a:solidFill>
                <a:latin typeface="Calibri"/>
              </a:rPr>
              <a:t>, </a:t>
            </a:r>
            <a:r>
              <a:rPr sz="1600" b="0" i="0" dirty="0" err="1">
                <a:solidFill>
                  <a:srgbClr val="2C3E50"/>
                </a:solidFill>
                <a:latin typeface="Calibri"/>
              </a:rPr>
              <a:t>segmentación</a:t>
            </a:r>
            <a:r>
              <a:rPr sz="1600" b="0" i="0" dirty="0">
                <a:solidFill>
                  <a:srgbClr val="2C3E50"/>
                </a:solidFill>
                <a:latin typeface="Calibri"/>
              </a:rPr>
              <a:t> y </a:t>
            </a:r>
            <a:r>
              <a:rPr sz="1600" b="0" i="0" dirty="0" err="1">
                <a:solidFill>
                  <a:srgbClr val="2C3E50"/>
                </a:solidFill>
                <a:latin typeface="Calibri"/>
              </a:rPr>
              <a:t>comprensión</a:t>
            </a:r>
            <a:r>
              <a:rPr sz="1600" b="0" i="0" dirty="0">
                <a:solidFill>
                  <a:srgbClr val="2C3E50"/>
                </a:solidFill>
                <a:latin typeface="Calibri"/>
              </a:rPr>
              <a:t> de </a:t>
            </a:r>
            <a:r>
              <a:rPr sz="1600" b="0" i="0" dirty="0" err="1">
                <a:solidFill>
                  <a:srgbClr val="2C3E50"/>
                </a:solidFill>
                <a:latin typeface="Calibri"/>
              </a:rPr>
              <a:t>escenas</a:t>
            </a:r>
            <a:r>
              <a:rPr sz="1600" b="0" i="0" dirty="0">
                <a:solidFill>
                  <a:srgbClr val="2C3E50"/>
                </a:solidFill>
                <a:latin typeface="Calibri"/>
              </a:rPr>
              <a:t>.
Los </a:t>
            </a:r>
            <a:r>
              <a:rPr sz="1600" b="0" i="0" dirty="0" err="1">
                <a:solidFill>
                  <a:srgbClr val="2C3E50"/>
                </a:solidFill>
                <a:latin typeface="Calibri"/>
              </a:rPr>
              <a:t>modelos</a:t>
            </a:r>
            <a:r>
              <a:rPr sz="1600"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C3E50"/>
                </a:solidFill>
                <a:latin typeface="Calibri"/>
              </a:rPr>
              <a:t>que</a:t>
            </a:r>
            <a:r>
              <a:rPr sz="1600"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C3E50"/>
                </a:solidFill>
                <a:latin typeface="Calibri"/>
              </a:rPr>
              <a:t>conectan</a:t>
            </a:r>
            <a:r>
              <a:rPr sz="1600"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C3E50"/>
                </a:solidFill>
                <a:latin typeface="Calibri"/>
              </a:rPr>
              <a:t>visión</a:t>
            </a:r>
            <a:r>
              <a:rPr sz="1600" b="0" i="0" dirty="0">
                <a:solidFill>
                  <a:srgbClr val="2C3E50"/>
                </a:solidFill>
                <a:latin typeface="Calibri"/>
              </a:rPr>
              <a:t> y </a:t>
            </a:r>
            <a:r>
              <a:rPr sz="1600" b="0" i="0" dirty="0" err="1">
                <a:solidFill>
                  <a:srgbClr val="2C3E50"/>
                </a:solidFill>
                <a:latin typeface="Calibri"/>
              </a:rPr>
              <a:t>lenguaje</a:t>
            </a:r>
            <a:r>
              <a:rPr sz="1600" b="0" i="0" dirty="0">
                <a:solidFill>
                  <a:srgbClr val="2C3E50"/>
                </a:solidFill>
                <a:latin typeface="Calibri"/>
              </a:rPr>
              <a:t> son el </a:t>
            </a:r>
            <a:r>
              <a:rPr sz="1600" b="0" i="0" dirty="0" err="1">
                <a:solidFill>
                  <a:srgbClr val="2C3E50"/>
                </a:solidFill>
                <a:latin typeface="Calibri"/>
              </a:rPr>
              <a:t>puente</a:t>
            </a:r>
            <a:r>
              <a:rPr sz="1600"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C3E50"/>
                </a:solidFill>
                <a:latin typeface="Calibri"/>
              </a:rPr>
              <a:t>hacia</a:t>
            </a:r>
            <a:r>
              <a:rPr sz="1600"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C3E50"/>
                </a:solidFill>
                <a:latin typeface="Calibri"/>
              </a:rPr>
              <a:t>asistentes</a:t>
            </a:r>
            <a:r>
              <a:rPr sz="1600" b="0" i="0" dirty="0">
                <a:solidFill>
                  <a:srgbClr val="2C3E50"/>
                </a:solidFill>
                <a:latin typeface="Calibri"/>
              </a:rPr>
              <a:t> y </a:t>
            </a:r>
            <a:r>
              <a:rPr sz="1600" b="0" i="0" dirty="0" err="1">
                <a:solidFill>
                  <a:srgbClr val="2C3E50"/>
                </a:solidFill>
                <a:latin typeface="Calibri"/>
              </a:rPr>
              <a:t>agentes</a:t>
            </a:r>
            <a:r>
              <a:rPr sz="1600"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C3E50"/>
                </a:solidFill>
                <a:latin typeface="Calibri"/>
              </a:rPr>
              <a:t>multimodales</a:t>
            </a:r>
            <a:r>
              <a:rPr sz="1600" b="0" i="0" dirty="0">
                <a:solidFill>
                  <a:srgbClr val="2C3E50"/>
                </a:solidFill>
                <a:latin typeface="Calibri"/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Curso de Inteligencia Artificial  ·  Estado del arte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419" sz="2800" b="1" i="0" dirty="0">
                <a:solidFill>
                  <a:srgbClr val="0F2C59"/>
                </a:solidFill>
                <a:latin typeface="Calibri"/>
              </a:rPr>
              <a:t>Reinforcement Learning with Human Feedback</a:t>
            </a:r>
            <a:endParaRPr sz="2800" b="1" i="0" dirty="0">
              <a:solidFill>
                <a:srgbClr val="0F2C59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556590" y="1404610"/>
            <a:ext cx="5486400" cy="44805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57758" y="1569202"/>
            <a:ext cx="5120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 err="1">
                <a:solidFill>
                  <a:srgbClr val="0F2C59"/>
                </a:solidFill>
                <a:latin typeface="Calibri"/>
              </a:rPr>
              <a:t>Aprendizaje</a:t>
            </a:r>
            <a:r>
              <a:rPr sz="2000" b="1" i="0" dirty="0">
                <a:solidFill>
                  <a:srgbClr val="0F2C59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rgbClr val="0F2C59"/>
                </a:solidFill>
                <a:latin typeface="Calibri"/>
              </a:rPr>
              <a:t>por</a:t>
            </a:r>
            <a:r>
              <a:rPr sz="2000" b="1" i="0" dirty="0">
                <a:solidFill>
                  <a:srgbClr val="0F2C59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rgbClr val="0F2C59"/>
                </a:solidFill>
                <a:latin typeface="Calibri"/>
              </a:rPr>
              <a:t>refuerzo</a:t>
            </a:r>
            <a:r>
              <a:rPr sz="2000" b="1" i="0" dirty="0">
                <a:solidFill>
                  <a:srgbClr val="0F2C59"/>
                </a:solidFill>
                <a:latin typeface="Calibri"/>
              </a:rPr>
              <a:t> y RLHF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7758" y="2594670"/>
            <a:ext cx="512064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>
                <a:solidFill>
                  <a:srgbClr val="2C3E50"/>
                </a:solidFill>
                <a:latin typeface="Calibri"/>
              </a:rPr>
              <a:t>El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aprendizaje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por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refuerzo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y la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alineación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con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preferencias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humanas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(RLHF y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variantes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)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hacen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que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los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modelos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sigan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instrucciones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.
Son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técnicas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clave de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utilidad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y de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seguridad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, no un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detalle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de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producto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Curso de Inteligencia Artificial  ·  Estado del arte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81D78-9D4C-17D3-11D7-9B797A16E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3A56489-61DD-5018-43F7-A4C5A4FB9843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3011D9E-92CF-24E0-51FA-A477991A39D0}"/>
              </a:ext>
            </a:extLst>
          </p:cNvPr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B7F4A4-5B6C-09BD-4913-AEFD46368683}"/>
              </a:ext>
            </a:extLst>
          </p:cNvPr>
          <p:cNvSpPr txBox="1"/>
          <p:nvPr/>
        </p:nvSpPr>
        <p:spPr>
          <a:xfrm>
            <a:off x="502920" y="256032"/>
            <a:ext cx="111556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0F2C59"/>
                </a:solidFill>
                <a:latin typeface="Calibri"/>
              </a:rPr>
              <a:t>IA </a:t>
            </a:r>
            <a:r>
              <a:rPr sz="2800" b="1" i="0" dirty="0" err="1">
                <a:solidFill>
                  <a:srgbClr val="0F2C59"/>
                </a:solidFill>
                <a:latin typeface="Calibri"/>
              </a:rPr>
              <a:t>científica</a:t>
            </a:r>
            <a:endParaRPr sz="2800" b="1" i="0" dirty="0">
              <a:solidFill>
                <a:srgbClr val="0F2C59"/>
              </a:solidFill>
              <a:latin typeface="Calibr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AC3C7A-4749-01E7-32B0-20F32CDB90C8}"/>
              </a:ext>
            </a:extLst>
          </p:cNvPr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9011AE-9AE4-343D-FEC4-63199590574E}"/>
              </a:ext>
            </a:extLst>
          </p:cNvPr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A6002F-D21E-7BD6-3742-6329A1BAAC3F}"/>
              </a:ext>
            </a:extLst>
          </p:cNvPr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Curso de Inteligencia Artificial  ·  Estado del arte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B9373D-2DE9-AFA9-AC26-9A253693F169}"/>
              </a:ext>
            </a:extLst>
          </p:cNvPr>
          <p:cNvSpPr txBox="1"/>
          <p:nvPr/>
        </p:nvSpPr>
        <p:spPr>
          <a:xfrm>
            <a:off x="10728655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9 / 12</a:t>
            </a: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CAA04C5B-7B20-D26B-A67F-09AEE867ED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171" y="956496"/>
            <a:ext cx="10133351" cy="5457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17586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F2C59"/>
                </a:solidFill>
                <a:latin typeface="Calibri"/>
              </a:rPr>
              <a:t>Evaluación, seguridad y gobernanza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2000" b="0" i="0">
                <a:solidFill>
                  <a:srgbClr val="2C3E50"/>
                </a:solidFill>
                <a:latin typeface="Calibri"/>
              </a:rPr>
              <a:t>•  La evaluación es un cuello de botella: los benchmarks se saturan rápido.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2000" b="0" i="0">
                <a:solidFill>
                  <a:srgbClr val="2C3E50"/>
                </a:solidFill>
                <a:latin typeface="Calibri"/>
              </a:rPr>
              <a:t>•  Se necesitan pruebas de capacidades reales, robustez, sesgo, seguridad y desempeño fuera de distribución.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2000" b="0" i="0">
                <a:solidFill>
                  <a:srgbClr val="2C3E50"/>
                </a:solidFill>
                <a:latin typeface="Calibri"/>
              </a:rPr>
              <a:t>•  Seguridad y gobernanza cubren uso dual, privacidad, propiedad intelectual, sesgos y autonomía de agentes.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2000" b="0" i="0">
                <a:solidFill>
                  <a:srgbClr val="2C3E50"/>
                </a:solidFill>
                <a:latin typeface="Calibri"/>
              </a:rPr>
              <a:t>•  Estos temas son parte del estado del arte tanto como las arquitecturas y el hardware.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Curso de Inteligencia Artificial  ·  Estado del arte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56032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F2C59"/>
                </a:solidFill>
                <a:latin typeface="Calibri"/>
              </a:rPr>
              <a:t>Hardware, escala y límites estructurales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44805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5120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0F2C59"/>
                </a:solidFill>
                <a:latin typeface="Calibri"/>
              </a:rPr>
              <a:t>Hardware y </a:t>
            </a:r>
            <a:r>
              <a:rPr sz="2000" b="1" i="0" dirty="0" err="1">
                <a:solidFill>
                  <a:srgbClr val="0F2C59"/>
                </a:solidFill>
                <a:latin typeface="Calibri"/>
              </a:rPr>
              <a:t>datos</a:t>
            </a:r>
            <a:endParaRPr sz="2000" b="1" i="0" dirty="0">
              <a:solidFill>
                <a:srgbClr val="0F2C59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" y="2619077"/>
            <a:ext cx="512064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>
                <a:solidFill>
                  <a:srgbClr val="2C3E50"/>
                </a:solidFill>
                <a:latin typeface="Calibri"/>
              </a:rPr>
              <a:t>GPU, TPU y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aceleradores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, junto con la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escala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de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datos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,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condicionan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quién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puede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entrenar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los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modelos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más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grandes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.
El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impacto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ambiental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y la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concentración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de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infraestructura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son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parte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del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análisis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, no un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apéndice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71600"/>
            <a:ext cx="5486400" cy="44805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73368" y="1536192"/>
            <a:ext cx="5120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 err="1">
                <a:solidFill>
                  <a:srgbClr val="0F2C59"/>
                </a:solidFill>
                <a:latin typeface="Calibri"/>
              </a:rPr>
              <a:t>Límites</a:t>
            </a:r>
            <a:r>
              <a:rPr sz="2000" b="1" i="0" dirty="0">
                <a:solidFill>
                  <a:srgbClr val="0F2C59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rgbClr val="0F2C59"/>
                </a:solidFill>
                <a:latin typeface="Calibri"/>
              </a:rPr>
              <a:t>que</a:t>
            </a:r>
            <a:r>
              <a:rPr sz="2000" b="1" i="0" dirty="0">
                <a:solidFill>
                  <a:srgbClr val="0F2C59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rgbClr val="0F2C59"/>
                </a:solidFill>
                <a:latin typeface="Calibri"/>
              </a:rPr>
              <a:t>persisten</a:t>
            </a:r>
            <a:endParaRPr sz="2000" b="1" i="0" dirty="0">
              <a:solidFill>
                <a:srgbClr val="0F2C59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373368" y="2564899"/>
            <a:ext cx="512064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>
                <a:solidFill>
                  <a:srgbClr val="2C3E50"/>
                </a:solidFill>
                <a:latin typeface="Calibri"/>
              </a:rPr>
              <a:t>Falta de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comprensión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causal robusta,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fragilidad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ante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cambios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de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dominio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y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opacidad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de las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decisiones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.
Sigue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siendo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difícil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garantizar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verdades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o un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cumplimiento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normativo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C3E50"/>
                </a:solidFill>
                <a:latin typeface="Calibri"/>
              </a:rPr>
              <a:t>estricto</a:t>
            </a:r>
            <a:r>
              <a:rPr b="0" i="0" dirty="0">
                <a:solidFill>
                  <a:srgbClr val="2C3E50"/>
                </a:solidFill>
                <a:latin typeface="Calibri"/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Curso de Inteligencia Artificial  ·  Estado del arte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601</Words>
  <Application>Microsoft Macintosh PowerPoint</Application>
  <PresentationFormat>Panorámica</PresentationFormat>
  <Paragraphs>55</Paragraphs>
  <Slides>11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Víctor Uc Cetina</cp:lastModifiedBy>
  <cp:revision>4</cp:revision>
  <dcterms:created xsi:type="dcterms:W3CDTF">2013-01-27T09:14:16Z</dcterms:created>
  <dcterms:modified xsi:type="dcterms:W3CDTF">2026-08-25T23:49:13Z</dcterms:modified>
  <cp:category/>
</cp:coreProperties>
</file>