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A1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8B93A"/>
                </a:solidFill>
                <a:latin typeface="Calibri"/>
              </a:rPr>
              <a:t>CURSO DE INTELIGENCIA ARTIFICIAL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Visión computacional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5760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C5D0DC"/>
                </a:solidFill>
                <a:latin typeface="Calibri"/>
              </a:rPr>
              <a:t>De una cuadrícula de números a bordes y formas:
píxeles, filtros, convolución y un detector de bordes.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98932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E8B93A"/>
                </a:solidFill>
                <a:latin typeface="Calibri"/>
              </a:rPr>
              <a:t>AIMA, visión por computadora  ·  filtro local  ·  Sobel 1968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Visión computacional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528816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2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Agenda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417320"/>
            <a:ext cx="5349240" cy="214884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1581912"/>
            <a:ext cx="49469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B6CA8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1856232"/>
            <a:ext cx="494690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La imagen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404872"/>
            <a:ext cx="4946904" cy="978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  <a:latin typeface="Calibri"/>
              </a:rPr>
              <a:t>Una matriz de intensidades. Color = tres canales. La cámara es un sensor de luz.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417320"/>
            <a:ext cx="5349240" cy="214884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56248" y="1581912"/>
            <a:ext cx="49469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B6CA8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6248" y="1856232"/>
            <a:ext cx="494690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Filtros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6248" y="2404872"/>
            <a:ext cx="4946904" cy="978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  <a:latin typeface="Calibri"/>
              </a:rPr>
              <a:t>Cada píxel nuevo es una mezcla de su vecindario. Eso es una convolución.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840480"/>
            <a:ext cx="5349240" cy="214884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" y="4005072"/>
            <a:ext cx="49469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B6CA8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" y="4279392"/>
            <a:ext cx="494690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Bordes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" y="4828032"/>
            <a:ext cx="4946904" cy="978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  <a:latin typeface="Calibri"/>
              </a:rPr>
              <a:t>Un borde es un salto de intensidad. Sobel estima ese salto.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3840480"/>
            <a:ext cx="5349240" cy="214884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56248" y="4005072"/>
            <a:ext cx="49469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B6CA8"/>
                </a:solidFill>
                <a:latin typeface="Calibr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56248" y="4279392"/>
            <a:ext cx="494690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Después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56248" y="4828032"/>
            <a:ext cx="4946904" cy="978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  <a:latin typeface="Calibri"/>
              </a:rPr>
              <a:t>Umbral, formas, y —hoy— kernels que se aprenden de ejemplos.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Visión computacional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528816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3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Qué tiene que hacer la visión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Calibri"/>
              </a:rPr>
              <a:t>El mundo no llega como «círculo» o «caja»: llega como una tabla de números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353312"/>
            <a:ext cx="5669280" cy="470916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600200"/>
            <a:ext cx="525780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Un humano nombra objetos. Un programa recibe I[i, j].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Tarea típica: decir qué hay, dónde está, o cómo se mueve.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Primero: medir luz. Después: cambios (bordes). Luego: agrupar y reconocer.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A la derecha: una escena inventada. Solo hay gris más claro y más oscuro.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El resto de la clase es cómo pasar de esa cuadrícula a un contorno.</a:t>
            </a:r>
          </a:p>
        </p:txBody>
      </p:sp>
      <p:pic>
        <p:nvPicPr>
          <p:cNvPr id="12" name="Picture 11" descr="sce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353312"/>
            <a:ext cx="4451214" cy="47091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Visión computacional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528816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4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Un píxel es un número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Calibri"/>
              </a:rPr>
              <a:t>Fila i, columna j, intensidad. Aquí usamos 0–9 para poder multiplicar a mano; en un archivo suele ser 0–255</a:t>
            </a:r>
          </a:p>
        </p:txBody>
      </p:sp>
      <p:pic>
        <p:nvPicPr>
          <p:cNvPr id="10" name="Picture 9" descr="pat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98448"/>
            <a:ext cx="4465944" cy="47548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263640" y="1371600"/>
            <a:ext cx="5349240" cy="466344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00200"/>
            <a:ext cx="493776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I[i, j] = cuánta luz llegó a esa celda del sensor.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0 = oscuro, 9 = claro (en este parche).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La «E» no está en los datos: es un patrón que tú ves.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Resolución: más filas y columnas, más detalle, más números.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Tratar la imagen como una lista de píxeles sueltos pierde el vecindario. Los filtros no lo hacen.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Visión computacional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528816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5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Color: tres imágenes en una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Calibri"/>
              </a:rPr>
              <a:t>R, G, B son intensidades en tres sensores. El color que ves es la mezcla</a:t>
            </a:r>
          </a:p>
        </p:txBody>
      </p:sp>
      <p:pic>
        <p:nvPicPr>
          <p:cNvPr id="10" name="Picture 9" descr="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53312"/>
            <a:ext cx="11155680" cy="324528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4892040"/>
            <a:ext cx="11155680" cy="1417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Calibri"/>
              </a:rPr>
              <a:t>Un píxel en color es un triple (R, G, B), no un solo número. Casi todos los filtros de esta clase se aplican por canal, o a una versión en gris (promedio de los tres).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Visión computacional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528816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6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De la luz al número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Calibri"/>
              </a:rPr>
              <a:t>Sin modelo de cámara complicado: un agujero, rayos en línea recta, un sensor que cuenta fotones</a:t>
            </a:r>
          </a:p>
        </p:txBody>
      </p:sp>
      <p:pic>
        <p:nvPicPr>
          <p:cNvPr id="10" name="Picture 9" descr="pinho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53312"/>
            <a:ext cx="9589551" cy="37947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5285232"/>
            <a:ext cx="1115568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Calibri"/>
              </a:rPr>
              <a:t>El sensor es otra cuadrícula: cada celda acumula luz un tiempo (exposición). Si hay poca luz, los números son chicos y ruidosos. La geometría (quién tapa a quién, qué tan grande se ve) ya está «horneada» en I; no hace falta reconstruir el 3D para detectar un borde.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Visión computacional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528816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7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El vecindario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Calibri"/>
              </a:rPr>
              <a:t>Un píxel solo no dice si hay un borde: hace falta comparar con los de al lado</a:t>
            </a:r>
          </a:p>
        </p:txBody>
      </p:sp>
      <p:pic>
        <p:nvPicPr>
          <p:cNvPr id="10" name="Picture 9" descr="wind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25880"/>
            <a:ext cx="4507090" cy="47548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263640" y="1371600"/>
            <a:ext cx="5349240" cy="466344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00200"/>
            <a:ext cx="493776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Filtro: receta para mezclar un píxel con sus vecinos.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Kernel (máscara): la receta en forma de tablita, p. ej. 3×3.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En el dibujo, el marco dorado es esa tablita sobre la imagen.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Misma receta en cada posición: se desliza.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Eso, cuando la receta es lineal, se llama convolución.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Visión computacional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528816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8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Convolución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Calibri"/>
              </a:rPr>
              <a:t>En cada posición: multiplica casilla a casilla y suma. El resultado es el nuevo I[i, j]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371600"/>
            <a:ext cx="11155680" cy="196596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554480"/>
            <a:ext cx="10698480" cy="1600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0F2C59"/>
                </a:solidFill>
                <a:latin typeface="Calibri"/>
              </a:rPr>
              <a:t>I′[i, j]  =  Σ_u Σ_v  K[u, v]  ·  I[i+u, j+v]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566160"/>
            <a:ext cx="3611880" cy="246888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" y="3749039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4206240"/>
            <a:ext cx="320040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Calibri"/>
              </a:rPr>
              <a:t>El kernel. Lo eliges tú: media, un detector de bordes, nítido. Más adelante, se puede aprender.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3566160"/>
            <a:ext cx="3611880" cy="246888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4568" y="3749039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Borde de la imagen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4568" y="4206240"/>
            <a:ext cx="320040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Calibri"/>
              </a:rPr>
              <a:t>El kernel se sale. Práctica: repetir el píxel del borde (pad), o no escribir el marco.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80" y="3566160"/>
            <a:ext cx="3611880" cy="246888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85048" y="3749039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Lineal e invariante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5048" y="4206240"/>
            <a:ext cx="320040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Calibri"/>
              </a:rPr>
              <a:t>Misma K en todos lados. Un objeto corrido se filtra igual. Eso es lo que queremos al inicio.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Visión computacional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528816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9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Ejemplo: filtro de media 3×3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Calibri"/>
              </a:rPr>
              <a:t>Un escalón 0 | 9. K = 1/9 en las nueve casillas. El borde se «ensucia» a 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25880"/>
            <a:ext cx="502920" cy="365760"/>
          </a:xfrm>
          <a:prstGeom prst="rect">
            <a:avLst/>
          </a:prstGeom>
          <a:solidFill>
            <a:srgbClr val="0F2C59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325880"/>
            <a:ext cx="502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1325880"/>
            <a:ext cx="566928" cy="365760"/>
          </a:xfrm>
          <a:prstGeom prst="rect">
            <a:avLst/>
          </a:prstGeom>
          <a:solidFill>
            <a:srgbClr val="0F2C59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1325880"/>
            <a:ext cx="56692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72768" y="1325880"/>
            <a:ext cx="566928" cy="365760"/>
          </a:xfrm>
          <a:prstGeom prst="rect">
            <a:avLst/>
          </a:prstGeom>
          <a:solidFill>
            <a:srgbClr val="0F2C59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72768" y="1325880"/>
            <a:ext cx="56692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39696" y="1325880"/>
            <a:ext cx="566928" cy="365760"/>
          </a:xfrm>
          <a:prstGeom prst="rect">
            <a:avLst/>
          </a:prstGeom>
          <a:solidFill>
            <a:srgbClr val="0F2C59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39696" y="1325880"/>
            <a:ext cx="56692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06624" y="1325880"/>
            <a:ext cx="566928" cy="365760"/>
          </a:xfrm>
          <a:prstGeom prst="rect">
            <a:avLst/>
          </a:prstGeom>
          <a:solidFill>
            <a:srgbClr val="0F2C59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06624" y="1325880"/>
            <a:ext cx="56692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73552" y="1325880"/>
            <a:ext cx="566928" cy="365760"/>
          </a:xfrm>
          <a:prstGeom prst="rect">
            <a:avLst/>
          </a:prstGeom>
          <a:solidFill>
            <a:srgbClr val="0F2C59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73552" y="1325880"/>
            <a:ext cx="56692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1691640"/>
            <a:ext cx="502920" cy="365760"/>
          </a:xfrm>
          <a:prstGeom prst="rect">
            <a:avLst/>
          </a:prstGeom>
          <a:solidFill>
            <a:srgbClr val="F6F8FB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1691640"/>
            <a:ext cx="502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C3E50"/>
                </a:solidFill>
                <a:latin typeface="Calibri"/>
              </a:rPr>
              <a:t>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5840" y="1691640"/>
            <a:ext cx="566928" cy="365760"/>
          </a:xfrm>
          <a:prstGeom prst="rect">
            <a:avLst/>
          </a:prstGeom>
          <a:solidFill>
            <a:srgbClr val="F6F8FB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1691640"/>
            <a:ext cx="56692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C3E50"/>
                </a:solidFill>
                <a:latin typeface="Calibri"/>
              </a:rPr>
              <a:t>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572768" y="1691640"/>
            <a:ext cx="566928" cy="365760"/>
          </a:xfrm>
          <a:prstGeom prst="rect">
            <a:avLst/>
          </a:prstGeom>
          <a:solidFill>
            <a:srgbClr val="F6F8FB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572768" y="1691640"/>
            <a:ext cx="56692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C3E50"/>
                </a:solidFill>
                <a:latin typeface="Calibri"/>
              </a:rPr>
              <a:t>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139696" y="1691640"/>
            <a:ext cx="566928" cy="365760"/>
          </a:xfrm>
          <a:prstGeom prst="rect">
            <a:avLst/>
          </a:prstGeom>
          <a:solidFill>
            <a:srgbClr val="F6F8FB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39696" y="1691640"/>
            <a:ext cx="56692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C3E50"/>
                </a:solidFill>
                <a:latin typeface="Calibri"/>
              </a:rPr>
              <a:t>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06624" y="1691640"/>
            <a:ext cx="566928" cy="365760"/>
          </a:xfrm>
          <a:prstGeom prst="rect">
            <a:avLst/>
          </a:prstGeom>
          <a:solidFill>
            <a:srgbClr val="F6F8FB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06624" y="1691640"/>
            <a:ext cx="56692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C3E50"/>
                </a:solidFill>
                <a:latin typeface="Calibri"/>
              </a:rPr>
              <a:t>9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73552" y="1691640"/>
            <a:ext cx="566928" cy="365760"/>
          </a:xfrm>
          <a:prstGeom prst="rect">
            <a:avLst/>
          </a:prstGeom>
          <a:solidFill>
            <a:srgbClr val="F6F8FB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73552" y="1691640"/>
            <a:ext cx="56692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C3E50"/>
                </a:solidFill>
                <a:latin typeface="Calibri"/>
              </a:rPr>
              <a:t>9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2057400"/>
            <a:ext cx="5029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2057400"/>
            <a:ext cx="502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C3E50"/>
                </a:solidFill>
                <a:latin typeface="Calibri"/>
              </a:rPr>
              <a:t>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05840" y="2057400"/>
            <a:ext cx="56692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5840" y="2057400"/>
            <a:ext cx="56692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C3E50"/>
                </a:solidFill>
                <a:latin typeface="Calibri"/>
              </a:rPr>
              <a:t>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572768" y="2057400"/>
            <a:ext cx="56692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572768" y="2057400"/>
            <a:ext cx="56692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C3E50"/>
                </a:solidFill>
                <a:latin typeface="Calibri"/>
              </a:rPr>
              <a:t>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39696" y="2057400"/>
            <a:ext cx="56692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139696" y="2057400"/>
            <a:ext cx="56692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C3E50"/>
                </a:solidFill>
                <a:latin typeface="Calibri"/>
              </a:rPr>
              <a:t>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06624" y="2057400"/>
            <a:ext cx="56692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06624" y="2057400"/>
            <a:ext cx="56692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C3E50"/>
                </a:solidFill>
                <a:latin typeface="Calibri"/>
              </a:rPr>
              <a:t>9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73552" y="2057400"/>
            <a:ext cx="56692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73552" y="2057400"/>
            <a:ext cx="56692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C3E50"/>
                </a:solidFill>
                <a:latin typeface="Calibri"/>
              </a:rPr>
              <a:t>9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" y="2423160"/>
            <a:ext cx="502920" cy="365760"/>
          </a:xfrm>
          <a:prstGeom prst="rect">
            <a:avLst/>
          </a:prstGeom>
          <a:solidFill>
            <a:srgbClr val="F6F8FB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20" y="2423160"/>
            <a:ext cx="502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C3E50"/>
                </a:solidFill>
                <a:latin typeface="Calibri"/>
              </a:rPr>
              <a:t>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05840" y="2423160"/>
            <a:ext cx="566928" cy="365760"/>
          </a:xfrm>
          <a:prstGeom prst="rect">
            <a:avLst/>
          </a:prstGeom>
          <a:solidFill>
            <a:srgbClr val="F6F8FB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05840" y="2423160"/>
            <a:ext cx="56692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C3E50"/>
                </a:solidFill>
                <a:latin typeface="Calibri"/>
              </a:rPr>
              <a:t>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572768" y="2423160"/>
            <a:ext cx="566928" cy="365760"/>
          </a:xfrm>
          <a:prstGeom prst="rect">
            <a:avLst/>
          </a:prstGeom>
          <a:solidFill>
            <a:srgbClr val="F6F8FB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572768" y="2423160"/>
            <a:ext cx="56692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C3E50"/>
                </a:solidFill>
                <a:latin typeface="Calibri"/>
              </a:rPr>
              <a:t>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139696" y="2423160"/>
            <a:ext cx="566928" cy="365760"/>
          </a:xfrm>
          <a:prstGeom prst="rect">
            <a:avLst/>
          </a:prstGeom>
          <a:solidFill>
            <a:srgbClr val="F6F8FB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139696" y="2423160"/>
            <a:ext cx="56692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C3E50"/>
                </a:solidFill>
                <a:latin typeface="Calibri"/>
              </a:rPr>
              <a:t>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06624" y="2423160"/>
            <a:ext cx="566928" cy="365760"/>
          </a:xfrm>
          <a:prstGeom prst="rect">
            <a:avLst/>
          </a:prstGeom>
          <a:solidFill>
            <a:srgbClr val="F6F8FB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706624" y="2423160"/>
            <a:ext cx="56692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C3E50"/>
                </a:solidFill>
                <a:latin typeface="Calibri"/>
              </a:rPr>
              <a:t>9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273552" y="2423160"/>
            <a:ext cx="566928" cy="365760"/>
          </a:xfrm>
          <a:prstGeom prst="rect">
            <a:avLst/>
          </a:prstGeom>
          <a:solidFill>
            <a:srgbClr val="F6F8FB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273552" y="2423160"/>
            <a:ext cx="56692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C3E50"/>
                </a:solidFill>
                <a:latin typeface="Calibri"/>
              </a:rPr>
              <a:t>9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02920" y="2788920"/>
            <a:ext cx="5029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02920" y="2788920"/>
            <a:ext cx="502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C3E50"/>
                </a:solidFill>
                <a:latin typeface="Calibri"/>
              </a:rPr>
              <a:t>3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05840" y="2788920"/>
            <a:ext cx="56692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05840" y="2788920"/>
            <a:ext cx="56692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C3E50"/>
                </a:solidFill>
                <a:latin typeface="Calibri"/>
              </a:rPr>
              <a:t>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572768" y="2788920"/>
            <a:ext cx="56692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572768" y="2788920"/>
            <a:ext cx="56692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C3E50"/>
                </a:solidFill>
                <a:latin typeface="Calibri"/>
              </a:rPr>
              <a:t>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139696" y="2788920"/>
            <a:ext cx="56692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139696" y="2788920"/>
            <a:ext cx="56692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C3E50"/>
                </a:solidFill>
                <a:latin typeface="Calibri"/>
              </a:rPr>
              <a:t>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706624" y="2788920"/>
            <a:ext cx="56692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706624" y="2788920"/>
            <a:ext cx="56692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C3E50"/>
                </a:solidFill>
                <a:latin typeface="Calibri"/>
              </a:rPr>
              <a:t>9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273552" y="2788920"/>
            <a:ext cx="56692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273552" y="2788920"/>
            <a:ext cx="56692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C3E50"/>
                </a:solidFill>
                <a:latin typeface="Calibri"/>
              </a:rPr>
              <a:t>9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02920" y="3154680"/>
            <a:ext cx="502920" cy="365760"/>
          </a:xfrm>
          <a:prstGeom prst="rect">
            <a:avLst/>
          </a:prstGeom>
          <a:solidFill>
            <a:srgbClr val="F6F8FB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02920" y="3154680"/>
            <a:ext cx="502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C3E50"/>
                </a:solidFill>
                <a:latin typeface="Calibri"/>
              </a:rPr>
              <a:t>4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005840" y="3154680"/>
            <a:ext cx="566928" cy="365760"/>
          </a:xfrm>
          <a:prstGeom prst="rect">
            <a:avLst/>
          </a:prstGeom>
          <a:solidFill>
            <a:srgbClr val="F6F8FB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05840" y="3154680"/>
            <a:ext cx="56692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C3E50"/>
                </a:solidFill>
                <a:latin typeface="Calibri"/>
              </a:rPr>
              <a:t>0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572768" y="3154680"/>
            <a:ext cx="566928" cy="365760"/>
          </a:xfrm>
          <a:prstGeom prst="rect">
            <a:avLst/>
          </a:prstGeom>
          <a:solidFill>
            <a:srgbClr val="F6F8FB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572768" y="3154680"/>
            <a:ext cx="56692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C3E50"/>
                </a:solidFill>
                <a:latin typeface="Calibri"/>
              </a:rPr>
              <a:t>0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139696" y="3154680"/>
            <a:ext cx="566928" cy="365760"/>
          </a:xfrm>
          <a:prstGeom prst="rect">
            <a:avLst/>
          </a:prstGeom>
          <a:solidFill>
            <a:srgbClr val="F6F8FB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139696" y="3154680"/>
            <a:ext cx="56692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C3E50"/>
                </a:solidFill>
                <a:latin typeface="Calibri"/>
              </a:rPr>
              <a:t>0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706624" y="3154680"/>
            <a:ext cx="566928" cy="365760"/>
          </a:xfrm>
          <a:prstGeom prst="rect">
            <a:avLst/>
          </a:prstGeom>
          <a:solidFill>
            <a:srgbClr val="F6F8FB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706624" y="3154680"/>
            <a:ext cx="56692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C3E50"/>
                </a:solidFill>
                <a:latin typeface="Calibri"/>
              </a:rPr>
              <a:t>9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273552" y="3154680"/>
            <a:ext cx="566928" cy="365760"/>
          </a:xfrm>
          <a:prstGeom prst="rect">
            <a:avLst/>
          </a:prstGeom>
          <a:solidFill>
            <a:srgbClr val="F6F8FB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273552" y="3154680"/>
            <a:ext cx="56692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C3E50"/>
                </a:solidFill>
                <a:latin typeface="Calibri"/>
              </a:rPr>
              <a:t>9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02920" y="370332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B6CA8"/>
                </a:solidFill>
                <a:latin typeface="Calibri"/>
              </a:rPr>
              <a:t>I  (escalón)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709160" y="1325880"/>
            <a:ext cx="3108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B6CA8"/>
                </a:solidFill>
                <a:latin typeface="Calibri"/>
              </a:rPr>
              <a:t>Kernel K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709160" y="1664208"/>
            <a:ext cx="960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709160" y="1664208"/>
            <a:ext cx="960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C3E50"/>
                </a:solidFill>
                <a:latin typeface="Calibri"/>
              </a:rPr>
              <a:t>1/9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669280" y="1664208"/>
            <a:ext cx="960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669280" y="1664208"/>
            <a:ext cx="960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C3E50"/>
                </a:solidFill>
                <a:latin typeface="Calibri"/>
              </a:rPr>
              <a:t>1/9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629400" y="1664208"/>
            <a:ext cx="960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629400" y="1664208"/>
            <a:ext cx="960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C3E50"/>
                </a:solidFill>
                <a:latin typeface="Calibri"/>
              </a:rPr>
              <a:t>1/9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709160" y="2048256"/>
            <a:ext cx="960120" cy="384048"/>
          </a:xfrm>
          <a:prstGeom prst="rect">
            <a:avLst/>
          </a:prstGeom>
          <a:solidFill>
            <a:srgbClr val="F6F8FB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709160" y="2048256"/>
            <a:ext cx="960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C3E50"/>
                </a:solidFill>
                <a:latin typeface="Calibri"/>
              </a:rPr>
              <a:t>1/9</a:t>
            </a:r>
          </a:p>
        </p:txBody>
      </p:sp>
      <p:sp>
        <p:nvSpPr>
          <p:cNvPr id="92" name="Rectangle 91"/>
          <p:cNvSpPr/>
          <p:nvPr/>
        </p:nvSpPr>
        <p:spPr>
          <a:xfrm>
            <a:off x="5669280" y="2048256"/>
            <a:ext cx="960120" cy="384048"/>
          </a:xfrm>
          <a:prstGeom prst="rect">
            <a:avLst/>
          </a:prstGeom>
          <a:solidFill>
            <a:srgbClr val="F6F8FB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669280" y="2048256"/>
            <a:ext cx="960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C3E50"/>
                </a:solidFill>
                <a:latin typeface="Calibri"/>
              </a:rPr>
              <a:t>1/9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629400" y="2048256"/>
            <a:ext cx="960120" cy="384048"/>
          </a:xfrm>
          <a:prstGeom prst="rect">
            <a:avLst/>
          </a:prstGeom>
          <a:solidFill>
            <a:srgbClr val="F6F8FB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629400" y="2048256"/>
            <a:ext cx="960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C3E50"/>
                </a:solidFill>
                <a:latin typeface="Calibri"/>
              </a:rPr>
              <a:t>1/9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709160" y="2432304"/>
            <a:ext cx="960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709160" y="2432304"/>
            <a:ext cx="960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C3E50"/>
                </a:solidFill>
                <a:latin typeface="Calibri"/>
              </a:rPr>
              <a:t>1/9</a:t>
            </a:r>
          </a:p>
        </p:txBody>
      </p:sp>
      <p:sp>
        <p:nvSpPr>
          <p:cNvPr id="98" name="Rectangle 97"/>
          <p:cNvSpPr/>
          <p:nvPr/>
        </p:nvSpPr>
        <p:spPr>
          <a:xfrm>
            <a:off x="5669280" y="2432304"/>
            <a:ext cx="960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5669280" y="2432304"/>
            <a:ext cx="960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C3E50"/>
                </a:solidFill>
                <a:latin typeface="Calibri"/>
              </a:rPr>
              <a:t>1/9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629400" y="2432304"/>
            <a:ext cx="960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629400" y="2432304"/>
            <a:ext cx="960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C3E50"/>
                </a:solidFill>
                <a:latin typeface="Calibri"/>
              </a:rPr>
              <a:t>1/9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709160" y="2944368"/>
            <a:ext cx="31089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  <a:latin typeface="Calibri"/>
              </a:rPr>
              <a:t>Sobre el centro (fila 2, col 2), el vecindario es seis 0 y tres 9:  suma 27,  ÷ 9 = 3.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7955279" y="1325880"/>
            <a:ext cx="3703320" cy="470916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8183879" y="1554480"/>
            <a:ext cx="3291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Qué hace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183879" y="2057400"/>
            <a:ext cx="3291840" cy="3703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•  Sustituye cada píxel por el promedio de los 9.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•  En el salto, el centro ya no es 0 ni 9: sale 3.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•  Sirve para bajar ruido de un píxel suelto.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•  El costo: se pierden esquinas nítidas.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Visión computacional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528816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10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Suavizar la escena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Calibri"/>
              </a:rPr>
              <a:t>Misma idea, kernel más grande (media 5×5) sobre la imagen de la diapositiva 3</a:t>
            </a:r>
          </a:p>
        </p:txBody>
      </p:sp>
      <p:pic>
        <p:nvPicPr>
          <p:cNvPr id="10" name="Picture 9" descr="blu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298448"/>
            <a:ext cx="8961120" cy="4160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5596128"/>
            <a:ext cx="111556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Calibri"/>
              </a:rPr>
              <a:t>La media trata igual a todos los vecinos. Una Gaussiana da más peso al centro: suaviza y deforma un poco menos los bordes. Para esta clase, media basta.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Visión computacional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528816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11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Qué es un borde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Calibri"/>
              </a:rPr>
              <a:t>Donde la intensidad cambia de golpe. El perfil de una fila lo muestra antes de elegir un kernel de derivada</a:t>
            </a:r>
          </a:p>
        </p:txBody>
      </p:sp>
      <p:pic>
        <p:nvPicPr>
          <p:cNvPr id="10" name="Picture 9" descr="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17320"/>
            <a:ext cx="5943600" cy="3801979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537960" y="1371600"/>
            <a:ext cx="5074920" cy="466344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0" y="1600200"/>
            <a:ext cx="466344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Dentro de una región plana, I casi no cambia.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En el contorno del círculo, I cae: eso es el borde.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Derivada alta ⇔ cambio fuerte ⇔ buen candidato a contorno.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En 2D hay dirección: horizontal, vertical, diagonal.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Un detector de bordes estima esa derivada en cada píxel.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Visión computacional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528816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12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Sobel: un kernel para el salto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Calibri"/>
              </a:rPr>
              <a:t>Dos kernels: Gx estima el cambio horizontal, Gy el vertical. El tamaño del borde es √(Gx² + Gy²)</a:t>
            </a:r>
          </a:p>
        </p:txBody>
      </p:sp>
      <p:pic>
        <p:nvPicPr>
          <p:cNvPr id="10" name="Picture 9" descr="sob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61872"/>
            <a:ext cx="7589520" cy="3523706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092440" y="1325880"/>
            <a:ext cx="3566160" cy="470916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508760"/>
            <a:ext cx="3154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C59"/>
                </a:solidFill>
                <a:latin typeface="Calibri"/>
              </a:rPr>
              <a:t>Gx  (3×3)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1920240"/>
            <a:ext cx="31546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−1  0  +1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−2  0  +2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−1  0  +1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3246120"/>
            <a:ext cx="3154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C59"/>
                </a:solidFill>
                <a:latin typeface="Calibri"/>
              </a:rPr>
              <a:t>Gy  (3×3)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3657600"/>
            <a:ext cx="31546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−1  −2  −1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 0   0   0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+1  +2  +1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5074920"/>
            <a:ext cx="3154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  <a:latin typeface="Calibri"/>
              </a:rPr>
              <a:t>Son convoluciones, igual que la media. Cambia K.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Visión computacional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528816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13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Sobel a mano en el escalón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Calibri"/>
              </a:rPr>
              <a:t>Mismo I de la media. Gx en el centro del salto (fila 2, col 2)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353312"/>
            <a:ext cx="11155680" cy="214884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508760"/>
            <a:ext cx="10698480" cy="18745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0F2C59"/>
                </a:solidFill>
                <a:latin typeface="Calibri"/>
              </a:rPr>
              <a:t>vecindario:   0 0 9     Gx:  (−1)(0)+(0)(0)+(+1)(9)
              0 0 9          +(−2)(0)+(0)(0)+(+2)(9)
              0 0 9          +(−1)(0)+(0)(0)+(+1)(9)   =  9+18+9  =  36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703320"/>
            <a:ext cx="3611880" cy="233172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" y="3886200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Dentro del 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4389120"/>
            <a:ext cx="32004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Calibri"/>
              </a:rPr>
              <a:t>El vecindario es todo 0. Gx = 0. No hay borde.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3703320"/>
            <a:ext cx="3611880" cy="233172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4568" y="3886200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En el salto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4568" y="4389120"/>
            <a:ext cx="32004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Calibri"/>
              </a:rPr>
              <a:t>Gx = 36 (grande). El detector «ve» la pared vertical.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80" y="3703320"/>
            <a:ext cx="3611880" cy="233172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85048" y="3886200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Gy aquí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5048" y="4389120"/>
            <a:ext cx="32004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Calibri"/>
              </a:rPr>
              <a:t>Filas iguales: Gy = 0. El borde es vertical, no horizontal.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Visión computacional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528816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14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De magnitud a «sí / no»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Calibri"/>
              </a:rPr>
              <a:t>Un umbral τ: si la magnitud de Sobel supera τ, marcamos borde. Demasiado bajo = ruido; demasiado alto = agujeros</a:t>
            </a:r>
          </a:p>
        </p:txBody>
      </p:sp>
      <p:pic>
        <p:nvPicPr>
          <p:cNvPr id="10" name="Picture 9" descr="thre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98448"/>
            <a:ext cx="4507090" cy="47548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263640" y="1371600"/>
            <a:ext cx="5349240" cy="466344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00200"/>
            <a:ext cx="493776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La magnitud de Sobel es continua. Un mapa binario es más fácil de leer.</a:t>
            </a:r>
          </a:p>
          <a:p>
            <a:pPr>
              <a:spcAft>
                <a:spcPts val="9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El círculo y el rectángulo aparecen como contornos.</a:t>
            </a:r>
          </a:p>
          <a:p>
            <a:pPr>
              <a:spcAft>
                <a:spcPts val="9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Un umbral no es mágico: depende de la luz y del contraste.</a:t>
            </a:r>
          </a:p>
          <a:p>
            <a:pPr>
              <a:spcAft>
                <a:spcPts val="9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Canny (más adelante en la literatura) añade no-máximos y dos umbrales. No lo necesitamos hoy.</a:t>
            </a:r>
          </a:p>
          <a:p>
            <a:pPr>
              <a:spcAft>
                <a:spcPts val="9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Con el contorno ya puedes medir tamaño, o buscar una forma.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Visión computacional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528816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15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Reconocer, todavía sin redes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Calibri"/>
              </a:rPr>
              <a:t>Una vez tienes bordes o una plantilla, puedes comparar. Frágil, pero es el puente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417320"/>
            <a:ext cx="3611880" cy="461772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645920"/>
            <a:ext cx="3154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C59"/>
                </a:solidFill>
                <a:latin typeface="Calibri"/>
              </a:rPr>
              <a:t>Plantilla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606040"/>
            <a:ext cx="315468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C3E50"/>
                </a:solidFill>
                <a:latin typeface="Calibri"/>
              </a:rPr>
              <a:t>Deslizas un recorte de lo que buscas y mides parecido (correlación). Falla si cambia la escala, la luz o el ángulo.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417320"/>
            <a:ext cx="3611880" cy="461772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645920"/>
            <a:ext cx="3154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C59"/>
                </a:solidFill>
                <a:latin typeface="Calibri"/>
              </a:rPr>
              <a:t>Forma del contorno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606040"/>
            <a:ext cx="315468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C3E50"/>
                </a:solidFill>
                <a:latin typeface="Calibri"/>
              </a:rPr>
              <a:t>Tras el umbral: ¿es un blob redondo o un rectángulo? Momentos, cajas, huecos. Sirve en piezas industriales fijas.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80" y="1417320"/>
            <a:ext cx="3611880" cy="461772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1645920"/>
            <a:ext cx="3154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C59"/>
                </a:solidFill>
                <a:latin typeface="Calibri"/>
              </a:rPr>
              <a:t>Muchas vistas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606040"/>
            <a:ext cx="315468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C3E50"/>
                </a:solidFill>
                <a:latin typeface="Calibri"/>
              </a:rPr>
              <a:t>El mismo objeto cambia de I. Por eso una receta fija de kernels no cierra el problema de «¿es un gato?».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Visión computacional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528816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16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Hoy: la misma convolución, K aprendida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Calibri"/>
              </a:rPr>
              <a:t>Una red convolucional no inventa otro primitivo: apila filtros y ajusta K con ejemplos (x, y)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371600"/>
            <a:ext cx="11155680" cy="201168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600200"/>
            <a:ext cx="1051560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0F2C59"/>
                </a:solidFill>
                <a:latin typeface="Calibri"/>
              </a:rPr>
              <a:t>Filtro de media / Sobel: tú eliges K.    Red: K sale del descenso por gradiente, como en el MLP.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611880"/>
            <a:ext cx="3611880" cy="242316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" y="379476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C59"/>
                </a:solidFill>
                <a:latin typeface="Calibri"/>
              </a:rPr>
              <a:t>Lo que ya sabes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4297680"/>
            <a:ext cx="320040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  <a:latin typeface="Calibri"/>
              </a:rPr>
              <a:t>Convolución y luego una no linealidad, como en el MLP. Varias capas: primero bordes, después partes, después objetos.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3611880"/>
            <a:ext cx="3611880" cy="242316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4568" y="379476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C59"/>
                </a:solidFill>
                <a:latin typeface="Calibri"/>
              </a:rPr>
              <a:t>Lo que no hace falta hoy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4568" y="4297680"/>
            <a:ext cx="320040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  <a:latin typeface="Calibri"/>
              </a:rPr>
              <a:t>ImageNet, ResNet, transformers visuales. Primero que un 3×3 sobre un escalón te dé 36.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80" y="3611880"/>
            <a:ext cx="3611880" cy="242316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85048" y="379476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C59"/>
                </a:solidFill>
                <a:latin typeface="Calibri"/>
              </a:rPr>
              <a:t>Práctica tabular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5048" y="4297680"/>
            <a:ext cx="320040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  <a:latin typeface="Calibri"/>
              </a:rPr>
              <a:t>Para un laboratorio: OpenCV filter2D / Sobel, o convolución a mano en una matriz pequeña, como aquí.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Visión computacional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528816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17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Ideas para llevar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Calibri"/>
              </a:rPr>
              <a:t>Ver, para una máquina, es calcular sobre una cuadrícula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417320"/>
            <a:ext cx="5349240" cy="214884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1673352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Píxel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2240280"/>
            <a:ext cx="48463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Calibri"/>
              </a:rPr>
              <a:t>Un número (o un triple RGB). La «E» o el círculo son patrones, no etiquetas del archivo.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417320"/>
            <a:ext cx="5349240" cy="214884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11112" y="1673352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Filtro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11112" y="2240280"/>
            <a:ext cx="48463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Calibri"/>
              </a:rPr>
              <a:t>Mezcla un vecindario. La media suaviza. Eso es convolución con K constante.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840480"/>
            <a:ext cx="5349240" cy="214884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" y="4096512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Borde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" y="4663440"/>
            <a:ext cx="48463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Calibri"/>
              </a:rPr>
              <a:t>Salto de I. Sobel es una K que aproxima la derivada. Luego un umbral da el contorno.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3840480"/>
            <a:ext cx="5349240" cy="214884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11112" y="4096512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Hoy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11112" y="4663440"/>
            <a:ext cx="48463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Calibri"/>
              </a:rPr>
              <a:t>Las redes convolucionales aprenden esas K. El álgebra es la de las diapositivas 8–13.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Visión computacional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528816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18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Antes de decir que «el programa ya ve»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Calibri"/>
              </a:rPr>
              <a:t>Una lista corta. Si varias son no, aún estás en píxeles, no en objetos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417320"/>
            <a:ext cx="11155680" cy="461772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691640"/>
            <a:ext cx="105156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1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 ¿Puedes escribir I[i, j] de un parche 5×5 y aplicar un 3×3 a mano?</a:t>
            </a:r>
          </a:p>
          <a:p>
            <a:pPr>
              <a:spcAft>
                <a:spcPts val="11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 ¿El filtro que usas es el mismo en toda la imagen (convolución) o un umbral global disfrazado?</a:t>
            </a:r>
          </a:p>
          <a:p>
            <a:pPr>
              <a:spcAft>
                <a:spcPts val="11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 ¿El borde que dibujas cambia si subes o bajas la luz? Entonces el umbral no es un objeto.</a:t>
            </a:r>
          </a:p>
          <a:p>
            <a:pPr>
              <a:spcAft>
                <a:spcPts val="11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 ¿Separaste R, G, B o pasaste a gris de forma explícita?</a:t>
            </a:r>
          </a:p>
          <a:p>
            <a:pPr>
              <a:spcAft>
                <a:spcPts val="11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 Si usas una red: ¿podrías decir cuál es el kernel 3×3 análogo a Sobel en la primera capa?</a:t>
            </a:r>
          </a:p>
          <a:p>
            <a:pPr>
              <a:spcAft>
                <a:spcPts val="11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 Oclusión, escala y rotación rompen plantillas. No es un bug de tu código: es el problema.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