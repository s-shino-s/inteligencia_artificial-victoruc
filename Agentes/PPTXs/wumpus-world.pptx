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El mundo del Wumpus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C5D0DC"/>
                </a:solidFill>
                <a:latin typeface="Calibri"/>
              </a:rPr>
              <a:t>Una </a:t>
            </a:r>
            <a:r>
              <a:rPr sz="1800" b="0" dirty="0" err="1">
                <a:solidFill>
                  <a:srgbClr val="C5D0DC"/>
                </a:solidFill>
                <a:latin typeface="Calibri"/>
              </a:rPr>
              <a:t>cueva</a:t>
            </a:r>
            <a:r>
              <a:rPr sz="1800" b="0" dirty="0">
                <a:solidFill>
                  <a:srgbClr val="C5D0DC"/>
                </a:solidFill>
                <a:latin typeface="Calibri"/>
              </a:rPr>
              <a:t> 4×4 </a:t>
            </a:r>
            <a:r>
              <a:rPr sz="1800" b="0" dirty="0" err="1">
                <a:solidFill>
                  <a:srgbClr val="C5D0DC"/>
                </a:solidFill>
                <a:latin typeface="Calibri"/>
              </a:rPr>
              <a:t>que</a:t>
            </a:r>
            <a:r>
              <a:rPr sz="1800" b="0" dirty="0">
                <a:solidFill>
                  <a:srgbClr val="C5D0DC"/>
                </a:solidFill>
                <a:latin typeface="Calibri"/>
              </a:rPr>
              <a:t> el </a:t>
            </a:r>
            <a:r>
              <a:rPr sz="1800" b="0" dirty="0" err="1">
                <a:solidFill>
                  <a:srgbClr val="C5D0DC"/>
                </a:solidFill>
                <a:latin typeface="Calibri"/>
              </a:rPr>
              <a:t>agente</a:t>
            </a:r>
            <a:r>
              <a:rPr sz="1800" b="0" dirty="0">
                <a:solidFill>
                  <a:srgbClr val="C5D0DC"/>
                </a:solidFill>
                <a:latin typeface="Calibri"/>
              </a:rPr>
              <a:t> no </a:t>
            </a:r>
            <a:r>
              <a:rPr sz="1800" b="0" dirty="0" err="1">
                <a:solidFill>
                  <a:srgbClr val="C5D0DC"/>
                </a:solidFill>
                <a:latin typeface="Calibri"/>
              </a:rPr>
              <a:t>ve</a:t>
            </a:r>
            <a:r>
              <a:rPr sz="1800" b="0" dirty="0">
                <a:solidFill>
                  <a:srgbClr val="C5D0DC"/>
                </a:solidFill>
                <a:latin typeface="Calibri"/>
              </a:rPr>
              <a:t> </a:t>
            </a:r>
            <a:r>
              <a:rPr lang="es-419" sz="1800" b="0" dirty="0">
                <a:solidFill>
                  <a:srgbClr val="C5D0DC"/>
                </a:solidFill>
                <a:latin typeface="Calibri"/>
              </a:rPr>
              <a:t>por completo</a:t>
            </a:r>
            <a:r>
              <a:rPr sz="1800" b="0" dirty="0">
                <a:solidFill>
                  <a:srgbClr val="C5D0DC"/>
                </a:solidFill>
                <a:latin typeface="Calibri"/>
              </a:rPr>
              <a:t>:
</a:t>
            </a:r>
            <a:r>
              <a:rPr sz="1800" b="0" dirty="0" err="1">
                <a:solidFill>
                  <a:srgbClr val="C5D0DC"/>
                </a:solidFill>
                <a:latin typeface="Calibri"/>
              </a:rPr>
              <a:t>pozos</a:t>
            </a:r>
            <a:r>
              <a:rPr sz="1800" b="0" dirty="0">
                <a:solidFill>
                  <a:srgbClr val="C5D0DC"/>
                </a:solidFill>
                <a:latin typeface="Calibri"/>
              </a:rPr>
              <a:t>, un </a:t>
            </a:r>
            <a:r>
              <a:rPr sz="1800" b="0" dirty="0" err="1">
                <a:solidFill>
                  <a:srgbClr val="C5D0DC"/>
                </a:solidFill>
                <a:latin typeface="Calibri"/>
              </a:rPr>
              <a:t>monstruo</a:t>
            </a:r>
            <a:r>
              <a:rPr sz="1800" b="0" dirty="0">
                <a:solidFill>
                  <a:srgbClr val="C5D0DC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C5D0DC"/>
                </a:solidFill>
                <a:latin typeface="Calibri"/>
              </a:rPr>
              <a:t>oro</a:t>
            </a:r>
            <a:r>
              <a:rPr sz="1800" b="0" dirty="0">
                <a:solidFill>
                  <a:srgbClr val="C5D0DC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C5D0DC"/>
                </a:solidFill>
                <a:latin typeface="Calibri"/>
              </a:rPr>
              <a:t>cinco</a:t>
            </a:r>
            <a:r>
              <a:rPr sz="1800" b="0" dirty="0">
                <a:solidFill>
                  <a:srgbClr val="C5D0DC"/>
                </a:solidFill>
                <a:latin typeface="Calibri"/>
              </a:rPr>
              <a:t> </a:t>
            </a:r>
            <a:r>
              <a:rPr lang="es-419" sz="1800" b="0" dirty="0">
                <a:solidFill>
                  <a:srgbClr val="C5D0DC"/>
                </a:solidFill>
                <a:latin typeface="Calibri"/>
              </a:rPr>
              <a:t>percepciones</a:t>
            </a:r>
            <a:r>
              <a:rPr sz="1800" b="0" dirty="0">
                <a:solidFill>
                  <a:srgbClr val="C5D0DC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AIMA, capítulos 2 y 7  ·  figura 7.2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La cueva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Cuadrícula 4×4. (1, 1) abajo a la izquierda. El mapa de la figura es la vista de Dios.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Peligros y oro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Wumpus, pozos y una barra de oro. Matar o caer termina el episodio.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49469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419" sz="1800" b="1" dirty="0">
                <a:solidFill>
                  <a:srgbClr val="0F2C59"/>
                </a:solidFill>
                <a:latin typeface="Calibri"/>
              </a:rPr>
              <a:t>Percepciones</a:t>
            </a:r>
            <a:r>
              <a:rPr sz="1800" b="1" dirty="0">
                <a:solidFill>
                  <a:srgbClr val="0F2C59"/>
                </a:solidFill>
                <a:latin typeface="Calibri"/>
              </a:rPr>
              <a:t> y </a:t>
            </a:r>
            <a:r>
              <a:rPr sz="1800" b="1" dirty="0" err="1">
                <a:solidFill>
                  <a:srgbClr val="0F2C59"/>
                </a:solidFill>
                <a:latin typeface="Calibri"/>
              </a:rPr>
              <a:t>acciones</a:t>
            </a:r>
            <a:endParaRPr sz="1800" b="1" dirty="0">
              <a:solidFill>
                <a:srgbClr val="0F2C59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Cinco bits de sensor. Seis acciones. No hay un canal extra de «intención».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La tarea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Agarrar el oro, volver a la salida y trepar. Cada paso cuesta.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https://www.youtube.com/watch?v=xSy2nwae2no&amp;t=1s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5882"/>
            <a:ext cx="111556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419" sz="2800" b="1" dirty="0">
                <a:solidFill>
                  <a:srgbClr val="0F2C59"/>
                </a:solidFill>
                <a:latin typeface="Calibri"/>
              </a:rPr>
              <a:t>El mundo de Wumpus</a:t>
            </a:r>
            <a:endParaRPr sz="2800" b="1" dirty="0">
              <a:solidFill>
                <a:srgbClr val="0F2C59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46291"/>
            <a:ext cx="111556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5D6D7E"/>
                </a:solidFill>
                <a:latin typeface="Calibri"/>
              </a:rPr>
              <a:t>El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agente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, al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empezar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, solo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está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(1, 1) y no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ve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el resto</a:t>
            </a:r>
          </a:p>
        </p:txBody>
      </p:sp>
      <p:pic>
        <p:nvPicPr>
          <p:cNvPr id="10" name="Picture 9" descr="Wumpus 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325880"/>
            <a:ext cx="4901435" cy="475488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FFC5B05-D25D-D53C-D3C0-B4BA753BF200}"/>
              </a:ext>
            </a:extLst>
          </p:cNvPr>
          <p:cNvSpPr txBox="1"/>
          <p:nvPr/>
        </p:nvSpPr>
        <p:spPr>
          <a:xfrm>
            <a:off x="314369" y="6040612"/>
            <a:ext cx="576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https://www.youtube.com/watch?v=xSy2nwae2no&amp;t=1s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Cómo se lee el tablero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46291"/>
            <a:ext cx="111556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5D6D7E"/>
                </a:solidFill>
                <a:latin typeface="Calibri"/>
              </a:rPr>
              <a:t>Columnas a la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derecha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filas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hacia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arriba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.</a:t>
            </a:r>
          </a:p>
        </p:txBody>
      </p:sp>
      <p:pic>
        <p:nvPicPr>
          <p:cNvPr id="10" name="Picture 9" descr="Wumpus 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901435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937760" cy="23288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Calibri"/>
              </a:rPr>
              <a:t>•  Una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celda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es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una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cueva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(x, y), 1-based.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Calibri"/>
              </a:rPr>
              <a:t>•  (1, 1) es la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esquina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inferior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izquierda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: ahí </a:t>
            </a:r>
            <a:r>
              <a:rPr lang="es-419" sz="1600" b="0" dirty="0">
                <a:solidFill>
                  <a:srgbClr val="2C3E50"/>
                </a:solidFill>
                <a:latin typeface="Calibri"/>
              </a:rPr>
              <a:t>inicia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el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agente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Empieza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mirando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al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este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hacia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la columna 2).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Adyacente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=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norte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, sur,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este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u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oeste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. No hay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diagonales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Chocar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con el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muro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te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deja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donde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estás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y da Bump.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Tres peligros y un premio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En esta figura: Wumpus en (1, 3), pozos en (3, 1), (3, 3) y (4, 4), oro en (2, 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Wumpus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2C3E50"/>
                </a:solidFill>
                <a:latin typeface="Calibri"/>
              </a:rPr>
              <a:t>Un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monstruo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. Si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entras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a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su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cueva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y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sigue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vivo,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te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come. En l</a:t>
            </a:r>
            <a:r>
              <a:rPr lang="es-419" sz="1500" b="0" dirty="0">
                <a:solidFill>
                  <a:srgbClr val="2C3E50"/>
                </a:solidFill>
                <a:latin typeface="Calibri"/>
              </a:rPr>
              <a:t>o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s </a:t>
            </a:r>
            <a:r>
              <a:rPr lang="es-419" sz="1500" b="0" dirty="0">
                <a:solidFill>
                  <a:srgbClr val="2C3E50"/>
                </a:solidFill>
                <a:latin typeface="Calibri"/>
              </a:rPr>
              <a:t>cuadros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de al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lado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hay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hedor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(Stench).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Pozo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2C3E50"/>
                </a:solidFill>
                <a:latin typeface="Calibri"/>
              </a:rPr>
              <a:t>Caer es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morir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. En l</a:t>
            </a:r>
            <a:r>
              <a:rPr lang="es-419" sz="1500" b="0" dirty="0">
                <a:solidFill>
                  <a:srgbClr val="2C3E50"/>
                </a:solidFill>
                <a:latin typeface="Calibri"/>
              </a:rPr>
              <a:t>os cuadros 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de al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lado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hay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brisa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(Breeze).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Varios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pozos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a la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vez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: las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brisas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se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superponen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Oro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2C3E50"/>
                </a:solidFill>
                <a:latin typeface="Calibri"/>
              </a:rPr>
              <a:t>Una barra. En es</a:t>
            </a:r>
            <a:r>
              <a:rPr lang="es-419" sz="1500" b="0" dirty="0">
                <a:solidFill>
                  <a:srgbClr val="2C3E50"/>
                </a:solidFill>
                <a:latin typeface="Calibri"/>
              </a:rPr>
              <a:t>e cuadro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brilla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(Glitter). Hay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que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agarrarla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: no se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pega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sola a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los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pies.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Salida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Solo se trepa (Climb) desde (1, 1). Si no volviste ahí, no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El percepto es una 5-tupla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Cada paso el entorno devuelve [Stench, Breeze, Glitter, Bump, Scream]. Nada más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6184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Stench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48840"/>
            <a:ext cx="3200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Hedor: un vecino (ortogonal) tiene al Wumpus vivo.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6184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Breeze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48840"/>
            <a:ext cx="3200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Brisa: un vecino es un pozo.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41732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6184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Glitter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148840"/>
            <a:ext cx="32004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2C3E50"/>
                </a:solidFill>
                <a:latin typeface="Calibri"/>
              </a:rPr>
              <a:t>Brillo: el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oro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está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en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est</a:t>
            </a:r>
            <a:r>
              <a:rPr lang="es-419" sz="1500" b="0" dirty="0">
                <a:solidFill>
                  <a:srgbClr val="2C3E50"/>
                </a:solidFill>
                <a:latin typeface="Calibri"/>
              </a:rPr>
              <a:t>e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lang="es-419" sz="1500" b="0" dirty="0">
                <a:solidFill>
                  <a:srgbClr val="2C3E50"/>
                </a:solidFill>
                <a:latin typeface="Calibri"/>
              </a:rPr>
              <a:t>cuadro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(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aún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no lo has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agarrado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8620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408736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Bump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617720"/>
            <a:ext cx="3200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Tope: el Forward chocó con el borde. No te moviste.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88620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408736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Scream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617720"/>
            <a:ext cx="3200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Grito: tu flecha mató al Wumpus (en la línea de tiro).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88620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85048" y="408736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[None]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4617720"/>
            <a:ext cx="3200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Los cinco bits en falso: (1, 1) en la figura. Ni brisa ni hedor.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Seis acciones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46291"/>
            <a:ext cx="111556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5D6D7E"/>
                </a:solidFill>
                <a:latin typeface="Calibri"/>
              </a:rPr>
              <a:t>El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agente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elige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una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. El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mundo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responde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con </a:t>
            </a:r>
            <a:r>
              <a:rPr lang="es-419" sz="1600" dirty="0">
                <a:solidFill>
                  <a:srgbClr val="5D6D7E"/>
                </a:solidFill>
                <a:latin typeface="Calibri"/>
              </a:rPr>
              <a:t>la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</a:t>
            </a:r>
            <a:r>
              <a:rPr lang="es-419" sz="1600" b="0" dirty="0">
                <a:solidFill>
                  <a:srgbClr val="5D6D7E"/>
                </a:solidFill>
                <a:latin typeface="Calibri"/>
              </a:rPr>
              <a:t>percepción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nuev</a:t>
            </a:r>
            <a:r>
              <a:rPr lang="es-419" sz="1600" b="0" dirty="0">
                <a:solidFill>
                  <a:srgbClr val="5D6D7E"/>
                </a:solidFill>
                <a:latin typeface="Calibri"/>
              </a:rPr>
              <a:t>a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y un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cambio</a:t>
            </a:r>
            <a:r>
              <a:rPr sz="1600" b="0" dirty="0">
                <a:solidFill>
                  <a:srgbClr val="5D6D7E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5D6D7E"/>
                </a:solidFill>
                <a:latin typeface="Calibri"/>
              </a:rPr>
              <a:t>puntuación</a:t>
            </a:r>
            <a:endParaRPr sz="1600" b="0" dirty="0">
              <a:solidFill>
                <a:srgbClr val="5D6D7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61848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C59"/>
                </a:solidFill>
                <a:latin typeface="Calibri"/>
              </a:rPr>
              <a:t>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9456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Un paso en la dirección a la que miras. Si hay muro: Bump.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61848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C59"/>
                </a:solidFill>
                <a:latin typeface="Calibri"/>
              </a:rPr>
              <a:t>TurnLeft / TurnRight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9456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Giras 90°. No cambias de cueva. Cuesta un paso igual.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41732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61848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C59"/>
                </a:solidFill>
                <a:latin typeface="Calibri"/>
              </a:rPr>
              <a:t>Grab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19456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Si hay Glitter aquí, recoges el oro. Si no, no pasa nada.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8620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408736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C59"/>
                </a:solidFill>
                <a:latin typeface="Calibri"/>
              </a:rPr>
              <a:t>Shoot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6634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Gasta la única flecha en línea recta. Si da al Wumpus: Scream.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88620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408736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C59"/>
                </a:solidFill>
                <a:latin typeface="Calibri"/>
              </a:rPr>
              <a:t>Climb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6634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Solo en (1, 1). Termina el episodio. Con oro, ganas; sin oro, sales vacío.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886200"/>
            <a:ext cx="36118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85048" y="408736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C59"/>
                </a:solidFill>
                <a:latin typeface="Calibri"/>
              </a:rPr>
              <a:t>Una por turno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46634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No hay «andar y agarrar» a la vez. Grab y luego Forward, o al revés.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La puntuación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episodio suma. Un camino corto con oro gana a un paseo largo con oro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C59"/>
                </a:solidFill>
                <a:latin typeface="Calibri"/>
              </a:rPr>
              <a:t>+1000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8600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Sales por (1, 1) con el oro (Climb). No basta con estar encima de la barra.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C59"/>
                </a:solidFill>
                <a:latin typeface="Calibri"/>
              </a:rPr>
              <a:t>−1000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8600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Pozo o Wumpus. El episodio termina. Da igual el oro que llevaras.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C59"/>
                </a:solidFill>
                <a:latin typeface="Calibri"/>
              </a:rPr>
              <a:t>−1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709160"/>
            <a:ext cx="48463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C3E50"/>
                </a:solidFill>
                <a:latin typeface="Calibri"/>
              </a:rPr>
              <a:t>Cada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acción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incluido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girar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). </a:t>
            </a:r>
            <a:r>
              <a:rPr lang="es-419" sz="1600" b="0" dirty="0">
                <a:solidFill>
                  <a:srgbClr val="2C3E50"/>
                </a:solidFill>
                <a:latin typeface="Calibri"/>
              </a:rPr>
              <a:t>Motiva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a no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dar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vueltas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C59"/>
                </a:solidFill>
                <a:latin typeface="Calibri"/>
              </a:rPr>
              <a:t>−10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70916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Disparar. Una flecha: piénsalo. Fallar no mata al Wumpus.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Cómo se lee la figura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agente no tiene este dibujo. Nosotros sí: sirve para comprobar una deducción</a:t>
            </a:r>
          </a:p>
        </p:txBody>
      </p:sp>
      <p:pic>
        <p:nvPicPr>
          <p:cNvPr id="10" name="Picture 9" descr="Wumpus 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901435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(1, 1): ni brisa ni hedor. (1, 2) y (2, 1) son seguras.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(2, 1): brisa. Hay un pozo en un vecino: aquí es (3, 1).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(1, 2): hedor. El Wumpus está al lado: aquí, (1, 3).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Tras ver (2, 1) y (1, 2), (2, 2) no puede ser pozo ni Wumpus: es el atajo seguro.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El oro está en (2, 3), con brisa y hedor: vecinos peligrosos, la celda misma no es pozo.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La tarea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No es «encontrar el oro». Es salir vivo con el oro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1. 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Avanzar solo por cuevas que ya puedes justificar como seguras.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2. Grab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En (2, 3) hay Glitter. Sin Grab, el oro se queda. Climb vacío no paga +1000.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3. Volver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El Climb solo vale en (1, 1). Hay que deshacer el camino (o uno equivalente).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4. Climb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Termina. El marcador es 1000 menos pasos y flechas. Morir vale −1000 más los pasos.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Ideas para llevar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Wumpus es un mundo parcialmente observable con un sensor muy pobre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Vista de Dios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dirty="0">
                <a:solidFill>
                  <a:srgbClr val="2C3E50"/>
                </a:solidFill>
                <a:latin typeface="Calibri"/>
              </a:rPr>
              <a:t>La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figura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lang="es-419" sz="1500" dirty="0">
                <a:solidFill>
                  <a:srgbClr val="2C3E50"/>
                </a:solidFill>
                <a:latin typeface="Calibri"/>
              </a:rPr>
              <a:t>de la página 9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es </a:t>
            </a:r>
            <a:r>
              <a:rPr lang="es-419" sz="1500" b="0" dirty="0">
                <a:solidFill>
                  <a:srgbClr val="2C3E50"/>
                </a:solidFill>
                <a:latin typeface="Calibri"/>
              </a:rPr>
              <a:t>solo 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para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nosotros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. El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programa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solo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recibe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lang="es-419" sz="1500" b="0" dirty="0">
                <a:solidFill>
                  <a:srgbClr val="2C3E50"/>
                </a:solidFill>
                <a:latin typeface="Calibri"/>
              </a:rPr>
              <a:t>lo que percibe en su cuadro actual: </a:t>
            </a:r>
            <a:r>
              <a:rPr lang="es-MX" dirty="0"/>
              <a:t>[Stench, Breeze, Glitter, Bump, Scream]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2C3E50"/>
                </a:solidFill>
                <a:latin typeface="Calibri"/>
              </a:rPr>
              <a:t>Stench y Breeze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hablan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vecinos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, no de</a:t>
            </a:r>
            <a:r>
              <a:rPr lang="es-419" sz="1500" b="0" dirty="0">
                <a:solidFill>
                  <a:srgbClr val="2C3E50"/>
                </a:solidFill>
                <a:latin typeface="Calibri"/>
              </a:rPr>
              <a:t>l cuadro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en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lang="es-419" sz="1500" b="0" dirty="0">
                <a:solidFill>
                  <a:srgbClr val="2C3E50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que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estás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Memoria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Sin recordar (2, 1) y (1, 2) no puedes declarar (2, 2) segura. Un percepto no basta.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Objetivo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Oro + salida. Un agente que camina al azar suele caer al pozo de (3, 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1198</Words>
  <Application>Microsoft Macintosh PowerPoint</Application>
  <PresentationFormat>Panorámica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Víctor Uc Cetina</cp:lastModifiedBy>
  <cp:revision>4</cp:revision>
  <dcterms:created xsi:type="dcterms:W3CDTF">2013-01-27T09:14:16Z</dcterms:created>
  <dcterms:modified xsi:type="dcterms:W3CDTF">2026-08-20T00:37:02Z</dcterms:modified>
  <cp:category/>
</cp:coreProperties>
</file>